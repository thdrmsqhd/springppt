
<file path=[Content_Types].xml><?xml version="1.0" encoding="utf-8"?>
<Types xmlns="http://schemas.openxmlformats.org/package/2006/content-types"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officeDocument/2006/relationships/extended-properties" Target="docProps/app.xml"  /><Relationship Id="rId3" Type="http://schemas.openxmlformats.org/package/2006/relationships/metadata/core-properties" Target="docProps/core.xml"  /><Relationship Id="rId4" Type="http://schemas.openxmlformats.org/package/2006/relationships/metadata/thumbnail" Target="docProps/thumbnail.jpeg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84" r:id="rId26"/>
  </p:sldMasterIdLst>
  <p:notesMasterIdLst>
    <p:notesMasterId r:id="rId28"/>
  </p:notes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SSEN Kim" initials="SK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5C22544A-7EE6-4342-B048-85BDC9FD1C3A}" styleName="보통 스타일 2 - 강조 1">
    <a:wholeTbl>
      <a:tcTxStyle>
        <a:fontRef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 horzBarState="maximized">
    <p:restoredLeft sz="15566"/>
    <p:restoredTop sz="94660"/>
  </p:normalViewPr>
  <p:slideViewPr>
    <p:cSldViewPr snapToGrid="0">
      <p:cViewPr>
        <p:scale>
          <a:sx n="100" d="100"/>
          <a:sy n="100" d="100"/>
        </p:scale>
        <p:origin x="-786" y="42"/>
      </p:cViewPr>
      <p:guideLst>
        <p:guide orient="horz" pos="1069"/>
        <p:guide pos="383"/>
        <p:guide pos="5375"/>
        <p:guide pos="54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</p:cSldViewPr>
  </p:notes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" Target="slides/slide1.xml"  /><Relationship Id="rId10" Type="http://schemas.openxmlformats.org/officeDocument/2006/relationships/slide" Target="slides/slide10.xml"  /><Relationship Id="rId11" Type="http://schemas.openxmlformats.org/officeDocument/2006/relationships/slide" Target="slides/slide11.xml"  /><Relationship Id="rId12" Type="http://schemas.openxmlformats.org/officeDocument/2006/relationships/slide" Target="slides/slide12.xml"  /><Relationship Id="rId13" Type="http://schemas.openxmlformats.org/officeDocument/2006/relationships/slide" Target="slides/slide13.xml"  /><Relationship Id="rId14" Type="http://schemas.openxmlformats.org/officeDocument/2006/relationships/slide" Target="slides/slide14.xml"  /><Relationship Id="rId15" Type="http://schemas.openxmlformats.org/officeDocument/2006/relationships/slide" Target="slides/slide15.xml"  /><Relationship Id="rId16" Type="http://schemas.openxmlformats.org/officeDocument/2006/relationships/slide" Target="slides/slide16.xml"  /><Relationship Id="rId17" Type="http://schemas.openxmlformats.org/officeDocument/2006/relationships/slide" Target="slides/slide17.xml"  /><Relationship Id="rId18" Type="http://schemas.openxmlformats.org/officeDocument/2006/relationships/slide" Target="slides/slide18.xml"  /><Relationship Id="rId19" Type="http://schemas.openxmlformats.org/officeDocument/2006/relationships/slide" Target="slides/slide19.xml"  /><Relationship Id="rId2" Type="http://schemas.openxmlformats.org/officeDocument/2006/relationships/slide" Target="slides/slide2.xml"  /><Relationship Id="rId20" Type="http://schemas.openxmlformats.org/officeDocument/2006/relationships/slide" Target="slides/slide20.xml"  /><Relationship Id="rId21" Type="http://schemas.openxmlformats.org/officeDocument/2006/relationships/slide" Target="slides/slide21.xml"  /><Relationship Id="rId22" Type="http://schemas.openxmlformats.org/officeDocument/2006/relationships/slide" Target="slides/slide22.xml"  /><Relationship Id="rId23" Type="http://schemas.openxmlformats.org/officeDocument/2006/relationships/slide" Target="slides/slide23.xml"  /><Relationship Id="rId24" Type="http://schemas.openxmlformats.org/officeDocument/2006/relationships/presProps" Target="presProps.xml"  /><Relationship Id="rId25" Type="http://schemas.openxmlformats.org/officeDocument/2006/relationships/viewProps" Target="viewProps.xml"  /><Relationship Id="rId26" Type="http://schemas.openxmlformats.org/officeDocument/2006/relationships/slideMaster" Target="slideMasters/slideMaster1.xml"  /><Relationship Id="rId27" Type="http://schemas.openxmlformats.org/officeDocument/2006/relationships/theme" Target="theme/theme1.xml"  /><Relationship Id="rId28" Type="http://schemas.openxmlformats.org/officeDocument/2006/relationships/notesMaster" Target="notesMasters/notesMaster1.xml"  /><Relationship Id="rId29" Type="http://schemas.openxmlformats.org/officeDocument/2006/relationships/commentAuthors" Target="commentAuthors.xml"  /><Relationship Id="rId3" Type="http://schemas.openxmlformats.org/officeDocument/2006/relationships/slide" Target="slides/slide3.xml"  /><Relationship Id="rId30" Type="http://schemas.openxmlformats.org/officeDocument/2006/relationships/tableStyles" Target="tableStyles.xml"  /><Relationship Id="rId4" Type="http://schemas.openxmlformats.org/officeDocument/2006/relationships/slide" Target="slides/slide4.xml"  /><Relationship Id="rId5" Type="http://schemas.openxmlformats.org/officeDocument/2006/relationships/slide" Target="slides/slide5.xml"  /><Relationship Id="rId6" Type="http://schemas.openxmlformats.org/officeDocument/2006/relationships/slide" Target="slides/slide6.xml"  /><Relationship Id="rId7" Type="http://schemas.openxmlformats.org/officeDocument/2006/relationships/slide" Target="slides/slide7.xml"  /><Relationship Id="rId8" Type="http://schemas.openxmlformats.org/officeDocument/2006/relationships/slide" Target="slides/slide8.xml"  /><Relationship Id="rId9" Type="http://schemas.openxmlformats.org/officeDocument/2006/relationships/slide" Target="slides/slide9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/>
            <a:fld id="{0E7094D2-52B1-4A24-9772-F4ABB377CA0B}" type="datetimeFigureOut">
              <a:rPr lang="ko-KR" altLang="en-US"/>
              <a:pPr/>
              <a:t>2020-07-29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rPr lang="ko-KR" altLang="en-US"/>
              <a:t>마스터 텍스트 스타일 편집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/>
            <a:fld id="{303C5F93-DBD8-475E-B5C0-664EF94AA89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jpe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이(가) 표시된 사진&#10;&#10;매우 높은 신뢰도로 생성된 설명">
            <a:extLst>
              <a:ext uri="{FF2B5EF4-FFF2-40B4-BE49-F238E27FC236}">
                <a16:creationId xmlns="" xmlns:a16="http://schemas.microsoft.com/office/drawing/2014/main" id="{1F71807D-336E-4FF6-BE4D-1DFB82D18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503"/>
            <a:ext cx="9144000" cy="687500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4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52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1.xml"  /><Relationship Id="rId2" Type="http://schemas.openxmlformats.org/officeDocument/2006/relationships/slideLayout" Target="../slideLayouts/slideLayout1.xml"  /><Relationship Id="rId3" Type="http://schemas.openxmlformats.org/officeDocument/2006/relationships/slideLayout" Target="../slideLayouts/slideLayout2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2"/>
    <p:sldLayoutId id="214748368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.png"  /><Relationship Id="rId3" Type="http://schemas.openxmlformats.org/officeDocument/2006/relationships/image" Target="../media/image14.emf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6.emf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7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8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1.png"  /><Relationship Id="rId3" Type="http://schemas.openxmlformats.org/officeDocument/2006/relationships/image" Target="../media/image22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3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4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5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6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52004"/>
            <a:ext cx="9144000" cy="80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5000"/>
              </a:lnSpc>
            </a:pPr>
            <a:r>
              <a:rPr lang="en-US" altLang="ko-KR" sz="2800"/>
              <a:t>22</a:t>
            </a:r>
            <a:r>
              <a:rPr lang="ko-KR" altLang="en-US" sz="2800"/>
              <a:t>장</a:t>
            </a:r>
            <a:r>
              <a:rPr lang="en-US" altLang="ko-KR" sz="2800"/>
              <a:t> </a:t>
            </a:r>
            <a:r>
              <a:rPr lang="ko-KR" altLang="en-US" sz="2800"/>
              <a:t>스프링 </a:t>
            </a:r>
            <a:r>
              <a:rPr lang="en-US" altLang="ko-KR" sz="2800"/>
              <a:t>JDBC </a:t>
            </a:r>
            <a:r>
              <a:rPr lang="ko-KR" altLang="en-US" sz="2800"/>
              <a:t>기능</a:t>
            </a:r>
            <a:endParaRPr lang="ko-KR" altLang="en-US" sz="2800" spc="-88"/>
          </a:p>
        </p:txBody>
      </p:sp>
      <p:cxnSp>
        <p:nvCxnSpPr>
          <p:cNvPr id="5" name="직선 연결선 4"/>
          <p:cNvCxnSpPr/>
          <p:nvPr/>
        </p:nvCxnSpPr>
        <p:spPr>
          <a:xfrm>
            <a:off x="716437" y="1455301"/>
            <a:ext cx="7748833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6887" y="1909244"/>
            <a:ext cx="6400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22.1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스프링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JDBC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로 데이터베이스와 연동 설정하기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22.2  JdbcTemplate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클래스 이용해 회원 정보 조회하기</a:t>
            </a:r>
            <a:endParaRPr lang="en-US" altLang="ko-KR" sz="200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711235"/>
            <a:ext cx="76197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JDBC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로 데이터베이스와 연동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14413" y="1495694"/>
            <a:ext cx="3619048" cy="264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스프링에서 제공하는 </a:t>
            </a:r>
            <a:r>
              <a:rPr lang="en-US" altLang="ko-KR" sz="1200" b="1">
                <a:latin typeface="+mj-ea"/>
                <a:ea typeface="+mj-ea"/>
              </a:rPr>
              <a:t>JDBC</a:t>
            </a:r>
            <a:r>
              <a:rPr lang="ko-KR" altLang="en-US" sz="1200" b="1">
                <a:latin typeface="+mj-ea"/>
                <a:ea typeface="+mj-ea"/>
              </a:rPr>
              <a:t> 특징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4948" y="1772693"/>
            <a:ext cx="7026965" cy="63522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기존 </a:t>
            </a:r>
            <a:r>
              <a:rPr lang="en-US" altLang="ko-KR" sz="1200">
                <a:latin typeface="+mj-ea"/>
                <a:ea typeface="+mj-ea"/>
              </a:rPr>
              <a:t>JDBC</a:t>
            </a:r>
            <a:r>
              <a:rPr lang="ko-KR" altLang="en-US" sz="1200">
                <a:latin typeface="+mj-ea"/>
                <a:ea typeface="+mj-ea"/>
              </a:rPr>
              <a:t>의 장점과 단순함을 유지하면서 단점을 보완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간결한 </a:t>
            </a:r>
            <a:r>
              <a:rPr lang="en-US" altLang="ko-KR" sz="1200">
                <a:latin typeface="+mj-ea"/>
                <a:ea typeface="+mj-ea"/>
              </a:rPr>
              <a:t>API</a:t>
            </a:r>
            <a:r>
              <a:rPr lang="ko-KR" altLang="en-US" sz="1200">
                <a:latin typeface="+mj-ea"/>
                <a:ea typeface="+mj-ea"/>
              </a:rPr>
              <a:t>뿐만 아니라 확장된 </a:t>
            </a:r>
            <a:r>
              <a:rPr lang="en-US" altLang="ko-KR" sz="1200">
                <a:latin typeface="+mj-ea"/>
                <a:ea typeface="+mj-ea"/>
              </a:rPr>
              <a:t>JDBC</a:t>
            </a:r>
            <a:r>
              <a:rPr lang="ko-KR" altLang="en-US" sz="1200">
                <a:latin typeface="+mj-ea"/>
                <a:ea typeface="+mj-ea"/>
              </a:rPr>
              <a:t>의 기능도 제공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4948" y="3110948"/>
            <a:ext cx="7106478" cy="60016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ko-KR" altLang="en-US" sz="1100">
                <a:latin typeface="+mj-ea"/>
                <a:ea typeface="+mj-ea"/>
              </a:rPr>
              <a:t>실제 개발을 진행할 때는 스프링 </a:t>
            </a:r>
            <a:r>
              <a:rPr lang="en-US" altLang="ko-KR" sz="1100">
                <a:latin typeface="+mj-ea"/>
                <a:ea typeface="+mj-ea"/>
              </a:rPr>
              <a:t>JDBC </a:t>
            </a:r>
            <a:r>
              <a:rPr lang="ko-KR" altLang="en-US" sz="1100">
                <a:latin typeface="+mj-ea"/>
                <a:ea typeface="+mj-ea"/>
              </a:rPr>
              <a:t>기능보다는 마이바티스나 하이버네이트 같은 데이터베이스 연동 관련 프레임워크를 사용하지만 스프링 </a:t>
            </a:r>
            <a:r>
              <a:rPr lang="en-US" altLang="ko-KR" sz="1100">
                <a:latin typeface="+mj-ea"/>
                <a:ea typeface="+mj-ea"/>
              </a:rPr>
              <a:t>JDBC</a:t>
            </a:r>
            <a:r>
              <a:rPr lang="ko-KR" altLang="en-US" sz="1100">
                <a:latin typeface="+mj-ea"/>
                <a:ea typeface="+mj-ea"/>
              </a:rPr>
              <a:t>의 기본적인 기능을 알아두면 도움이 됩니다</a:t>
            </a:r>
            <a:r>
              <a:rPr lang="en-US" altLang="ko-KR" sz="1100">
                <a:latin typeface="+mj-ea"/>
                <a:ea typeface="+mj-ea"/>
              </a:rPr>
              <a:t>. </a:t>
            </a:r>
            <a:endParaRPr lang="en-US" altLang="ko-KR" sz="1100">
              <a:latin typeface="+mj-ea"/>
              <a:ea typeface="+mj-ea"/>
            </a:endParaRPr>
          </a:p>
          <a:p>
            <a:pPr lvl="0"/>
            <a:r>
              <a:rPr lang="ko-KR" altLang="en-US" sz="1100">
                <a:latin typeface="+mj-ea"/>
                <a:ea typeface="+mj-ea"/>
              </a:rPr>
              <a:t>따라서 이 장에서는 아주기초적인 것만 짚고 넘어가겠습니다</a:t>
            </a:r>
            <a:r>
              <a:rPr lang="en-US" altLang="ko-KR" sz="1100">
                <a:latin typeface="+mj-ea"/>
                <a:ea typeface="+mj-ea"/>
              </a:rPr>
              <a:t>. </a:t>
            </a:r>
            <a:r>
              <a:rPr lang="ko-KR" altLang="en-US" sz="1100">
                <a:latin typeface="+mj-ea"/>
                <a:ea typeface="+mj-ea"/>
              </a:rPr>
              <a:t>마이바티스에 관해서는 </a:t>
            </a:r>
            <a:r>
              <a:rPr lang="en-US" altLang="ko-KR" sz="1100">
                <a:latin typeface="+mj-ea"/>
                <a:ea typeface="+mj-ea"/>
              </a:rPr>
              <a:t>23</a:t>
            </a:r>
            <a:r>
              <a:rPr lang="ko-KR" altLang="en-US" sz="1100">
                <a:latin typeface="+mj-ea"/>
                <a:ea typeface="+mj-ea"/>
              </a:rPr>
              <a:t>장에서 따로 다룹니다</a:t>
            </a:r>
            <a:r>
              <a:rPr lang="en-US" altLang="ko-KR" sz="1100">
                <a:latin typeface="+mj-ea"/>
                <a:ea typeface="+mj-ea"/>
              </a:rPr>
              <a:t>.</a:t>
            </a:r>
            <a:endParaRPr lang="ko-KR" altLang="en-US" sz="110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5314" y="2802835"/>
            <a:ext cx="15008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en-US" altLang="ko-KR" sz="1400" b="1"/>
              <a:t>Note</a:t>
            </a:r>
            <a:endParaRPr lang="ko-KR" altLang="en-US" sz="1400" b="1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665922" y="1590261"/>
            <a:ext cx="7474225" cy="446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새 프로젝트 </a:t>
            </a:r>
            <a:r>
              <a:rPr lang="en-US" altLang="ko-KR" sz="1200">
                <a:latin typeface="+mj-ea"/>
                <a:ea typeface="+mj-ea"/>
              </a:rPr>
              <a:t>pro22</a:t>
            </a:r>
            <a:r>
              <a:rPr lang="ko-KR" altLang="en-US" sz="1200">
                <a:latin typeface="+mj-ea"/>
                <a:ea typeface="+mj-ea"/>
              </a:rPr>
              <a:t>를 만들고 </a:t>
            </a:r>
            <a:r>
              <a:rPr lang="en-US" altLang="ko-KR" sz="1200">
                <a:latin typeface="+mj-ea"/>
                <a:ea typeface="+mj-ea"/>
              </a:rPr>
              <a:t>pro21</a:t>
            </a:r>
            <a:r>
              <a:rPr lang="ko-KR" altLang="en-US" sz="1200">
                <a:latin typeface="+mj-ea"/>
                <a:ea typeface="+mj-ea"/>
              </a:rPr>
              <a:t>의 </a:t>
            </a:r>
            <a:r>
              <a:rPr lang="en-US" altLang="ko-KR" sz="1200">
                <a:latin typeface="+mj-ea"/>
                <a:ea typeface="+mj-ea"/>
              </a:rPr>
              <a:t>lib </a:t>
            </a:r>
            <a:r>
              <a:rPr lang="ko-KR" altLang="en-US" sz="1200">
                <a:latin typeface="+mj-ea"/>
                <a:ea typeface="+mj-ea"/>
              </a:rPr>
              <a:t>폴더의 라이브러리와 </a:t>
            </a:r>
            <a:r>
              <a:rPr lang="en-US" altLang="ko-KR" sz="1200">
                <a:latin typeface="+mj-ea"/>
                <a:ea typeface="+mj-ea"/>
              </a:rPr>
              <a:t>web.xml, action-servlet.xml</a:t>
            </a:r>
            <a:r>
              <a:rPr lang="ko-KR" altLang="en-US" sz="1200">
                <a:latin typeface="+mj-ea"/>
                <a:ea typeface="+mj-ea"/>
              </a:rPr>
              <a:t>를 복사한 후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 동일한 위치에 붙여 넣습니다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806355" y="2121590"/>
            <a:ext cx="2219325" cy="2038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6197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JDBC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로 데이터베이스와 연동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16226" y="1540565"/>
            <a:ext cx="7573617" cy="26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그리고 스프링 </a:t>
            </a:r>
            <a:r>
              <a:rPr lang="en-US" altLang="ko-KR" sz="1200">
                <a:latin typeface="+mj-ea"/>
                <a:ea typeface="+mj-ea"/>
              </a:rPr>
              <a:t>JDBC </a:t>
            </a:r>
            <a:r>
              <a:rPr lang="ko-KR" altLang="en-US" sz="1200">
                <a:latin typeface="+mj-ea"/>
                <a:ea typeface="+mj-ea"/>
              </a:rPr>
              <a:t>실습에 필요한 </a:t>
            </a:r>
            <a:r>
              <a:rPr lang="en-US" altLang="ko-KR" sz="1200">
                <a:latin typeface="+mj-ea"/>
                <a:ea typeface="+mj-ea"/>
              </a:rPr>
              <a:t>XML </a:t>
            </a:r>
            <a:r>
              <a:rPr lang="ko-KR" altLang="en-US" sz="1200">
                <a:latin typeface="+mj-ea"/>
                <a:ea typeface="+mj-ea"/>
              </a:rPr>
              <a:t>파일들을 다음과 같이 만들어 준비합니다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833067" y="1936834"/>
            <a:ext cx="2305050" cy="2895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6197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JDBC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로 데이터베이스와 연동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495066" y="4057276"/>
            <a:ext cx="5557520" cy="20631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직사각형 2"/>
          <p:cNvSpPr/>
          <p:nvPr/>
        </p:nvSpPr>
        <p:spPr>
          <a:xfrm>
            <a:off x="841653" y="1559508"/>
            <a:ext cx="1955985" cy="2673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 </a:t>
            </a:r>
            <a:r>
              <a:rPr lang="en-US" altLang="ko-KR" sz="1200" b="1">
                <a:latin typeface="+mj-ea"/>
                <a:ea typeface="+mj-ea"/>
              </a:rPr>
              <a:t>JDBC </a:t>
            </a:r>
            <a:r>
              <a:rPr lang="ko-KR" altLang="en-US" sz="1200" b="1">
                <a:latin typeface="+mj-ea"/>
                <a:ea typeface="+mj-ea"/>
              </a:rPr>
              <a:t>설정 파일들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927652" y="1836507"/>
          <a:ext cx="734170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4696"/>
                <a:gridCol w="5387009"/>
              </a:tblGrid>
              <a:tr h="210954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파일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설명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136079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web.xml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ContextLoaderListener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이용해 빈 설정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XML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파일들을 읽어 들입니다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70535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action-servlet.xml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스프링에서 필요한 여러 가지 빈을 설정합니다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1493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action-dataSource.xml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스프링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JDBC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설정에 필요한 정보를 설정합니다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19568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jdbc.properties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데이터베이스 연결 정보를 저장합니다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24206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action-service.xm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서비스 빈 생성을 설정합니다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53771" y="3524575"/>
            <a:ext cx="7564672" cy="445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과 </a:t>
            </a:r>
            <a:r>
              <a:rPr lang="en-US" altLang="ko-KR" sz="1200">
                <a:latin typeface="+mj-ea"/>
                <a:ea typeface="+mj-ea"/>
              </a:rPr>
              <a:t>action-dataSource.xml</a:t>
            </a:r>
            <a:r>
              <a:rPr lang="ko-KR" altLang="en-US" sz="1200">
                <a:latin typeface="+mj-ea"/>
                <a:ea typeface="+mj-ea"/>
              </a:rPr>
              <a:t>의 </a:t>
            </a:r>
            <a:r>
              <a:rPr lang="en-US" altLang="ko-KR" sz="1200">
                <a:latin typeface="+mj-ea"/>
                <a:ea typeface="+mj-ea"/>
              </a:rPr>
              <a:t>&lt;beans&gt; </a:t>
            </a:r>
            <a:r>
              <a:rPr lang="ko-KR" altLang="en-US" sz="1200">
                <a:latin typeface="+mj-ea"/>
                <a:ea typeface="+mj-ea"/>
              </a:rPr>
              <a:t>태그는 </a:t>
            </a:r>
            <a:r>
              <a:rPr lang="en-US" altLang="ko-KR" sz="1200">
                <a:latin typeface="+mj-ea"/>
                <a:ea typeface="+mj-ea"/>
              </a:rPr>
              <a:t>21</a:t>
            </a:r>
            <a:r>
              <a:rPr lang="ko-KR" altLang="en-US" sz="1200">
                <a:latin typeface="+mj-ea"/>
                <a:ea typeface="+mj-ea"/>
              </a:rPr>
              <a:t>장에서 실습한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의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것을 복사해서 붙여 넣으면 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90261" y="4363278"/>
            <a:ext cx="5315658" cy="175711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9" name="사각형 설명선 8"/>
          <p:cNvSpPr/>
          <p:nvPr/>
        </p:nvSpPr>
        <p:spPr>
          <a:xfrm>
            <a:off x="7052586" y="4134678"/>
            <a:ext cx="1581785" cy="552826"/>
          </a:xfrm>
          <a:prstGeom prst="wedgeRectCallout">
            <a:avLst>
              <a:gd name="adj1" fmla="val -55392"/>
              <a:gd name="adj2" fmla="val 50233"/>
            </a:avLst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noAutofit/>
          </a:bodyPr>
          <a:lstStyle/>
          <a:p>
            <a:pPr algn="l" latinLnBrk="1">
              <a:spcAft>
                <a:spcPct val="3000"/>
              </a:spcAft>
            </a:pPr>
            <a:r>
              <a:rPr lang="ko-KR" altLang="en-US" sz="1000" b="1">
                <a:solidFill>
                  <a:srgbClr val="000000"/>
                </a:solidFill>
                <a:latin typeface="+mj-ea"/>
                <a:ea typeface="+mj-ea"/>
                <a:cs typeface="Times New Roman"/>
              </a:rPr>
              <a:t>복사한 후 각각의</a:t>
            </a:r>
            <a:r>
              <a:rPr lang="en-US" altLang="en-US" sz="1000" b="1">
                <a:solidFill>
                  <a:srgbClr val="000000"/>
                </a:solidFill>
                <a:latin typeface="+mj-ea"/>
                <a:ea typeface="+mj-ea"/>
                <a:cs typeface="Times New Roman"/>
              </a:rPr>
              <a:t> XML </a:t>
            </a:r>
            <a:r>
              <a:rPr lang="ko-KR" altLang="en-US" sz="1000" b="1">
                <a:solidFill>
                  <a:srgbClr val="000000"/>
                </a:solidFill>
                <a:latin typeface="+mj-ea"/>
                <a:ea typeface="+mj-ea"/>
                <a:cs typeface="Times New Roman"/>
              </a:rPr>
              <a:t>파일에 붙여 넣기 하세요</a:t>
            </a:r>
            <a:r>
              <a:rPr lang="en-US" altLang="en-US" sz="1000" b="1">
                <a:solidFill>
                  <a:srgbClr val="000000"/>
                </a:solidFill>
                <a:latin typeface="+mj-ea"/>
                <a:ea typeface="+mj-ea"/>
                <a:cs typeface="Times New Roman"/>
              </a:rPr>
              <a:t>.</a:t>
            </a:r>
            <a:endParaRPr lang="ko-KR" altLang="en-US" sz="1000" b="1">
              <a:latin typeface="+mj-ea"/>
              <a:ea typeface="+mj-ea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5119" y="711235"/>
            <a:ext cx="76197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JDBC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로 데이터베이스와 연동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96348" y="1311399"/>
            <a:ext cx="7742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web.xml</a:t>
            </a:r>
            <a:r>
              <a:rPr lang="ko-KR" altLang="en-US" sz="1200">
                <a:latin typeface="+mj-ea"/>
                <a:ea typeface="+mj-ea"/>
              </a:rPr>
              <a:t>을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1324274" y="1588398"/>
            <a:ext cx="5802083" cy="5269602"/>
            <a:chOff x="423863" y="790575"/>
            <a:chExt cx="8296275" cy="8391525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23863" y="790575"/>
              <a:ext cx="8296275" cy="527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55424" y="6067425"/>
              <a:ext cx="8258175" cy="3114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505119" y="711235"/>
            <a:ext cx="76197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JDBC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로 데이터베이스와 연동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65922" y="1449899"/>
            <a:ext cx="68977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을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45447" y="1726898"/>
            <a:ext cx="6538705" cy="440423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197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JDBC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로 데이터베이스와 연동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04254" y="1449899"/>
            <a:ext cx="7040839" cy="463447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05119" y="711235"/>
            <a:ext cx="76197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JDBC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로 데이터베이스와 연동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55983" y="1560443"/>
            <a:ext cx="7643190" cy="447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action-service.xml</a:t>
            </a:r>
            <a:r>
              <a:rPr lang="ko-KR" altLang="en-US" sz="1200">
                <a:latin typeface="+mj-ea"/>
                <a:ea typeface="+mj-ea"/>
              </a:rPr>
              <a:t>에서 </a:t>
            </a:r>
            <a:r>
              <a:rPr lang="en-US" altLang="ko-KR" sz="1200">
                <a:latin typeface="+mj-ea"/>
                <a:ea typeface="+mj-ea"/>
              </a:rPr>
              <a:t>memberService </a:t>
            </a:r>
            <a:r>
              <a:rPr lang="ko-KR" altLang="en-US" sz="1200">
                <a:latin typeface="+mj-ea"/>
                <a:ea typeface="+mj-ea"/>
              </a:rPr>
              <a:t>빈을 설정하도록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데이터베이스와 연동할 때 필요한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memberDAO </a:t>
            </a:r>
            <a:r>
              <a:rPr lang="ko-KR" altLang="en-US" sz="1200">
                <a:latin typeface="+mj-ea"/>
                <a:ea typeface="+mj-ea"/>
              </a:rPr>
              <a:t>빈을 주입하는 기능을 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75253" y="2022108"/>
            <a:ext cx="7298842" cy="206982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197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JDBC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로 데이터베이스와 연동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26165" y="1520687"/>
            <a:ext cx="73947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7. </a:t>
            </a:r>
            <a:r>
              <a:rPr lang="ko-KR" altLang="en-US" sz="1200">
                <a:latin typeface="+mj-ea"/>
                <a:ea typeface="+mj-ea"/>
              </a:rPr>
              <a:t>다음으로 </a:t>
            </a:r>
            <a:r>
              <a:rPr lang="en-US" altLang="ko-KR" sz="1200">
                <a:latin typeface="+mj-ea"/>
                <a:ea typeface="+mj-ea"/>
              </a:rPr>
              <a:t>action-dataSource.xml</a:t>
            </a:r>
            <a:r>
              <a:rPr lang="ko-KR" altLang="en-US" sz="1200">
                <a:latin typeface="+mj-ea"/>
                <a:ea typeface="+mj-ea"/>
              </a:rPr>
              <a:t>을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52083" y="1797686"/>
            <a:ext cx="6626698" cy="50769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197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JDBC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로 데이터베이스와 연동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449899"/>
            <a:ext cx="80723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8. </a:t>
            </a:r>
            <a:r>
              <a:rPr lang="en-US" altLang="ko-KR" sz="1200">
                <a:latin typeface="+mj-ea"/>
                <a:ea typeface="+mj-ea"/>
              </a:rPr>
              <a:t>config </a:t>
            </a:r>
            <a:r>
              <a:rPr lang="ko-KR" altLang="en-US" sz="1200">
                <a:latin typeface="+mj-ea"/>
                <a:ea typeface="+mj-ea"/>
              </a:rPr>
              <a:t>폴더를 선택하고 마우스 오른쪽 버튼을 클릭한 후 </a:t>
            </a:r>
            <a:r>
              <a:rPr lang="en-US" altLang="ko-KR" sz="1200">
                <a:latin typeface="+mj-ea"/>
                <a:ea typeface="+mj-ea"/>
              </a:rPr>
              <a:t>New &gt; File</a:t>
            </a:r>
            <a:r>
              <a:rPr lang="ko-KR" altLang="en-US" sz="1200">
                <a:latin typeface="+mj-ea"/>
                <a:ea typeface="+mj-ea"/>
              </a:rPr>
              <a:t>을 선택하여 파일 이름을  </a:t>
            </a:r>
            <a:r>
              <a:rPr lang="en-US" altLang="ko-KR" sz="1200">
                <a:latin typeface="+mj-ea"/>
                <a:ea typeface="+mj-ea"/>
              </a:rPr>
              <a:t>jdbc.properties</a:t>
            </a:r>
            <a:r>
              <a:rPr lang="ko-KR" altLang="en-US" sz="1200">
                <a:latin typeface="+mj-ea"/>
                <a:ea typeface="+mj-ea"/>
              </a:rPr>
              <a:t>로 입력합니다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그리고 다음과 같이 데이터베이스 연결 정보를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24338" y="1911564"/>
            <a:ext cx="6925857" cy="14920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636104" y="3816626"/>
            <a:ext cx="53870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XML </a:t>
            </a:r>
            <a:r>
              <a:rPr lang="ko-KR" altLang="en-US" sz="1200" b="1">
                <a:latin typeface="+mj-ea"/>
                <a:ea typeface="+mj-ea"/>
              </a:rPr>
              <a:t>파일 설정에 의한 빈 주입 과정</a:t>
            </a:r>
            <a:endParaRPr lang="ko-KR" altLang="en-US" sz="1200" b="1">
              <a:latin typeface="+mj-ea"/>
              <a:ea typeface="+mj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768644" y="4093625"/>
            <a:ext cx="587375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05119" y="711235"/>
            <a:ext cx="76197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JDBC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로 데이터베이스와 연동 설정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5983" y="1570383"/>
            <a:ext cx="7394711" cy="26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실습에 필요한 파일들을 다음과 같이 준비합니다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839617" y="1918529"/>
            <a:ext cx="2177415" cy="3975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824948" y="1530626"/>
            <a:ext cx="4750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JdbcTemplate</a:t>
            </a:r>
            <a:r>
              <a:rPr lang="ko-KR" altLang="en-US" sz="1200" b="1">
                <a:latin typeface="+mj-ea"/>
                <a:ea typeface="+mj-ea"/>
              </a:rPr>
              <a:t>를 이용한 회원 조회 과정</a:t>
            </a:r>
            <a:endParaRPr lang="ko-KR" altLang="en-US" sz="1200" b="1">
              <a:latin typeface="+mj-ea"/>
              <a:ea typeface="+mj-ea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33463" y="1807625"/>
            <a:ext cx="6446837" cy="362426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직사각형 2"/>
          <p:cNvSpPr/>
          <p:nvPr/>
        </p:nvSpPr>
        <p:spPr>
          <a:xfrm>
            <a:off x="705678" y="152104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JdbcTemplate </a:t>
            </a:r>
            <a:r>
              <a:rPr lang="ko-KR" altLang="en-US" sz="1200" b="1">
                <a:latin typeface="+mj-ea"/>
                <a:ea typeface="+mj-ea"/>
              </a:rPr>
              <a:t>클래스에서 제공하는 </a:t>
            </a:r>
            <a:r>
              <a:rPr lang="en-US" altLang="ko-KR" sz="1200" b="1">
                <a:latin typeface="+mj-ea"/>
                <a:ea typeface="+mj-ea"/>
              </a:rPr>
              <a:t>SQL </a:t>
            </a:r>
            <a:r>
              <a:rPr lang="ko-KR" altLang="en-US" sz="1200" b="1">
                <a:latin typeface="+mj-ea"/>
                <a:ea typeface="+mj-ea"/>
              </a:rPr>
              <a:t>관련 메서드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790041" y="1806659"/>
          <a:ext cx="7419681" cy="2725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438"/>
                <a:gridCol w="5675243"/>
              </a:tblGrid>
              <a:tr h="179841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기능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메서드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04357">
                <a:tc rowSpan="3"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insert, update, delete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관련 메서드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int update(String query)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p>
                      <a:pPr latinLnBrk="1"/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int update(String query, Object[] args)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23573">
                <a:tc vMerge="1">
                  <a:txBody>
                    <a:bodyPr/>
                    <a:p>
                      <a:pPr latinLnBrk="1"/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int update(String query, Object[] args, int[] argTypes)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7968">
                <a:tc rowSpan="7"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select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기능 메서드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latin typeface="+mj-ea"/>
                          <a:ea typeface="+mj-ea"/>
                        </a:rPr>
                        <a:t>int queryForInt(String query)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38539">
                <a:tc vMerge="1">
                  <a:txBody>
                    <a:bodyPr/>
                    <a:p>
                      <a:pPr latinLnBrk="1"/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int queryForInt(String query, Object[] args)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3056">
                <a:tc vMerge="1">
                  <a:txBody>
                    <a:bodyPr/>
                    <a:p>
                      <a:pPr latinLnBrk="1"/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long queryForLong(String query)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28600">
                <a:tc vMerge="1">
                  <a:txBody>
                    <a:bodyPr/>
                    <a:p>
                      <a:pPr latinLnBrk="1"/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long queryForLong(String query, Object[] args)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03420">
                <a:tc vMerge="1">
                  <a:txBody>
                    <a:bodyPr/>
                    <a:p>
                      <a:pPr latinLnBrk="1"/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Object queryForObject(String query, Class requiredType)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88180">
                <a:tc vMerge="1">
                  <a:txBody>
                    <a:bodyPr/>
                    <a:p>
                      <a:pPr latinLnBrk="1"/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List queryForList(String query)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02758">
                <a:tc vMerge="1">
                  <a:txBody>
                    <a:bodyPr/>
                    <a:p>
                      <a:pPr latinLnBrk="1"/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List queryForList(String query, Object[] args)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직사각형 2"/>
          <p:cNvSpPr/>
          <p:nvPr/>
        </p:nvSpPr>
        <p:spPr>
          <a:xfrm>
            <a:off x="755374" y="1484543"/>
            <a:ext cx="4572000" cy="26615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MemberControllerImpl </a:t>
            </a:r>
            <a:r>
              <a:rPr lang="ko-KR" altLang="en-US" sz="1200">
                <a:latin typeface="+mj-ea"/>
                <a:ea typeface="+mj-ea"/>
              </a:rPr>
              <a:t>클래스를 다음과 같이 구현합니다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239584" y="1761541"/>
            <a:ext cx="6570179" cy="48552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449899"/>
            <a:ext cx="77443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MemberServiceImpl </a:t>
            </a:r>
            <a:r>
              <a:rPr lang="ko-KR" altLang="en-US" sz="1200">
                <a:latin typeface="+mj-ea"/>
                <a:ea typeface="+mj-ea"/>
              </a:rPr>
              <a:t>클래스에서는 자신의 속성인 </a:t>
            </a:r>
            <a:r>
              <a:rPr lang="en-US" altLang="ko-KR" sz="1200">
                <a:latin typeface="+mj-ea"/>
                <a:ea typeface="+mj-ea"/>
              </a:rPr>
              <a:t>memberDAO</a:t>
            </a:r>
            <a:r>
              <a:rPr lang="ko-KR" altLang="en-US" sz="1200">
                <a:latin typeface="+mj-ea"/>
                <a:ea typeface="+mj-ea"/>
              </a:rPr>
              <a:t>에 빈을 주입하기 위해 </a:t>
            </a:r>
            <a:r>
              <a:rPr lang="en-US" altLang="ko-KR" sz="1200">
                <a:latin typeface="+mj-ea"/>
                <a:ea typeface="+mj-ea"/>
              </a:rPr>
              <a:t>setter</a:t>
            </a:r>
            <a:r>
              <a:rPr lang="ko-KR" altLang="en-US" sz="1200">
                <a:latin typeface="+mj-ea"/>
                <a:ea typeface="+mj-ea"/>
              </a:rPr>
              <a:t>를 구현합니다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14119" y="1726898"/>
            <a:ext cx="7126357" cy="424777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96348" y="1391478"/>
            <a:ext cx="7951304" cy="444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MemberDAOImpl </a:t>
            </a:r>
            <a:r>
              <a:rPr lang="ko-KR" altLang="en-US" sz="1200">
                <a:latin typeface="+mj-ea"/>
                <a:ea typeface="+mj-ea"/>
              </a:rPr>
              <a:t>클래스에서는 자신의 속성 </a:t>
            </a:r>
            <a:r>
              <a:rPr lang="en-US" altLang="ko-KR" sz="1200">
                <a:latin typeface="+mj-ea"/>
                <a:ea typeface="+mj-ea"/>
              </a:rPr>
              <a:t>jdbcTemplate</a:t>
            </a:r>
            <a:r>
              <a:rPr lang="ko-KR" altLang="en-US" sz="1200">
                <a:latin typeface="+mj-ea"/>
                <a:ea typeface="+mj-ea"/>
              </a:rPr>
              <a:t>에 </a:t>
            </a:r>
            <a:r>
              <a:rPr lang="en-US" altLang="ko-KR" sz="1200">
                <a:latin typeface="+mj-ea"/>
                <a:ea typeface="+mj-ea"/>
              </a:rPr>
              <a:t>dataSource </a:t>
            </a:r>
            <a:r>
              <a:rPr lang="ko-KR" altLang="en-US" sz="1200">
                <a:latin typeface="+mj-ea"/>
                <a:ea typeface="+mj-ea"/>
              </a:rPr>
              <a:t>빈을 주입하기 위해 </a:t>
            </a:r>
            <a:r>
              <a:rPr lang="en-US" altLang="ko-KR" sz="1200">
                <a:latin typeface="+mj-ea"/>
                <a:ea typeface="+mj-ea"/>
              </a:rPr>
              <a:t>setter</a:t>
            </a:r>
            <a:r>
              <a:rPr lang="ko-KR" altLang="en-US" sz="1200">
                <a:latin typeface="+mj-ea"/>
                <a:ea typeface="+mj-ea"/>
              </a:rPr>
              <a:t>를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이용합니다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1718284" y="1853143"/>
            <a:ext cx="5707431" cy="4962022"/>
            <a:chOff x="328911" y="2032048"/>
            <a:chExt cx="8391525" cy="7740927"/>
          </a:xfrm>
        </p:grpSpPr>
        <p:pic>
          <p:nvPicPr>
            <p:cNvPr id="14339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328911" y="2032048"/>
              <a:ext cx="8391525" cy="2266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40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58535" y="4229425"/>
              <a:ext cx="8172450" cy="5543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grpSp>
        <p:nvGrpSpPr>
          <p:cNvPr id="3" name="그룹 2"/>
          <p:cNvGrpSpPr/>
          <p:nvPr/>
        </p:nvGrpSpPr>
        <p:grpSpPr>
          <a:xfrm rot="0">
            <a:off x="994832" y="1656184"/>
            <a:ext cx="6849512" cy="4234275"/>
            <a:chOff x="507518" y="1409700"/>
            <a:chExt cx="8210550" cy="5391150"/>
          </a:xfrm>
        </p:grpSpPr>
        <p:pic>
          <p:nvPicPr>
            <p:cNvPr id="1536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557213" y="1409700"/>
              <a:ext cx="8029575" cy="403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63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507518" y="5448300"/>
              <a:ext cx="8210550" cy="1352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7" name="TextBox 6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9" name="그림 8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604837" y="1257300"/>
            <a:ext cx="793432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7" name="TextBox 6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9" name="그림 8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468052" y="1728192"/>
            <a:ext cx="8210550" cy="341947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616225" y="1548077"/>
            <a:ext cx="7345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listMembers.jsp</a:t>
            </a:r>
            <a:r>
              <a:rPr lang="ko-KR" altLang="en-US" sz="1200">
                <a:latin typeface="+mj-ea"/>
                <a:ea typeface="+mj-ea"/>
              </a:rPr>
              <a:t>에서는 조회한 회원 정보를 표시해 줍니다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118364" y="1825076"/>
            <a:ext cx="6340739" cy="489999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16224" y="1560444"/>
            <a:ext cx="7265505" cy="266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en-US" altLang="ko-KR" sz="1200">
                <a:latin typeface="+mj-ea"/>
                <a:ea typeface="+mj-ea"/>
              </a:rPr>
              <a:t>http:localhost:8090/pro22/member/listMembers.do</a:t>
            </a:r>
            <a:r>
              <a:rPr lang="ko-KR" altLang="en-US" sz="1200">
                <a:latin typeface="+mj-ea"/>
                <a:ea typeface="+mj-ea"/>
              </a:rPr>
              <a:t>로 요청하여 회원 목록을 표시합니다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277176" y="1837443"/>
            <a:ext cx="5943600" cy="19577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22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JDBC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15600" y="1558800"/>
            <a:ext cx="7264800" cy="285889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</a:ln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http:localhost:8090/pro22/member/listMembers.do</a:t>
            </a:r>
            <a:r>
              <a:rPr lang="ko-KR" altLang="en-US" sz="1200">
                <a:latin typeface="+mj-ea"/>
                <a:ea typeface="+mj-ea"/>
              </a:rPr>
              <a:t> 외 추가기능 해보기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endParaRPr lang="en-US" altLang="ko-KR" sz="1200">
              <a:latin typeface="+mj-ea"/>
              <a:ea typeface="+mj-ea"/>
            </a:endParaRPr>
          </a:p>
          <a:p>
            <a:pPr/>
            <a:r>
              <a:rPr lang="ko-KR" altLang="en-US"/>
              <a:t> </a:t>
            </a:r>
            <a:r>
              <a:rPr lang="ko-KR" altLang="en-US" sz="1400"/>
              <a:t>&lt;bean  id="methodResolver"</a:t>
            </a:r>
            <a:endParaRPr lang="ko-KR" altLang="en-US" sz="1400"/>
          </a:p>
          <a:p>
            <a:pPr/>
            <a:r>
              <a:rPr lang="ko-KR" altLang="en-US" sz="1400"/>
              <a:t> class="org.springframework.web.servlet.mvc.multiaction.PropertiesMethodNameResolver" &gt;</a:t>
            </a:r>
            <a:endParaRPr lang="ko-KR" altLang="en-US" sz="1400"/>
          </a:p>
          <a:p>
            <a:pPr/>
            <a:r>
              <a:rPr lang="ko-KR" altLang="en-US" sz="1400"/>
              <a:t>      &lt;property  name="mappings" &gt;</a:t>
            </a:r>
            <a:endParaRPr lang="ko-KR" altLang="en-US" sz="1400"/>
          </a:p>
          <a:p>
            <a:pPr/>
            <a:r>
              <a:rPr lang="ko-KR" altLang="en-US" sz="1400"/>
              <a:t>        &lt;props&gt;</a:t>
            </a:r>
            <a:endParaRPr lang="ko-KR" altLang="en-US" sz="1400"/>
          </a:p>
          <a:p>
            <a:pPr/>
            <a:r>
              <a:rPr lang="ko-KR" altLang="en-US" sz="1400"/>
              <a:t>          &lt;prop key="/member/listMembers.do" &gt;listMembers&lt;/prop&gt;</a:t>
            </a:r>
            <a:endParaRPr lang="ko-KR" altLang="en-US" sz="1400"/>
          </a:p>
          <a:p>
            <a:pPr/>
            <a:r>
              <a:rPr lang="ko-KR" altLang="en-US" sz="1400"/>
              <a:t>   </a:t>
            </a:r>
            <a:r>
              <a:rPr lang="en-US" altLang="ko-KR" sz="1400"/>
              <a:t>       </a:t>
            </a:r>
            <a:r>
              <a:rPr lang="ko-KR" altLang="en-US" sz="1400"/>
              <a:t>&lt;prop key="/member/memberForm.do" &gt;memberForm&lt;/prop&gt;</a:t>
            </a:r>
            <a:endParaRPr lang="ko-KR" altLang="en-US" sz="1400"/>
          </a:p>
          <a:p>
            <a:pPr/>
            <a:r>
              <a:rPr lang="ko-KR" altLang="en-US" sz="1400"/>
              <a:t>          &lt;prop key="/member/</a:t>
            </a:r>
            <a:r>
              <a:rPr lang="en-US" altLang="ko-KR" sz="1400"/>
              <a:t>mod</a:t>
            </a:r>
            <a:r>
              <a:rPr lang="ko-KR" altLang="en-US" sz="1400"/>
              <a:t>member.do"&gt;m</a:t>
            </a:r>
            <a:r>
              <a:rPr lang="en-US" altLang="ko-KR" sz="1400"/>
              <a:t>odMember</a:t>
            </a:r>
            <a:r>
              <a:rPr lang="ko-KR" altLang="en-US" sz="1400"/>
              <a:t>&lt;/prop&gt;</a:t>
            </a:r>
            <a:endParaRPr lang="ko-KR" altLang="en-US" sz="1400"/>
          </a:p>
          <a:p>
            <a:pPr/>
            <a:r>
              <a:rPr lang="ko-KR" altLang="en-US" sz="1400"/>
              <a:t>          &lt;prop key="/member/</a:t>
            </a:r>
            <a:r>
              <a:rPr lang="en-US" altLang="ko-KR" sz="1400"/>
              <a:t>delme</a:t>
            </a:r>
            <a:r>
              <a:rPr lang="ko-KR" altLang="en-US" sz="1400"/>
              <a:t>mber.do"&gt;</a:t>
            </a:r>
            <a:r>
              <a:rPr lang="en-US" altLang="ko-KR" sz="1400"/>
              <a:t>delMember</a:t>
            </a:r>
            <a:r>
              <a:rPr lang="ko-KR" altLang="en-US" sz="1400"/>
              <a:t>&lt;/prop&gt; </a:t>
            </a:r>
            <a:endParaRPr lang="ko-KR" altLang="en-US" sz="1400"/>
          </a:p>
          <a:p>
            <a:pPr/>
            <a:r>
              <a:rPr lang="ko-KR" altLang="en-US" sz="1400"/>
              <a:t>       &lt;/props&gt;</a:t>
            </a:r>
            <a:endParaRPr lang="ko-KR" altLang="en-US" sz="1400"/>
          </a:p>
          <a:p>
            <a:pPr/>
            <a:r>
              <a:rPr lang="ko-KR" altLang="en-US" sz="1400"/>
              <a:t>      &lt;/property&gt;</a:t>
            </a:r>
            <a:endParaRPr lang="ko-KR" altLang="en-US" sz="1400"/>
          </a:p>
          <a:p>
            <a:pPr/>
            <a:r>
              <a:rPr lang="ko-KR" altLang="en-US" sz="1400"/>
              <a:t>   &lt;/bean&gt;</a:t>
            </a:r>
            <a:endParaRPr lang="ko-KR" altLang="en-US" sz="1400"/>
          </a:p>
        </p:txBody>
      </p:sp>
      <p:sp>
        <p:nvSpPr>
          <p:cNvPr id="7" name="TextBox 6"/>
          <p:cNvSpPr txBox="1"/>
          <p:nvPr/>
        </p:nvSpPr>
        <p:spPr>
          <a:xfrm>
            <a:off x="505119" y="497205"/>
            <a:ext cx="7545577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22.2 JdbcTemplate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클래스 이용해 회원 정보 조회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9" name="직사각형 7"/>
          <p:cNvSpPr txBox="1"/>
          <p:nvPr/>
        </p:nvSpPr>
        <p:spPr>
          <a:xfrm>
            <a:off x="1333499" y="-20774026"/>
            <a:ext cx="6781800" cy="369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a:r>
              <a:rPr lang="ko-KR" altLang="en-US"/>
              <a:t>   </a:t>
            </a: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TotalTime>0</ep:TotalTime>
  <ep:HyperlinkBase/>
  <ep:Application>Hancom Office Hanshow 2010</ep:Application>
  <ep:AppVersion>8.0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/>
  <cp:contentStatus/>
  <dcterms:created xsi:type="dcterms:W3CDTF">2018-08-29T04:30:46.000</dcterms:created>
  <dc:creator>SSEN Kim</dc:creator>
  <dc:description/>
  <cp:keywords/>
  <cp:lastModifiedBy>daewo</cp:lastModifiedBy>
  <dcterms:modified xsi:type="dcterms:W3CDTF">2020-07-29T14:18:39.794</dcterms:modified>
  <cp:revision>546</cp:revision>
  <dc:subject/>
  <dc:title>PowerPoint 프레젠테이션</dc:title>
</cp:coreProperties>
</file>