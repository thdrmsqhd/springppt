
<file path=[Content_Types].xml><?xml version="1.0" encoding="utf-8"?>
<Types xmlns="http://schemas.openxmlformats.org/package/2006/content-types"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officeDocument/2006/relationships/extended-properties" Target="docProps/app.xml"  /><Relationship Id="rId3" Type="http://schemas.openxmlformats.org/package/2006/relationships/metadata/core-properties" Target="docProps/core.xml"  /><Relationship Id="rId4" Type="http://schemas.openxmlformats.org/package/2006/relationships/metadata/thumbnail" Target="docProps/thumbnail.jpeg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aveSubsetFonts="1">
  <p:sldMasterIdLst>
    <p:sldMasterId id="2147483702" r:id="rId50"/>
  </p:sldMasterIdLst>
  <p:notesMasterIdLst>
    <p:notesMasterId r:id="rId52"/>
  </p:notesMasterIdLst>
  <p:sldIdLst>
    <p:sldId id="257" r:id="rId1"/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mAuthor id="1" name="SSEN Kim" initials="SK" lastIdx="1" clrIdx="0"/>
</p:cmAuthorLst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def="{5C22544A-7EE6-4342-B048-85BDC9FD1C3A}">
  <a:tblStyle styleId="{5C22544A-7EE6-4342-B048-85BDC9FD1C3A}" styleName="보통 스타일 2 - 강조 1">
    <a:wholeTbl>
      <a:tcTxStyle>
        <a:fontRef idx="none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none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none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howOutlineIcons="0" horzBarState="maximized">
    <p:restoredLeft sz="13612"/>
    <p:restoredTop sz="94660"/>
  </p:normalViewPr>
  <p:slideViewPr>
    <p:cSldViewPr snapToGrid="0">
      <p:cViewPr varScale="1">
        <p:scale>
          <a:sx n="96" d="100"/>
          <a:sy n="96" d="100"/>
        </p:scale>
        <p:origin x="-906" y="-108"/>
      </p:cViewPr>
      <p:guideLst>
        <p:guide orient="horz" pos="1070"/>
        <p:guide pos="384"/>
        <p:guide pos="5375"/>
        <p:guide pos="543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108"/>
      </p:cViewPr>
    </p:cSldViewPr>
  </p:notesViewPr>
  <p:gridSpacing cx="36868100" cy="368681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" Target="slides/slide1.xml"  /><Relationship Id="rId10" Type="http://schemas.openxmlformats.org/officeDocument/2006/relationships/slide" Target="slides/slide10.xml"  /><Relationship Id="rId11" Type="http://schemas.openxmlformats.org/officeDocument/2006/relationships/slide" Target="slides/slide11.xml"  /><Relationship Id="rId12" Type="http://schemas.openxmlformats.org/officeDocument/2006/relationships/slide" Target="slides/slide12.xml"  /><Relationship Id="rId13" Type="http://schemas.openxmlformats.org/officeDocument/2006/relationships/slide" Target="slides/slide13.xml"  /><Relationship Id="rId14" Type="http://schemas.openxmlformats.org/officeDocument/2006/relationships/slide" Target="slides/slide14.xml"  /><Relationship Id="rId15" Type="http://schemas.openxmlformats.org/officeDocument/2006/relationships/slide" Target="slides/slide15.xml"  /><Relationship Id="rId16" Type="http://schemas.openxmlformats.org/officeDocument/2006/relationships/slide" Target="slides/slide16.xml"  /><Relationship Id="rId17" Type="http://schemas.openxmlformats.org/officeDocument/2006/relationships/slide" Target="slides/slide17.xml"  /><Relationship Id="rId18" Type="http://schemas.openxmlformats.org/officeDocument/2006/relationships/slide" Target="slides/slide18.xml"  /><Relationship Id="rId19" Type="http://schemas.openxmlformats.org/officeDocument/2006/relationships/slide" Target="slides/slide19.xml"  /><Relationship Id="rId2" Type="http://schemas.openxmlformats.org/officeDocument/2006/relationships/slide" Target="slides/slide2.xml"  /><Relationship Id="rId20" Type="http://schemas.openxmlformats.org/officeDocument/2006/relationships/slide" Target="slides/slide20.xml"  /><Relationship Id="rId21" Type="http://schemas.openxmlformats.org/officeDocument/2006/relationships/slide" Target="slides/slide21.xml"  /><Relationship Id="rId22" Type="http://schemas.openxmlformats.org/officeDocument/2006/relationships/slide" Target="slides/slide22.xml"  /><Relationship Id="rId23" Type="http://schemas.openxmlformats.org/officeDocument/2006/relationships/slide" Target="slides/slide23.xml"  /><Relationship Id="rId24" Type="http://schemas.openxmlformats.org/officeDocument/2006/relationships/slide" Target="slides/slide24.xml"  /><Relationship Id="rId25" Type="http://schemas.openxmlformats.org/officeDocument/2006/relationships/slide" Target="slides/slide25.xml"  /><Relationship Id="rId26" Type="http://schemas.openxmlformats.org/officeDocument/2006/relationships/slide" Target="slides/slide26.xml"  /><Relationship Id="rId27" Type="http://schemas.openxmlformats.org/officeDocument/2006/relationships/slide" Target="slides/slide27.xml"  /><Relationship Id="rId28" Type="http://schemas.openxmlformats.org/officeDocument/2006/relationships/slide" Target="slides/slide28.xml"  /><Relationship Id="rId29" Type="http://schemas.openxmlformats.org/officeDocument/2006/relationships/slide" Target="slides/slide29.xml"  /><Relationship Id="rId3" Type="http://schemas.openxmlformats.org/officeDocument/2006/relationships/slide" Target="slides/slide3.xml"  /><Relationship Id="rId30" Type="http://schemas.openxmlformats.org/officeDocument/2006/relationships/slide" Target="slides/slide30.xml"  /><Relationship Id="rId31" Type="http://schemas.openxmlformats.org/officeDocument/2006/relationships/slide" Target="slides/slide31.xml"  /><Relationship Id="rId32" Type="http://schemas.openxmlformats.org/officeDocument/2006/relationships/slide" Target="slides/slide32.xml"  /><Relationship Id="rId33" Type="http://schemas.openxmlformats.org/officeDocument/2006/relationships/slide" Target="slides/slide33.xml"  /><Relationship Id="rId34" Type="http://schemas.openxmlformats.org/officeDocument/2006/relationships/slide" Target="slides/slide34.xml"  /><Relationship Id="rId35" Type="http://schemas.openxmlformats.org/officeDocument/2006/relationships/slide" Target="slides/slide35.xml"  /><Relationship Id="rId36" Type="http://schemas.openxmlformats.org/officeDocument/2006/relationships/slide" Target="slides/slide36.xml"  /><Relationship Id="rId37" Type="http://schemas.openxmlformats.org/officeDocument/2006/relationships/slide" Target="slides/slide37.xml"  /><Relationship Id="rId38" Type="http://schemas.openxmlformats.org/officeDocument/2006/relationships/slide" Target="slides/slide38.xml"  /><Relationship Id="rId39" Type="http://schemas.openxmlformats.org/officeDocument/2006/relationships/slide" Target="slides/slide39.xml"  /><Relationship Id="rId4" Type="http://schemas.openxmlformats.org/officeDocument/2006/relationships/slide" Target="slides/slide4.xml"  /><Relationship Id="rId40" Type="http://schemas.openxmlformats.org/officeDocument/2006/relationships/slide" Target="slides/slide40.xml"  /><Relationship Id="rId41" Type="http://schemas.openxmlformats.org/officeDocument/2006/relationships/slide" Target="slides/slide41.xml"  /><Relationship Id="rId42" Type="http://schemas.openxmlformats.org/officeDocument/2006/relationships/slide" Target="slides/slide42.xml"  /><Relationship Id="rId43" Type="http://schemas.openxmlformats.org/officeDocument/2006/relationships/slide" Target="slides/slide43.xml"  /><Relationship Id="rId44" Type="http://schemas.openxmlformats.org/officeDocument/2006/relationships/slide" Target="slides/slide44.xml"  /><Relationship Id="rId45" Type="http://schemas.openxmlformats.org/officeDocument/2006/relationships/slide" Target="slides/slide45.xml"  /><Relationship Id="rId46" Type="http://schemas.openxmlformats.org/officeDocument/2006/relationships/slide" Target="slides/slide46.xml"  /><Relationship Id="rId47" Type="http://schemas.openxmlformats.org/officeDocument/2006/relationships/slide" Target="slides/slide47.xml"  /><Relationship Id="rId48" Type="http://schemas.openxmlformats.org/officeDocument/2006/relationships/presProps" Target="presProps.xml"  /><Relationship Id="rId49" Type="http://schemas.openxmlformats.org/officeDocument/2006/relationships/viewProps" Target="viewProps.xml"  /><Relationship Id="rId5" Type="http://schemas.openxmlformats.org/officeDocument/2006/relationships/slide" Target="slides/slide5.xml"  /><Relationship Id="rId50" Type="http://schemas.openxmlformats.org/officeDocument/2006/relationships/slideMaster" Target="slideMasters/slideMaster1.xml"  /><Relationship Id="rId51" Type="http://schemas.openxmlformats.org/officeDocument/2006/relationships/theme" Target="theme/theme1.xml"  /><Relationship Id="rId52" Type="http://schemas.openxmlformats.org/officeDocument/2006/relationships/notesMaster" Target="notesMasters/notesMaster1.xml"  /><Relationship Id="rId53" Type="http://schemas.openxmlformats.org/officeDocument/2006/relationships/commentAuthors" Target="commentAuthors.xml"  /><Relationship Id="rId54" Type="http://schemas.openxmlformats.org/officeDocument/2006/relationships/tableStyles" Target="tableStyles.xml"  /><Relationship Id="rId6" Type="http://schemas.openxmlformats.org/officeDocument/2006/relationships/slide" Target="slides/slide6.xml"  /><Relationship Id="rId7" Type="http://schemas.openxmlformats.org/officeDocument/2006/relationships/slide" Target="slides/slide7.xml"  /><Relationship Id="rId8" Type="http://schemas.openxmlformats.org/officeDocument/2006/relationships/slide" Target="slides/slide8.xml"  /><Relationship Id="rId9" Type="http://schemas.openxmlformats.org/officeDocument/2006/relationships/slide" Target="slides/slide9.xml"  /></Relationships>
</file>

<file path=ppt/drawings/_rels/vmlDrawing1.vml.rels><?xml version="1.0" encoding="UTF-8" standalone="yes" ?><Relationships xmlns="http://schemas.openxmlformats.org/package/2006/relationships"><Relationship Id="rId1" Type="http://schemas.openxmlformats.org/officeDocument/2006/relationships/image" Target="../media/image8.emf"  /></Relationships>
</file>

<file path=ppt/drawings/_rels/vmlDrawing2.vml.rels><?xml version="1.0" encoding="UTF-8" standalone="yes" ?><Relationships xmlns="http://schemas.openxmlformats.org/package/2006/relationships"><Relationship Id="rId1" Type="http://schemas.openxmlformats.org/officeDocument/2006/relationships/image" Target="../media/image11.emf"  /></Relationships>
</file>

<file path=ppt/drawings/_rels/vmlDrawing3.vml.rels><?xml version="1.0" encoding="UTF-8" standalone="yes" ?><Relationships xmlns="http://schemas.openxmlformats.org/package/2006/relationships"><Relationship Id="rId1" Type="http://schemas.openxmlformats.org/officeDocument/2006/relationships/image" Target="../media/image14.emf"  /></Relationships>
</file>

<file path=ppt/drawings/_rels/vmlDrawing4.vml.rels><?xml version="1.0" encoding="UTF-8" standalone="yes" ?><Relationships xmlns="http://schemas.openxmlformats.org/package/2006/relationships"><Relationship Id="rId1" Type="http://schemas.openxmlformats.org/officeDocument/2006/relationships/image" Target="../media/image15.emf"  /></Relationships>
</file>

<file path=ppt/drawings/_rels/vmlDrawing5.vml.rels><?xml version="1.0" encoding="UTF-8" standalone="yes" ?><Relationships xmlns="http://schemas.openxmlformats.org/package/2006/relationships"><Relationship Id="rId1" Type="http://schemas.openxmlformats.org/officeDocument/2006/relationships/image" Target="../media/image43.emf"  /></Relationships>
</file>

<file path=ppt/drawings/_rels/vmlDrawing6.vml.rels><?xml version="1.0" encoding="UTF-8" standalone="yes" ?><Relationships xmlns="http://schemas.openxmlformats.org/package/2006/relationships"><Relationship Id="rId1" Type="http://schemas.openxmlformats.org/officeDocument/2006/relationships/image" Target="../media/image46.emf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/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/>
            <a:fld id="{0E7094D2-52B1-4A24-9772-F4ABB377CA0B}" type="datetimeFigureOut">
              <a:rPr lang="ko-KR" altLang="en-US"/>
              <a:pPr/>
              <a:t>2020-07-26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/>
            <a:r>
              <a:rPr lang="ko-KR" altLang="en-US"/>
              <a:t>마스터 텍스트 스타일 편집</a:t>
            </a:r>
            <a:endParaRPr lang="ko-KR" altLang="en-US"/>
          </a:p>
          <a:p>
            <a:pPr lvl="1"/>
            <a:r>
              <a:rPr lang="ko-KR" altLang="en-US"/>
              <a:t>둘째 수준</a:t>
            </a:r>
            <a:endParaRPr lang="ko-KR" altLang="en-US"/>
          </a:p>
          <a:p>
            <a:pPr lvl="2"/>
            <a:r>
              <a:rPr lang="ko-KR" altLang="en-US"/>
              <a:t>셋째 수준</a:t>
            </a:r>
            <a:endParaRPr lang="ko-KR" altLang="en-US"/>
          </a:p>
          <a:p>
            <a:pPr lvl="3"/>
            <a:r>
              <a:rPr lang="ko-KR" altLang="en-US"/>
              <a:t>넷째 수준</a:t>
            </a:r>
            <a:endParaRPr lang="ko-KR" altLang="en-US"/>
          </a:p>
          <a:p>
            <a:pPr lvl="4"/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/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/>
            <a:fld id="{303C5F93-DBD8-475E-B5C0-664EF94AA899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1.jpeg"  /><Relationship Id="rId3" Type="http://schemas.openxmlformats.org/officeDocument/2006/relationships/image" Target="../media/image2.jpeg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3.jpeg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스크린샷이(가) 표시된 사진&#10;&#10;매우 높은 신뢰도로 생성된 설명">
            <a:extLst>
              <a:ext uri="{FF2B5EF4-FFF2-40B4-BE49-F238E27FC236}">
                <a16:creationId xmlns="" xmlns:a16="http://schemas.microsoft.com/office/drawing/2014/main" id="{1F71807D-336E-4FF6-BE4D-1DFB82D18E1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8503"/>
            <a:ext cx="9144000" cy="6875006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9" y="0"/>
            <a:ext cx="91213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8742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9" y="0"/>
            <a:ext cx="91213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2527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1.xml"  /><Relationship Id="rId2" Type="http://schemas.openxmlformats.org/officeDocument/2006/relationships/slideLayout" Target="../slideLayouts/slideLayout1.xml"  /><Relationship Id="rId3" Type="http://schemas.openxmlformats.org/officeDocument/2006/relationships/slideLayout" Target="../slideLayouts/slideLayout2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Office 테마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2"/>
    <p:sldLayoutId id="2147483701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4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5.png"  /><Relationship Id="rId3" Type="http://schemas.openxmlformats.org/officeDocument/2006/relationships/image" Target="../media/image6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7.png"  /><Relationship Id="rId3" Type="http://schemas.openxmlformats.org/officeDocument/2006/relationships/oleObject" Target="file:///" TargetMode="External" /><Relationship Id="rId4" Type="http://schemas.openxmlformats.org/officeDocument/2006/relationships/vmlDrawing" Target="../drawings/vmlDrawing1.v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9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0.png"  /><Relationship Id="rId3" Type="http://schemas.openxmlformats.org/officeDocument/2006/relationships/oleObject" Target="file:///" TargetMode="External" /><Relationship Id="rId4" Type="http://schemas.openxmlformats.org/officeDocument/2006/relationships/vmlDrawing" Target="../drawings/vmlDrawing2.v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2.png"  /><Relationship Id="rId3" Type="http://schemas.openxmlformats.org/officeDocument/2006/relationships/image" Target="../media/image13.png"  /><Relationship Id="rId4" Type="http://schemas.openxmlformats.org/officeDocument/2006/relationships/oleObject" Target="file:///" TargetMode="External" /><Relationship Id="rId5" Type="http://schemas.openxmlformats.org/officeDocument/2006/relationships/vmlDrawing" Target="../drawings/vmlDrawing3.v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oleObject" Target="file:///" TargetMode="External" /><Relationship Id="rId3" Type="http://schemas.openxmlformats.org/officeDocument/2006/relationships/vmlDrawing" Target="../drawings/vmlDrawing4.v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6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7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8.png"  /><Relationship Id="rId3" Type="http://schemas.openxmlformats.org/officeDocument/2006/relationships/image" Target="../media/image19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0.png"  /><Relationship Id="rId3" Type="http://schemas.openxmlformats.org/officeDocument/2006/relationships/image" Target="../media/image21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2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3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4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5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6.png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7.png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8.png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9.png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30.png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31.png"  /></Relationships>
</file>

<file path=ppt/slides/_rels/slide2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32.png"  /><Relationship Id="rId3" Type="http://schemas.openxmlformats.org/officeDocument/2006/relationships/image" Target="../media/image33.png"  /></Relationships>
</file>

<file path=ppt/slides/_rels/slide2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34.png"  /></Relationships>
</file>

<file path=ppt/slides/_rels/slide2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35.png"  /></Relationships>
</file>

<file path=ppt/slides/_rels/slide3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36.png"  /></Relationships>
</file>

<file path=ppt/slides/_rels/slide3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37.png"  /></Relationships>
</file>

<file path=ppt/slides/_rels/slide3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38.png"  /></Relationships>
</file>

<file path=ppt/slides/_rels/slide3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39.png"  /></Relationships>
</file>

<file path=ppt/slides/_rels/slide3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40.png"  /></Relationships>
</file>

<file path=ppt/slides/_rels/slide3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41.png"  /></Relationships>
</file>

<file path=ppt/slides/_rels/slide3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42.png"  /></Relationships>
</file>

<file path=ppt/slides/_rels/slide3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oleObject" Target="file:///" TargetMode="External" /><Relationship Id="rId3" Type="http://schemas.openxmlformats.org/officeDocument/2006/relationships/vmlDrawing" Target="../drawings/vmlDrawing5.vml"  /></Relationships>
</file>

<file path=ppt/slides/_rels/slide3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44.png"  /></Relationships>
</file>

<file path=ppt/slides/_rels/slide3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45.png"  /><Relationship Id="rId3" Type="http://schemas.openxmlformats.org/officeDocument/2006/relationships/oleObject" Target="file:///" TargetMode="External" /><Relationship Id="rId4" Type="http://schemas.openxmlformats.org/officeDocument/2006/relationships/vmlDrawing" Target="../drawings/vmlDrawing6.vml"  /></Relationships>
</file>

<file path=ppt/slides/_rels/slide4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47.png"  /></Relationships>
</file>

<file path=ppt/slides/_rels/slide4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48.png"  /></Relationships>
</file>

<file path=ppt/slides/_rels/slide4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49.png"  /></Relationships>
</file>

<file path=ppt/slides/_rels/slide4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50.png"  /></Relationships>
</file>

<file path=ppt/slides/_rels/slide4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51.png"  /></Relationships>
</file>

<file path=ppt/slides/_rels/slide4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52.png"  /></Relationships>
</file>

<file path=ppt/slides/_rels/slide4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53.png"  /><Relationship Id="rId3" Type="http://schemas.openxmlformats.org/officeDocument/2006/relationships/image" Target="../media/image54.png"  /><Relationship Id="rId4" Type="http://schemas.openxmlformats.org/officeDocument/2006/relationships/image" Target="../media/image55.png"  /></Relationships>
</file>

<file path=ppt/slides/_rels/slide4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56.png"  /><Relationship Id="rId3" Type="http://schemas.openxmlformats.org/officeDocument/2006/relationships/image" Target="../media/image57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652004"/>
            <a:ext cx="9144000" cy="7938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65000"/>
              </a:lnSpc>
            </a:pPr>
            <a:r>
              <a:rPr lang="en-US" altLang="ko-KR" sz="2800"/>
              <a:t>19</a:t>
            </a:r>
            <a:r>
              <a:rPr lang="ko-KR" altLang="en-US" sz="2800"/>
              <a:t>장</a:t>
            </a:r>
            <a:r>
              <a:rPr lang="en-US" altLang="ko-KR" sz="2800"/>
              <a:t> </a:t>
            </a:r>
            <a:r>
              <a:rPr lang="ko-KR" altLang="en-US" sz="2800"/>
              <a:t>스프링 의존성 주입과 제어 역전 기능</a:t>
            </a:r>
            <a:endParaRPr lang="ko-KR" altLang="en-US" sz="2800" spc="-88"/>
          </a:p>
        </p:txBody>
      </p:sp>
      <p:cxnSp>
        <p:nvCxnSpPr>
          <p:cNvPr id="5" name="직선 연결선 4"/>
          <p:cNvCxnSpPr/>
          <p:nvPr/>
        </p:nvCxnSpPr>
        <p:spPr>
          <a:xfrm>
            <a:off x="716437" y="1455301"/>
            <a:ext cx="7748833" cy="0"/>
          </a:xfrm>
          <a:prstGeom prst="line">
            <a:avLst/>
          </a:prstGeom>
          <a:ln w="381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66887" y="1909244"/>
            <a:ext cx="6400800" cy="1603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2000">
                <a:solidFill>
                  <a:schemeClr val="bg2">
                    <a:lumMod val="90000"/>
                  </a:schemeClr>
                </a:solidFill>
              </a:rPr>
              <a:t>19.1 </a:t>
            </a:r>
            <a:r>
              <a:rPr lang="ko-KR" altLang="en-US" sz="2000">
                <a:solidFill>
                  <a:schemeClr val="bg2">
                    <a:lumMod val="90000"/>
                  </a:schemeClr>
                </a:solidFill>
              </a:rPr>
              <a:t>의존성 주입하기</a:t>
            </a:r>
            <a:endParaRPr lang="ko-KR" altLang="en-US" sz="2000">
              <a:solidFill>
                <a:schemeClr val="bg2">
                  <a:lumMod val="90000"/>
                </a:schemeClr>
              </a:solidFill>
            </a:endParaRPr>
          </a:p>
          <a:p>
            <a:pPr>
              <a:lnSpc>
                <a:spcPct val="165000"/>
              </a:lnSpc>
            </a:pPr>
            <a:r>
              <a:rPr lang="en-US" altLang="ko-KR" sz="2000">
                <a:solidFill>
                  <a:schemeClr val="bg2">
                    <a:lumMod val="90000"/>
                  </a:schemeClr>
                </a:solidFill>
              </a:rPr>
              <a:t>19.2  </a:t>
            </a:r>
            <a:r>
              <a:rPr lang="ko-KR" altLang="en-US" sz="2000">
                <a:solidFill>
                  <a:schemeClr val="bg2">
                    <a:lumMod val="90000"/>
                  </a:schemeClr>
                </a:solidFill>
              </a:rPr>
              <a:t>의존성 주입 실습하기</a:t>
            </a:r>
            <a:r>
              <a:rPr lang="en-US" altLang="ko-KR" sz="2000">
                <a:solidFill>
                  <a:schemeClr val="bg2">
                    <a:lumMod val="90000"/>
                  </a:schemeClr>
                </a:solidFill>
              </a:rPr>
              <a:t> </a:t>
            </a:r>
            <a:endParaRPr lang="en-US" altLang="ko-KR" sz="2000">
              <a:solidFill>
                <a:schemeClr val="bg2">
                  <a:lumMod val="90000"/>
                </a:schemeClr>
              </a:solidFill>
            </a:endParaRPr>
          </a:p>
          <a:p>
            <a:pPr>
              <a:lnSpc>
                <a:spcPct val="165000"/>
              </a:lnSpc>
            </a:pPr>
            <a:r>
              <a:rPr lang="en-US" altLang="ko-KR" sz="2000">
                <a:solidFill>
                  <a:schemeClr val="bg2">
                    <a:lumMod val="90000"/>
                  </a:schemeClr>
                </a:solidFill>
              </a:rPr>
              <a:t>19.3  </a:t>
            </a:r>
            <a:r>
              <a:rPr lang="ko-KR" altLang="en-US" sz="2000">
                <a:solidFill>
                  <a:schemeClr val="bg2">
                    <a:lumMod val="90000"/>
                  </a:schemeClr>
                </a:solidFill>
              </a:rPr>
              <a:t>회원 기능 이용해 의존성 주입</a:t>
            </a:r>
            <a:r>
              <a:rPr lang="en-US" altLang="ko-KR" sz="200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ko-KR" altLang="en-US" sz="2000">
                <a:solidFill>
                  <a:schemeClr val="bg2">
                    <a:lumMod val="90000"/>
                  </a:schemeClr>
                </a:solidFill>
              </a:rPr>
              <a:t>실습하기</a:t>
            </a:r>
            <a:endParaRPr lang="en-US" altLang="ko-KR" sz="2000">
              <a:solidFill>
                <a:schemeClr val="bg2">
                  <a:lumMod val="9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64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19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 스프링 의존성 주입과 제어 역전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19.1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의존성 주입하기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3537" y="1519390"/>
            <a:ext cx="23374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ko-KR" altLang="en-US" sz="1200" b="1">
                <a:latin typeface="+mj-ea"/>
                <a:ea typeface="+mj-ea"/>
              </a:rPr>
              <a:t>의존성 주입</a:t>
            </a:r>
            <a:endParaRPr lang="ko-KR" altLang="en-US" sz="1200" b="1">
              <a:latin typeface="+mj-ea"/>
              <a:ea typeface="+mj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3171" y="1798984"/>
            <a:ext cx="7088377" cy="1180436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Wingdings"/>
              <a:buChar char="Ø"/>
            </a:pPr>
            <a:r>
              <a:rPr lang="ko-KR" altLang="en-US" sz="1200">
                <a:latin typeface="+mj-ea"/>
                <a:ea typeface="+mj-ea"/>
              </a:rPr>
              <a:t>이런 연관 관계를 개발자가 직접 코딩을 통해 컴포넌트</a:t>
            </a:r>
            <a:r>
              <a:rPr lang="en-US" altLang="ko-KR" sz="1200">
                <a:latin typeface="+mj-ea"/>
                <a:ea typeface="+mj-ea"/>
              </a:rPr>
              <a:t>(</a:t>
            </a:r>
            <a:r>
              <a:rPr lang="ko-KR" altLang="en-US" sz="1200">
                <a:latin typeface="+mj-ea"/>
                <a:ea typeface="+mj-ea"/>
              </a:rPr>
              <a:t>클래스</a:t>
            </a:r>
            <a:r>
              <a:rPr lang="en-US" altLang="ko-KR" sz="1200">
                <a:latin typeface="+mj-ea"/>
                <a:ea typeface="+mj-ea"/>
              </a:rPr>
              <a:t>)</a:t>
            </a:r>
            <a:r>
              <a:rPr lang="ko-KR" altLang="en-US" sz="1200">
                <a:latin typeface="+mj-ea"/>
                <a:ea typeface="+mj-ea"/>
              </a:rPr>
              <a:t>에 부여하는 것이 아니라 컨테이너가 연관 관계를 직접 규정하는 것</a:t>
            </a:r>
            <a:endParaRPr lang="ko-KR" altLang="en-US" sz="1200">
              <a:latin typeface="+mj-ea"/>
              <a:ea typeface="+mj-ea"/>
            </a:endParaRPr>
          </a:p>
          <a:p>
            <a:pPr marL="171450" indent="-171450">
              <a:lnSpc>
                <a:spcPct val="150000"/>
              </a:lnSpc>
              <a:buFont typeface="Wingdings"/>
              <a:buChar char="Ø"/>
            </a:pPr>
            <a:r>
              <a:rPr lang="ko-KR" altLang="en-US" sz="1200"/>
              <a:t>코드에서 직접적인 연관 관계가 발생하지 않으므로 각 클래스들의 변경이 자유로워짐</a:t>
            </a:r>
            <a:br>
              <a:rPr lang="en-US" altLang="ko-KR" sz="1200"/>
            </a:br>
            <a:r>
              <a:rPr lang="en-US" altLang="ko-KR" sz="1200"/>
              <a:t>( loosely coupled, </a:t>
            </a:r>
            <a:r>
              <a:rPr lang="ko-KR" altLang="en-US" sz="1200"/>
              <a:t>약한 결합</a:t>
            </a:r>
            <a:r>
              <a:rPr lang="en-US" altLang="ko-KR" sz="1200"/>
              <a:t>).</a:t>
            </a:r>
            <a:endParaRPr lang="ko-KR" altLang="en-US" sz="1200">
              <a:latin typeface="+mj-ea"/>
              <a:ea typeface="+mj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3720" y="3248804"/>
            <a:ext cx="2337472" cy="264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ko-KR" altLang="en-US" sz="1200" b="1">
                <a:latin typeface="+mj-ea"/>
                <a:ea typeface="+mj-ea"/>
              </a:rPr>
              <a:t>강한 결합과 약한 결합</a:t>
            </a:r>
            <a:endParaRPr lang="ko-KR" altLang="en-US" sz="1200" b="1">
              <a:latin typeface="+mj-ea"/>
              <a:ea typeface="+mj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83415" y="3525803"/>
            <a:ext cx="7177828" cy="2482567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50">
                <a:latin typeface="+mj-ea"/>
                <a:ea typeface="+mj-ea"/>
              </a:rPr>
              <a:t>현실에서 우리는 자동차의 에어컨이 고장 나면 당연히 에어컨만 수리하거나 교체하면 됩니다</a:t>
            </a:r>
            <a:r>
              <a:rPr lang="en-US" altLang="ko-KR" sz="1050">
                <a:latin typeface="+mj-ea"/>
                <a:ea typeface="+mj-ea"/>
              </a:rPr>
              <a:t>. </a:t>
            </a:r>
            <a:r>
              <a:rPr lang="ko-KR" altLang="en-US" sz="1050">
                <a:latin typeface="+mj-ea"/>
                <a:ea typeface="+mj-ea"/>
              </a:rPr>
              <a:t>하지만 만약 에어컨 기</a:t>
            </a:r>
            <a:endParaRPr lang="ko-KR" altLang="en-US" sz="105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ko-KR" altLang="en-US" sz="1050">
                <a:latin typeface="+mj-ea"/>
                <a:ea typeface="+mj-ea"/>
              </a:rPr>
              <a:t>능이 자동차 엔진과 관련 있게 설계되었다면 어떨까요</a:t>
            </a:r>
            <a:r>
              <a:rPr lang="en-US" altLang="ko-KR" sz="1050">
                <a:latin typeface="+mj-ea"/>
                <a:ea typeface="+mj-ea"/>
              </a:rPr>
              <a:t>? </a:t>
            </a:r>
            <a:r>
              <a:rPr lang="ko-KR" altLang="en-US" sz="1050">
                <a:latin typeface="+mj-ea"/>
                <a:ea typeface="+mj-ea"/>
              </a:rPr>
              <a:t>에어컨에 작은 문제라도 생기면 자동차 엔진까지 손을 봐야</a:t>
            </a:r>
            <a:endParaRPr lang="ko-KR" altLang="en-US" sz="105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ko-KR" altLang="en-US" sz="1050">
                <a:latin typeface="+mj-ea"/>
                <a:ea typeface="+mj-ea"/>
              </a:rPr>
              <a:t>하는 상황이 됩니다</a:t>
            </a:r>
            <a:r>
              <a:rPr lang="en-US" altLang="ko-KR" sz="1050">
                <a:latin typeface="+mj-ea"/>
                <a:ea typeface="+mj-ea"/>
              </a:rPr>
              <a:t>. </a:t>
            </a:r>
            <a:r>
              <a:rPr lang="ko-KR" altLang="en-US" sz="1050">
                <a:latin typeface="+mj-ea"/>
                <a:ea typeface="+mj-ea"/>
              </a:rPr>
              <a:t>난감하겠죠</a:t>
            </a:r>
            <a:r>
              <a:rPr lang="en-US" altLang="ko-KR" sz="1050">
                <a:latin typeface="+mj-ea"/>
                <a:ea typeface="+mj-ea"/>
              </a:rPr>
              <a:t>. </a:t>
            </a:r>
            <a:r>
              <a:rPr lang="ko-KR" altLang="en-US" sz="1050">
                <a:latin typeface="+mj-ea"/>
                <a:ea typeface="+mj-ea"/>
              </a:rPr>
              <a:t>즉</a:t>
            </a:r>
            <a:r>
              <a:rPr lang="en-US" altLang="ko-KR" sz="1050">
                <a:latin typeface="+mj-ea"/>
                <a:ea typeface="+mj-ea"/>
              </a:rPr>
              <a:t>, </a:t>
            </a:r>
            <a:r>
              <a:rPr lang="ko-KR" altLang="en-US" sz="1050">
                <a:latin typeface="+mj-ea"/>
                <a:ea typeface="+mj-ea"/>
              </a:rPr>
              <a:t>자동차의 부품은 같은 기능끼리는 강하게 결합하고</a:t>
            </a:r>
            <a:r>
              <a:rPr lang="en-US" altLang="ko-KR" sz="1050">
                <a:latin typeface="+mj-ea"/>
                <a:ea typeface="+mj-ea"/>
              </a:rPr>
              <a:t>, </a:t>
            </a:r>
            <a:r>
              <a:rPr lang="ko-KR" altLang="en-US" sz="1050">
                <a:latin typeface="+mj-ea"/>
                <a:ea typeface="+mj-ea"/>
              </a:rPr>
              <a:t>큰 관련이 없는 기능과는 서</a:t>
            </a:r>
            <a:endParaRPr lang="ko-KR" altLang="en-US" sz="105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ko-KR" altLang="en-US" sz="1050">
                <a:latin typeface="+mj-ea"/>
                <a:ea typeface="+mj-ea"/>
              </a:rPr>
              <a:t>로 영향을 주지 않게 만들어야 좋은 자동차라고 할 수 있습니다</a:t>
            </a:r>
            <a:r>
              <a:rPr lang="en-US" altLang="ko-KR" sz="1050">
                <a:latin typeface="+mj-ea"/>
                <a:ea typeface="+mj-ea"/>
              </a:rPr>
              <a:t>.</a:t>
            </a:r>
            <a:endParaRPr lang="en-US" altLang="ko-KR" sz="105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ko-KR" altLang="en-US" sz="1050">
                <a:latin typeface="+mj-ea"/>
                <a:ea typeface="+mj-ea"/>
              </a:rPr>
              <a:t>프로그램도 마찬가지입니다</a:t>
            </a:r>
            <a:r>
              <a:rPr lang="en-US" altLang="ko-KR" sz="1050">
                <a:latin typeface="+mj-ea"/>
                <a:ea typeface="+mj-ea"/>
              </a:rPr>
              <a:t>. </a:t>
            </a:r>
            <a:r>
              <a:rPr lang="ko-KR" altLang="en-US" sz="1050">
                <a:latin typeface="+mj-ea"/>
                <a:ea typeface="+mj-ea"/>
              </a:rPr>
              <a:t>프로그램은 각각의 독립적인 기능들로 구성되어 있습니다</a:t>
            </a:r>
            <a:r>
              <a:rPr lang="en-US" altLang="ko-KR" sz="1050">
                <a:latin typeface="+mj-ea"/>
                <a:ea typeface="+mj-ea"/>
              </a:rPr>
              <a:t>. </a:t>
            </a:r>
            <a:r>
              <a:rPr lang="ko-KR" altLang="en-US" sz="1050">
                <a:latin typeface="+mj-ea"/>
                <a:ea typeface="+mj-ea"/>
              </a:rPr>
              <a:t>쇼핑몰의 경우 크게 상품 관</a:t>
            </a:r>
            <a:endParaRPr lang="ko-KR" altLang="en-US" sz="105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ko-KR" altLang="en-US" sz="1050">
                <a:latin typeface="+mj-ea"/>
                <a:ea typeface="+mj-ea"/>
              </a:rPr>
              <a:t>리</a:t>
            </a:r>
            <a:r>
              <a:rPr lang="en-US" altLang="ko-KR" sz="1050">
                <a:latin typeface="+mj-ea"/>
                <a:ea typeface="+mj-ea"/>
              </a:rPr>
              <a:t>, </a:t>
            </a:r>
            <a:r>
              <a:rPr lang="ko-KR" altLang="en-US" sz="1050">
                <a:latin typeface="+mj-ea"/>
                <a:ea typeface="+mj-ea"/>
              </a:rPr>
              <a:t>주문 관리</a:t>
            </a:r>
            <a:r>
              <a:rPr lang="en-US" altLang="ko-KR" sz="1050">
                <a:latin typeface="+mj-ea"/>
                <a:ea typeface="+mj-ea"/>
              </a:rPr>
              <a:t>, </a:t>
            </a:r>
            <a:r>
              <a:rPr lang="ko-KR" altLang="en-US" sz="1050">
                <a:latin typeface="+mj-ea"/>
                <a:ea typeface="+mj-ea"/>
              </a:rPr>
              <a:t>회원 관리</a:t>
            </a:r>
            <a:r>
              <a:rPr lang="en-US" altLang="ko-KR" sz="1050">
                <a:latin typeface="+mj-ea"/>
                <a:ea typeface="+mj-ea"/>
              </a:rPr>
              <a:t>, </a:t>
            </a:r>
            <a:r>
              <a:rPr lang="ko-KR" altLang="en-US" sz="1050">
                <a:latin typeface="+mj-ea"/>
                <a:ea typeface="+mj-ea"/>
              </a:rPr>
              <a:t>게시판 관리 등으로 구성됩니다</a:t>
            </a:r>
            <a:r>
              <a:rPr lang="en-US" altLang="ko-KR" sz="1050">
                <a:latin typeface="+mj-ea"/>
                <a:ea typeface="+mj-ea"/>
              </a:rPr>
              <a:t>. </a:t>
            </a:r>
            <a:r>
              <a:rPr lang="ko-KR" altLang="en-US" sz="1050">
                <a:latin typeface="+mj-ea"/>
                <a:ea typeface="+mj-ea"/>
              </a:rPr>
              <a:t>각 기능들은 또 세부 기능을 하는 여러 클래스들로 이루어</a:t>
            </a:r>
            <a:endParaRPr lang="ko-KR" altLang="en-US" sz="105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ko-KR" altLang="en-US" sz="1050">
                <a:latin typeface="+mj-ea"/>
                <a:ea typeface="+mj-ea"/>
              </a:rPr>
              <a:t>집니다</a:t>
            </a:r>
            <a:r>
              <a:rPr lang="en-US" altLang="ko-KR" sz="1050">
                <a:latin typeface="+mj-ea"/>
                <a:ea typeface="+mj-ea"/>
              </a:rPr>
              <a:t>. </a:t>
            </a:r>
            <a:r>
              <a:rPr lang="ko-KR" altLang="en-US" sz="1050">
                <a:latin typeface="+mj-ea"/>
                <a:ea typeface="+mj-ea"/>
              </a:rPr>
              <a:t>그런데 부품 기능을 하는 클래스에 변경 사항이 발생했을 때 그 클래스의 기능과 관련 없는 다른 클래스까지</a:t>
            </a:r>
            <a:endParaRPr lang="ko-KR" altLang="en-US" sz="105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ko-KR" altLang="en-US" sz="1050">
                <a:latin typeface="+mj-ea"/>
                <a:ea typeface="+mj-ea"/>
              </a:rPr>
              <a:t>손봐야 한다면 자동차의 예처럼 여러 가지 문제가 발생할 수 있습니다</a:t>
            </a:r>
            <a:r>
              <a:rPr lang="en-US" altLang="ko-KR" sz="1050">
                <a:latin typeface="+mj-ea"/>
                <a:ea typeface="+mj-ea"/>
              </a:rPr>
              <a:t>.</a:t>
            </a:r>
            <a:endParaRPr lang="en-US" altLang="ko-KR" sz="105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ko-KR" altLang="en-US" sz="1050">
                <a:latin typeface="+mj-ea"/>
                <a:ea typeface="+mj-ea"/>
              </a:rPr>
              <a:t>따라서 서로 관련이 있는 기능들은 강하게 결합</a:t>
            </a:r>
            <a:r>
              <a:rPr lang="en-US" altLang="ko-KR" sz="1050">
                <a:latin typeface="+mj-ea"/>
                <a:ea typeface="+mj-ea"/>
              </a:rPr>
              <a:t>( tightly coupled)</a:t>
            </a:r>
            <a:r>
              <a:rPr lang="ko-KR" altLang="en-US" sz="1050">
                <a:latin typeface="+mj-ea"/>
                <a:ea typeface="+mj-ea"/>
              </a:rPr>
              <a:t>하고</a:t>
            </a:r>
            <a:r>
              <a:rPr lang="en-US" altLang="ko-KR" sz="1050">
                <a:latin typeface="+mj-ea"/>
                <a:ea typeface="+mj-ea"/>
              </a:rPr>
              <a:t>, </a:t>
            </a:r>
            <a:r>
              <a:rPr lang="ko-KR" altLang="en-US" sz="1050">
                <a:latin typeface="+mj-ea"/>
                <a:ea typeface="+mj-ea"/>
              </a:rPr>
              <a:t>관련이 없는 기능들은 약하게 결합</a:t>
            </a:r>
            <a:r>
              <a:rPr lang="en-US" altLang="ko-KR" sz="1050">
                <a:latin typeface="+mj-ea"/>
                <a:ea typeface="+mj-ea"/>
              </a:rPr>
              <a:t>(loosely</a:t>
            </a:r>
            <a:endParaRPr lang="en-US" altLang="ko-KR" sz="105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ko-KR" sz="1050">
                <a:latin typeface="+mj-ea"/>
                <a:ea typeface="+mj-ea"/>
              </a:rPr>
              <a:t>coupled)</a:t>
            </a:r>
            <a:r>
              <a:rPr lang="ko-KR" altLang="en-US" sz="1050">
                <a:latin typeface="+mj-ea"/>
                <a:ea typeface="+mj-ea"/>
              </a:rPr>
              <a:t>해야 좋은 프로그램입니다</a:t>
            </a:r>
            <a:r>
              <a:rPr lang="en-US" altLang="ko-KR" sz="1050">
                <a:latin typeface="+mj-ea"/>
                <a:ea typeface="+mj-ea"/>
              </a:rPr>
              <a:t>. </a:t>
            </a:r>
            <a:r>
              <a:rPr lang="ko-KR" altLang="en-US" sz="1050">
                <a:latin typeface="+mj-ea"/>
                <a:ea typeface="+mj-ea"/>
              </a:rPr>
              <a:t>그 반대가 되면 안 되겠죠</a:t>
            </a:r>
            <a:r>
              <a:rPr lang="en-US" altLang="ko-KR" sz="1050">
                <a:latin typeface="+mj-ea"/>
                <a:ea typeface="+mj-ea"/>
              </a:rPr>
              <a:t>.</a:t>
            </a:r>
            <a:endParaRPr lang="ko-KR" altLang="en-US" sz="105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64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19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 스프링 의존성 주입과 제어 역전 기능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505118" y="1335052"/>
            <a:ext cx="8039113" cy="491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1980247">
              <a:lnSpc>
                <a:spcPct val="150000"/>
              </a:lnSpc>
              <a:spcBef>
                <a:spcPct val="16000"/>
              </a:spcBef>
              <a:buClr>
                <a:srgbClr val="7c68ad"/>
              </a:buClr>
              <a:buFont typeface="Arial"/>
              <a:buChar char="•"/>
            </a:pPr>
            <a:r>
              <a:rPr lang="en-US" altLang="ko-KR" b="1"/>
              <a:t>19.1.1 </a:t>
            </a:r>
            <a:r>
              <a:rPr lang="ko-KR" altLang="en-US" b="1"/>
              <a:t>의존성 주입을 사용하기 전 게시판 기능</a:t>
            </a:r>
            <a:endParaRPr lang="en-US" altLang="ko-KR" b="1" spc="-94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19.1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의존성 주입하기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984570" y="1790048"/>
            <a:ext cx="6894443" cy="5037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직선 연결선 5"/>
          <p:cNvCxnSpPr/>
          <p:nvPr/>
        </p:nvCxnSpPr>
        <p:spPr>
          <a:xfrm>
            <a:off x="1300252" y="3538331"/>
            <a:ext cx="46714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5118" y="3399831"/>
            <a:ext cx="805073" cy="2653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solidFill>
                  <a:srgbClr val="ff0000"/>
                </a:solidFill>
              </a:rPr>
              <a:t>protected</a:t>
            </a:r>
            <a:endParaRPr lang="ko-KR" altLang="en-US" sz="1200" b="1">
              <a:solidFill>
                <a:srgbClr val="ff0000"/>
              </a:solidFill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1210802" y="4460506"/>
            <a:ext cx="561556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82033" y="4329132"/>
            <a:ext cx="80507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solidFill>
                  <a:srgbClr val="ff0000"/>
                </a:solidFill>
              </a:rPr>
              <a:t>private</a:t>
            </a:r>
            <a:endParaRPr lang="ko-KR" altLang="en-US" sz="12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64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19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 스프링 의존성 주입과 제어 역전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19.1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의존성 주입하기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774515" y="1234455"/>
            <a:ext cx="6818981" cy="18257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3">
            <a:alphaModFix/>
            <a:lum/>
          </a:blip>
          <a:srcRect/>
          <a:stretch>
            <a:fillRect/>
          </a:stretch>
        </p:blipFill>
        <p:spPr>
          <a:xfrm>
            <a:off x="821979" y="3249172"/>
            <a:ext cx="6383892" cy="36004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64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19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 스프링 의존성 주입과 제어 역전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19.1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의존성 주입하기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05678" y="1490870"/>
            <a:ext cx="22064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ko-KR" altLang="en-US" sz="1200" b="1"/>
              <a:t>자바 코드로 구현 시  문제점</a:t>
            </a:r>
            <a:endParaRPr lang="ko-KR" altLang="en-US" sz="1200" b="1"/>
          </a:p>
        </p:txBody>
      </p:sp>
      <p:sp>
        <p:nvSpPr>
          <p:cNvPr id="4" name="TextBox 3"/>
          <p:cNvSpPr txBox="1"/>
          <p:nvPr/>
        </p:nvSpPr>
        <p:spPr>
          <a:xfrm>
            <a:off x="727926" y="1767869"/>
            <a:ext cx="7603434" cy="906751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ko-KR" altLang="en-US" sz="1200">
                <a:latin typeface="+mj-ea"/>
                <a:ea typeface="+mj-ea"/>
              </a:rPr>
              <a:t>현재 </a:t>
            </a:r>
            <a:r>
              <a:rPr lang="en-US" altLang="ko-KR" sz="1200">
                <a:latin typeface="+mj-ea"/>
                <a:ea typeface="+mj-ea"/>
              </a:rPr>
              <a:t>BoardDAO </a:t>
            </a:r>
            <a:r>
              <a:rPr lang="ko-KR" altLang="en-US" sz="1200">
                <a:latin typeface="+mj-ea"/>
                <a:ea typeface="+mj-ea"/>
              </a:rPr>
              <a:t>클래스에서는 오라클과 연동해 게시판 기능을 구현하고 있음</a:t>
            </a:r>
            <a:endParaRPr lang="ko-KR" altLang="en-US" sz="1200">
              <a:latin typeface="+mj-ea"/>
              <a:ea typeface="+mj-ea"/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ko-KR" altLang="en-US" sz="1200">
                <a:latin typeface="+mj-ea"/>
                <a:ea typeface="+mj-ea"/>
              </a:rPr>
              <a:t>오라클에서 </a:t>
            </a:r>
            <a:r>
              <a:rPr lang="en-US" altLang="ko-KR" sz="1200">
                <a:latin typeface="+mj-ea"/>
                <a:ea typeface="+mj-ea"/>
              </a:rPr>
              <a:t>MySQL</a:t>
            </a:r>
            <a:r>
              <a:rPr lang="ko-KR" altLang="en-US" sz="1200">
                <a:latin typeface="+mj-ea"/>
                <a:ea typeface="+mj-ea"/>
              </a:rPr>
              <a:t>로 데이터베이스를 변경 발생 시 </a:t>
            </a:r>
            <a:r>
              <a:rPr lang="en-US" altLang="ko-KR" sz="1200">
                <a:latin typeface="+mj-ea"/>
                <a:ea typeface="+mj-ea"/>
              </a:rPr>
              <a:t>BoardDAO </a:t>
            </a:r>
            <a:r>
              <a:rPr lang="ko-KR" altLang="en-US" sz="1200">
                <a:latin typeface="+mj-ea"/>
                <a:ea typeface="+mj-ea"/>
              </a:rPr>
              <a:t>클래스의 기능을 일일이 변경해야함</a:t>
            </a:r>
            <a:endParaRPr lang="ko-KR" altLang="en-US" sz="1200">
              <a:latin typeface="+mj-ea"/>
              <a:ea typeface="+mj-ea"/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ko-KR" altLang="en-US" sz="1200">
                <a:latin typeface="+mj-ea"/>
                <a:ea typeface="+mj-ea"/>
              </a:rPr>
              <a:t>더 나아가서 </a:t>
            </a:r>
            <a:r>
              <a:rPr lang="en-US" altLang="ko-KR" sz="1200">
                <a:latin typeface="+mj-ea"/>
                <a:ea typeface="+mj-ea"/>
              </a:rPr>
              <a:t>BoardDAO </a:t>
            </a:r>
            <a:r>
              <a:rPr lang="ko-KR" altLang="en-US" sz="1200">
                <a:latin typeface="+mj-ea"/>
                <a:ea typeface="+mj-ea"/>
              </a:rPr>
              <a:t>클래스를 사용하는 </a:t>
            </a:r>
            <a:r>
              <a:rPr lang="en-US" altLang="ko-KR" sz="1200">
                <a:latin typeface="+mj-ea"/>
                <a:ea typeface="+mj-ea"/>
              </a:rPr>
              <a:t>BoardService </a:t>
            </a:r>
            <a:r>
              <a:rPr lang="ko-KR" altLang="en-US" sz="1200">
                <a:latin typeface="+mj-ea"/>
                <a:ea typeface="+mj-ea"/>
              </a:rPr>
              <a:t>클래스의 기능도 변경해야 할 수도 있음</a:t>
            </a:r>
            <a:endParaRPr lang="ko-KR" altLang="en-US" sz="1200">
              <a:latin typeface="+mj-ea"/>
              <a:ea typeface="+mj-ea"/>
            </a:endParaRPr>
          </a:p>
        </p:txBody>
      </p:sp>
      <p:sp>
        <p:nvSpPr>
          <p:cNvPr id="5" name="아래쪽 화살표 4"/>
          <p:cNvSpPr/>
          <p:nvPr/>
        </p:nvSpPr>
        <p:spPr>
          <a:xfrm>
            <a:off x="4038118" y="2847560"/>
            <a:ext cx="346093" cy="327992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727926" y="3447582"/>
            <a:ext cx="7603434" cy="903438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ko-KR" altLang="en-US" sz="1200"/>
              <a:t>따라서 자바 코드에서직접 객체를 생성해서 사용하는 것</a:t>
            </a:r>
            <a:r>
              <a:rPr lang="en-US" altLang="ko-KR" sz="1200"/>
              <a:t>(tightly coupled)</a:t>
            </a:r>
            <a:r>
              <a:rPr lang="ko-KR" altLang="en-US" sz="1200"/>
              <a:t>은 복잡한 문제를 일으킬 수 있음</a:t>
            </a:r>
            <a:endParaRPr lang="ko-KR" altLang="en-US" sz="1200"/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ko-KR" altLang="en-US" sz="1200"/>
              <a:t>다른 클래스의 변경 사항이 연속적으로 다른 부분에 영향을 미친다면 이 방법</a:t>
            </a:r>
            <a:r>
              <a:rPr lang="en-US" altLang="ko-KR" sz="1200"/>
              <a:t>(</a:t>
            </a:r>
            <a:r>
              <a:rPr lang="ko-KR" altLang="en-US" sz="1200"/>
              <a:t>자바 코드에서 직접 객체를 </a:t>
            </a:r>
            <a:br>
              <a:rPr lang="en-US" altLang="ko-KR" sz="1200"/>
            </a:br>
            <a:r>
              <a:rPr lang="ko-KR" altLang="en-US" sz="1200"/>
              <a:t>생성해 사용하는 것은 좋은 방법이 아님</a:t>
            </a:r>
            <a:endParaRPr lang="ko-KR" altLang="en-US" sz="120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64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19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 스프링 의존성 주입과 제어 역전 기능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505118" y="1335052"/>
            <a:ext cx="8039113" cy="491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1980247">
              <a:lnSpc>
                <a:spcPct val="150000"/>
              </a:lnSpc>
              <a:spcBef>
                <a:spcPct val="16000"/>
              </a:spcBef>
              <a:buClr>
                <a:srgbClr val="7c68ad"/>
              </a:buClr>
              <a:buFont typeface="Arial"/>
              <a:buChar char="•"/>
            </a:pPr>
            <a:r>
              <a:rPr lang="en-US" altLang="ko-KR" b="1"/>
              <a:t>19.1.2</a:t>
            </a:r>
            <a:r>
              <a:rPr lang="ko-KR" altLang="en-US" b="1"/>
              <a:t> 인터페이스를 적용한 게시판 기능</a:t>
            </a:r>
            <a:endParaRPr lang="en-US" altLang="ko-KR" b="1" spc="-94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19.1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의존성 주입하기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996282" y="4241204"/>
            <a:ext cx="7643514" cy="171420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996282" y="1913624"/>
            <a:ext cx="4907561" cy="26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ko-KR" altLang="en-US" sz="1200" b="1"/>
              <a:t>오라클과 연동하는 게시판 클래스 계층 구조</a:t>
            </a:r>
            <a:endParaRPr lang="ko-KR" altLang="en-US" sz="1200" b="1"/>
          </a:p>
        </p:txBody>
      </p:sp>
      <p:graphicFrame>
        <p:nvGraphicFramePr>
          <p:cNvPr id="5" name="개체 4"/>
          <p:cNvGraphicFramePr>
            <a:graphicFrameLocks noChangeAspect="1"/>
          </p:cNvGraphicFramePr>
          <p:nvPr/>
        </p:nvGraphicFramePr>
        <p:xfrm>
          <a:off x="1113252" y="2190623"/>
          <a:ext cx="6307137" cy="1641475"/>
        </p:xfrm>
        <a:graphic>
          <a:graphicData uri="http://schemas.openxmlformats.org/presentationml/2006/ole">
            <p:oleObj spid="_x0000_s1069" name="문서" r:id="rId3" imgW="6307020" imgH="1904909" progId="Word.Document.12">
              <p:link/>
            </p:oleObj>
          </a:graphicData>
        </a:graphic>
      </p:graphicFrame>
    </p:spTree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64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19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 스프링 의존성 주입과 제어 역전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19.1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의존성 주입하기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505119" y="1736927"/>
            <a:ext cx="7725069" cy="38041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64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19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 스프링 의존성 주입과 제어 역전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19.1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의존성 주입하기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22237" y="5519768"/>
            <a:ext cx="7604872" cy="1183927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Wingdings"/>
              <a:buChar char="Ø"/>
            </a:pPr>
            <a:r>
              <a:rPr lang="ko-KR" altLang="en-US" sz="1200">
                <a:latin typeface="+mj-ea"/>
                <a:ea typeface="+mj-ea"/>
              </a:rPr>
              <a:t>개발 중 </a:t>
            </a:r>
            <a:r>
              <a:rPr lang="en-US" altLang="ko-KR" sz="1200">
                <a:latin typeface="+mj-ea"/>
                <a:ea typeface="+mj-ea"/>
              </a:rPr>
              <a:t>MySQL</a:t>
            </a:r>
            <a:r>
              <a:rPr lang="ko-KR" altLang="en-US" sz="1200">
                <a:latin typeface="+mj-ea"/>
                <a:ea typeface="+mj-ea"/>
              </a:rPr>
              <a:t>과 연동하는 기능</a:t>
            </a:r>
            <a:r>
              <a:rPr lang="en-US" altLang="ko-KR" sz="1200">
                <a:latin typeface="+mj-ea"/>
                <a:ea typeface="+mj-ea"/>
              </a:rPr>
              <a:t> </a:t>
            </a:r>
            <a:r>
              <a:rPr lang="ko-KR" altLang="en-US" sz="1200">
                <a:latin typeface="+mj-ea"/>
                <a:ea typeface="+mj-ea"/>
              </a:rPr>
              <a:t>발생 시  기존의 </a:t>
            </a:r>
            <a:r>
              <a:rPr lang="en-US" altLang="ko-KR" sz="1200">
                <a:latin typeface="+mj-ea"/>
                <a:ea typeface="+mj-ea"/>
              </a:rPr>
              <a:t>BoardOracleDAOImpl </a:t>
            </a:r>
            <a:r>
              <a:rPr lang="ko-KR" altLang="en-US" sz="1200">
                <a:latin typeface="+mj-ea"/>
                <a:ea typeface="+mj-ea"/>
              </a:rPr>
              <a:t>클래스를 변경할 필요 없이 </a:t>
            </a:r>
            <a:r>
              <a:rPr lang="en-US" altLang="ko-KR" sz="1200">
                <a:latin typeface="+mj-ea"/>
                <a:ea typeface="+mj-ea"/>
              </a:rPr>
              <a:t>BoardDAO </a:t>
            </a:r>
            <a:r>
              <a:rPr lang="ko-KR" altLang="en-US" sz="1200">
                <a:latin typeface="+mj-ea"/>
                <a:ea typeface="+mj-ea"/>
              </a:rPr>
              <a:t>인터페이스를 구현한 또 다른 </a:t>
            </a:r>
            <a:r>
              <a:rPr lang="en-US" altLang="ko-KR" sz="1200">
                <a:latin typeface="+mj-ea"/>
                <a:ea typeface="+mj-ea"/>
              </a:rPr>
              <a:t>BoardMySqlDAOImpl </a:t>
            </a:r>
            <a:r>
              <a:rPr lang="ko-KR" altLang="en-US" sz="1200">
                <a:latin typeface="+mj-ea"/>
                <a:ea typeface="+mj-ea"/>
              </a:rPr>
              <a:t>클래스를 구현한 후 </a:t>
            </a:r>
            <a:r>
              <a:rPr lang="en-US" altLang="ko-KR" sz="1200">
                <a:latin typeface="+mj-ea"/>
                <a:ea typeface="+mj-ea"/>
              </a:rPr>
              <a:t>BoardServiceImpl</a:t>
            </a:r>
            <a:r>
              <a:rPr lang="ko-KR" altLang="en-US" sz="1200">
                <a:latin typeface="+mj-ea"/>
                <a:ea typeface="+mj-ea"/>
              </a:rPr>
              <a:t>에서 사용</a:t>
            </a:r>
            <a:endParaRPr lang="ko-KR" altLang="en-US" sz="1200">
              <a:latin typeface="+mj-ea"/>
              <a:ea typeface="+mj-ea"/>
            </a:endParaRPr>
          </a:p>
          <a:p>
            <a:pPr marL="171450" indent="-171450">
              <a:lnSpc>
                <a:spcPct val="150000"/>
              </a:lnSpc>
              <a:buFont typeface="Wingdings"/>
              <a:buChar char="Ø"/>
            </a:pPr>
            <a:r>
              <a:rPr lang="ko-KR" altLang="en-US" sz="1200">
                <a:latin typeface="+mj-ea"/>
                <a:ea typeface="+mj-ea"/>
              </a:rPr>
              <a:t>그러나 인터페이스를 사용해도 </a:t>
            </a:r>
            <a:r>
              <a:rPr lang="en-US" altLang="ko-KR" sz="1200">
                <a:latin typeface="+mj-ea"/>
                <a:ea typeface="+mj-ea"/>
              </a:rPr>
              <a:t>BoardServiceImpl </a:t>
            </a:r>
            <a:r>
              <a:rPr lang="ko-KR" altLang="en-US" sz="1200">
                <a:latin typeface="+mj-ea"/>
                <a:ea typeface="+mj-ea"/>
              </a:rPr>
              <a:t>클래스 자체는 여전히 소스 코드에서 직접 수정해야함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722237" y="3343456"/>
            <a:ext cx="7550840" cy="199779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1580322" y="1351381"/>
            <a:ext cx="4870174" cy="265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MySQL</a:t>
            </a:r>
            <a:r>
              <a:rPr lang="ko-KR" altLang="en-US" sz="1200" b="1">
                <a:latin typeface="+mj-ea"/>
                <a:ea typeface="+mj-ea"/>
              </a:rPr>
              <a:t>과 연동하는 게시판 클래스 계층 구조</a:t>
            </a:r>
            <a:endParaRPr lang="ko-KR" altLang="en-US" sz="1200" b="1">
              <a:latin typeface="+mj-ea"/>
              <a:ea typeface="+mj-ea"/>
            </a:endParaRPr>
          </a:p>
        </p:txBody>
      </p:sp>
      <p:graphicFrame>
        <p:nvGraphicFramePr>
          <p:cNvPr id="5" name="개체 4"/>
          <p:cNvGraphicFramePr>
            <a:graphicFrameLocks noChangeAspect="1"/>
          </p:cNvGraphicFramePr>
          <p:nvPr/>
        </p:nvGraphicFramePr>
        <p:xfrm>
          <a:off x="1223226" y="1518060"/>
          <a:ext cx="5867400" cy="2181225"/>
        </p:xfrm>
        <a:graphic>
          <a:graphicData uri="http://schemas.openxmlformats.org/presentationml/2006/ole">
            <p:oleObj spid="_x0000_s2092" name="문서" r:id="rId3" imgW="5857699" imgH="2183510" progId="Word.Document.12">
              <p:link/>
            </p:oleObj>
          </a:graphicData>
        </a:graphic>
      </p:graphicFrame>
    </p:spTree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64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19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 스프링 의존성 주입과 제어 역전 기능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505118" y="1335052"/>
            <a:ext cx="8039113" cy="491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1980247">
              <a:lnSpc>
                <a:spcPct val="150000"/>
              </a:lnSpc>
              <a:spcBef>
                <a:spcPct val="16000"/>
              </a:spcBef>
              <a:buClr>
                <a:srgbClr val="7c68ad"/>
              </a:buClr>
              <a:buFont typeface="Arial"/>
              <a:buChar char="•"/>
            </a:pPr>
            <a:r>
              <a:rPr lang="en-US" altLang="ko-KR" b="1"/>
              <a:t>19.1.3 </a:t>
            </a:r>
            <a:r>
              <a:rPr lang="ko-KR" altLang="en-US" b="1"/>
              <a:t>의존성 주입을 적용한 게시판 기능</a:t>
            </a:r>
            <a:endParaRPr lang="en-US" altLang="ko-KR" b="1" spc="-94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19.1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의존성 주입하기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775254" y="1863445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ko-KR" altLang="en-US" sz="1200" b="1">
                <a:latin typeface="+mj-ea"/>
                <a:ea typeface="+mj-ea"/>
              </a:rPr>
              <a:t>의존성 주입 장점</a:t>
            </a:r>
            <a:endParaRPr lang="ko-KR" altLang="en-US" sz="1200" b="1">
              <a:latin typeface="+mj-ea"/>
              <a:ea typeface="+mj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4706" y="2140444"/>
            <a:ext cx="7345017" cy="1181876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ko-KR" altLang="en-US" sz="1200">
                <a:latin typeface="+mj-ea"/>
                <a:ea typeface="+mj-ea"/>
              </a:rPr>
              <a:t>클래스들 간의 의존 관계를 최소화하여 코드를 단순화할 수 있음</a:t>
            </a:r>
            <a:endParaRPr lang="ko-KR" altLang="en-US" sz="1200">
              <a:latin typeface="+mj-ea"/>
              <a:ea typeface="+mj-ea"/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ko-KR" altLang="en-US" sz="1200">
                <a:latin typeface="+mj-ea"/>
                <a:ea typeface="+mj-ea"/>
              </a:rPr>
              <a:t>애플리케이션을 더 쉽게 유지 및 관리할 수 있음</a:t>
            </a:r>
            <a:endParaRPr lang="ko-KR" altLang="en-US" sz="1200">
              <a:latin typeface="+mj-ea"/>
              <a:ea typeface="+mj-ea"/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ko-KR" altLang="en-US" sz="1200">
                <a:latin typeface="+mj-ea"/>
                <a:ea typeface="+mj-ea"/>
              </a:rPr>
              <a:t>기존 구현 방법은 개발자가 직접 코드 안에서 객체의 생성과 소멸을 제어했지만</a:t>
            </a:r>
            <a:r>
              <a:rPr lang="en-US" altLang="ko-KR" sz="1200">
                <a:latin typeface="+mj-ea"/>
                <a:ea typeface="+mj-ea"/>
              </a:rPr>
              <a:t> </a:t>
            </a:r>
            <a:r>
              <a:rPr lang="ko-KR" altLang="en-US" sz="1200">
                <a:latin typeface="+mj-ea"/>
                <a:ea typeface="+mj-ea"/>
              </a:rPr>
              <a:t>의존성 주입은 객체의 생성</a:t>
            </a:r>
            <a:r>
              <a:rPr lang="en-US" altLang="ko-KR" sz="1200">
                <a:latin typeface="+mj-ea"/>
                <a:ea typeface="+mj-ea"/>
              </a:rPr>
              <a:t>, </a:t>
            </a:r>
            <a:r>
              <a:rPr lang="ko-KR" altLang="en-US" sz="1200">
                <a:latin typeface="+mj-ea"/>
                <a:ea typeface="+mj-ea"/>
              </a:rPr>
              <a:t>소멸과 객체 간의 의존 관계를 컨테이너가 제어함</a:t>
            </a:r>
            <a:endParaRPr lang="ko-KR" altLang="en-US" sz="1200">
              <a:latin typeface="+mj-ea"/>
              <a:ea typeface="+mj-ea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75254" y="3522631"/>
            <a:ext cx="2930265" cy="2664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ko-KR" altLang="en-US" sz="1200" b="1">
                <a:latin typeface="+mj-ea"/>
                <a:ea typeface="+mj-ea"/>
              </a:rPr>
              <a:t>제어의 역전</a:t>
            </a:r>
            <a:r>
              <a:rPr lang="en-US" altLang="ko-KR" sz="1200" b="1">
                <a:latin typeface="+mj-ea"/>
                <a:ea typeface="+mj-ea"/>
              </a:rPr>
              <a:t>(Inversion Of Control)</a:t>
            </a:r>
            <a:endParaRPr lang="ko-KR" altLang="en-US" sz="1200" b="1">
              <a:latin typeface="+mj-ea"/>
              <a:ea typeface="+mj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4706" y="3799630"/>
            <a:ext cx="7345017" cy="118004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ko-KR" altLang="en-US" sz="1200">
                <a:latin typeface="+mj-ea"/>
                <a:ea typeface="+mj-ea"/>
              </a:rPr>
              <a:t>기존 코드에서는 개발자가 직접 객체를 제어했지만 스프링 프레임워크에서는 객체의 제어를 스프링이 직접 담당</a:t>
            </a:r>
            <a:endParaRPr lang="ko-KR" altLang="en-US" sz="1200">
              <a:latin typeface="+mj-ea"/>
              <a:ea typeface="+mj-ea"/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altLang="ko-KR" sz="1200">
                <a:latin typeface="+mj-ea"/>
                <a:ea typeface="+mj-ea"/>
              </a:rPr>
              <a:t>IoC</a:t>
            </a:r>
            <a:r>
              <a:rPr lang="ko-KR" altLang="en-US" sz="1200">
                <a:latin typeface="+mj-ea"/>
                <a:ea typeface="+mj-ea"/>
              </a:rPr>
              <a:t>의 종류도 여러 가지이며</a:t>
            </a:r>
            <a:r>
              <a:rPr lang="en-US" altLang="ko-KR" sz="1200">
                <a:latin typeface="+mj-ea"/>
                <a:ea typeface="+mj-ea"/>
              </a:rPr>
              <a:t>, </a:t>
            </a:r>
            <a:r>
              <a:rPr lang="ko-KR" altLang="en-US" sz="1200">
                <a:latin typeface="+mj-ea"/>
                <a:ea typeface="+mj-ea"/>
              </a:rPr>
              <a:t>일반적으로 스프링에서는 </a:t>
            </a:r>
            <a:r>
              <a:rPr lang="en-US" altLang="ko-KR" sz="1200">
                <a:latin typeface="+mj-ea"/>
                <a:ea typeface="+mj-ea"/>
              </a:rPr>
              <a:t>DI</a:t>
            </a:r>
            <a:r>
              <a:rPr lang="ko-KR" altLang="en-US" sz="1200">
                <a:latin typeface="+mj-ea"/>
                <a:ea typeface="+mj-ea"/>
              </a:rPr>
              <a:t>로 </a:t>
            </a:r>
            <a:r>
              <a:rPr lang="en-US" altLang="ko-KR" sz="1200">
                <a:latin typeface="+mj-ea"/>
                <a:ea typeface="+mj-ea"/>
              </a:rPr>
              <a:t>IoC</a:t>
            </a:r>
            <a:r>
              <a:rPr lang="ko-KR" altLang="en-US" sz="1200">
                <a:latin typeface="+mj-ea"/>
                <a:ea typeface="+mj-ea"/>
              </a:rPr>
              <a:t>의 기능을 구현하므로 </a:t>
            </a:r>
            <a:r>
              <a:rPr lang="en-US" altLang="ko-KR" sz="1200">
                <a:latin typeface="+mj-ea"/>
                <a:ea typeface="+mj-ea"/>
              </a:rPr>
              <a:t>IoC</a:t>
            </a:r>
            <a:r>
              <a:rPr lang="ko-KR" altLang="en-US" sz="1200">
                <a:latin typeface="+mj-ea"/>
                <a:ea typeface="+mj-ea"/>
              </a:rPr>
              <a:t>보다는 </a:t>
            </a:r>
            <a:r>
              <a:rPr lang="en-US" altLang="ko-KR" sz="1200">
                <a:latin typeface="+mj-ea"/>
                <a:ea typeface="+mj-ea"/>
              </a:rPr>
              <a:t>DI</a:t>
            </a:r>
            <a:r>
              <a:rPr lang="ko-KR" altLang="en-US" sz="1200">
                <a:latin typeface="+mj-ea"/>
                <a:ea typeface="+mj-ea"/>
              </a:rPr>
              <a:t>라는 용어를 더 많이 사용함</a:t>
            </a:r>
            <a:endParaRPr lang="ko-KR" altLang="en-US" sz="1200">
              <a:latin typeface="+mj-ea"/>
              <a:ea typeface="+mj-ea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775254" y="5162587"/>
            <a:ext cx="2930265" cy="264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ko-KR" altLang="en-US" sz="1200" b="1">
                <a:latin typeface="+mj-ea"/>
                <a:ea typeface="+mj-ea"/>
              </a:rPr>
              <a:t>스프링의 의존성 주입 방법</a:t>
            </a:r>
            <a:endParaRPr lang="ko-KR" altLang="en-US" sz="1200" b="1">
              <a:latin typeface="+mj-ea"/>
              <a:ea typeface="+mj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64706" y="5489858"/>
            <a:ext cx="7345017" cy="646331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200">
                <a:latin typeface="+mj-ea"/>
                <a:ea typeface="+mj-ea"/>
              </a:rPr>
              <a:t>생성자에 의한 주입</a:t>
            </a:r>
            <a:endParaRPr lang="ko-KR" altLang="en-US" sz="1200">
              <a:latin typeface="+mj-ea"/>
              <a:ea typeface="+mj-ea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1200">
                <a:latin typeface="+mj-ea"/>
                <a:ea typeface="+mj-ea"/>
              </a:rPr>
              <a:t>setter</a:t>
            </a:r>
            <a:r>
              <a:rPr lang="ko-KR" altLang="en-US" sz="1200">
                <a:latin typeface="+mj-ea"/>
                <a:ea typeface="+mj-ea"/>
              </a:rPr>
              <a:t>에 의한 주입</a:t>
            </a:r>
            <a:endParaRPr lang="ko-KR" altLang="en-US" sz="120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64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19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 스프링 의존성 주입과 제어 역전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19.1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의존성 주입하기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916769" y="2790648"/>
            <a:ext cx="6727468" cy="17492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906830" y="2513649"/>
            <a:ext cx="3617844" cy="2657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1.</a:t>
            </a:r>
            <a:r>
              <a:rPr lang="ko-KR" altLang="en-US" sz="1200" b="1">
                <a:latin typeface="+mj-ea"/>
                <a:ea typeface="+mj-ea"/>
              </a:rPr>
              <a:t>생성자에 의한 주입</a:t>
            </a:r>
            <a:endParaRPr lang="ko-KR" altLang="en-US" sz="1200" b="1">
              <a:latin typeface="+mj-ea"/>
              <a:ea typeface="+mj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6769" y="4611452"/>
            <a:ext cx="3617844" cy="26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2.setter</a:t>
            </a:r>
            <a:r>
              <a:rPr lang="ko-KR" altLang="en-US" sz="1200" b="1">
                <a:latin typeface="+mj-ea"/>
                <a:ea typeface="+mj-ea"/>
              </a:rPr>
              <a:t>에 의한 주입</a:t>
            </a:r>
            <a:endParaRPr lang="ko-KR" altLang="en-US" sz="1200" b="1">
              <a:latin typeface="+mj-ea"/>
              <a:ea typeface="+mj-ea"/>
            </a:endParaRP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 rotWithShape="1">
          <a:blip r:embed="rId3">
            <a:alphaModFix/>
            <a:lum/>
          </a:blip>
          <a:srcRect/>
          <a:stretch>
            <a:fillRect/>
          </a:stretch>
        </p:blipFill>
        <p:spPr>
          <a:xfrm>
            <a:off x="916769" y="4888451"/>
            <a:ext cx="6727468" cy="175148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직선 연결선 5"/>
          <p:cNvCxnSpPr/>
          <p:nvPr/>
        </p:nvCxnSpPr>
        <p:spPr>
          <a:xfrm>
            <a:off x="3240157" y="3625535"/>
            <a:ext cx="119269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401417" y="1234455"/>
            <a:ext cx="5257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ko-KR" altLang="en-US" sz="1200" b="1"/>
              <a:t>외부 설정에 의한 의존 객체 주입</a:t>
            </a:r>
            <a:endParaRPr lang="ko-KR" altLang="en-US" sz="1200" b="1"/>
          </a:p>
        </p:txBody>
      </p:sp>
      <p:graphicFrame>
        <p:nvGraphicFramePr>
          <p:cNvPr id="8" name="개체 7"/>
          <p:cNvGraphicFramePr>
            <a:graphicFrameLocks noChangeAspect="1"/>
          </p:cNvGraphicFramePr>
          <p:nvPr/>
        </p:nvGraphicFramePr>
        <p:xfrm>
          <a:off x="1479274" y="1372954"/>
          <a:ext cx="5867400" cy="1624012"/>
        </p:xfrm>
        <a:graphic>
          <a:graphicData uri="http://schemas.openxmlformats.org/presentationml/2006/ole">
            <p:oleObj spid="_x0000_s3115" name="문서" r:id="rId4" imgW="5857699" imgH="1626668" progId="Word.Document.12">
              <p:link/>
            </p:oleObj>
          </a:graphicData>
        </a:graphic>
      </p:graphicFrame>
    </p:spTree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64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19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 스프링 의존성 주입과 제어 역전 기능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503997" y="1633097"/>
            <a:ext cx="8038802" cy="81517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</a:ln>
        </p:spPr>
        <p:txBody>
          <a:bodyPr wrap="square">
            <a:spAutoFit/>
          </a:bodyPr>
          <a:lstStyle/>
          <a:p>
            <a:pPr marL="285750" indent="-285750" defTabSz="1980247">
              <a:lnSpc>
                <a:spcPct val="150000"/>
              </a:lnSpc>
              <a:spcBef>
                <a:spcPct val="16000"/>
              </a:spcBef>
              <a:buClr>
                <a:srgbClr val="7c68ad"/>
              </a:buClr>
              <a:buFont typeface="Arial"/>
              <a:buChar char="•"/>
            </a:pPr>
            <a:r>
              <a:rPr lang="en-US" altLang="ko-KR" sz="1500" b="1"/>
              <a:t>boardService = new BoardService(); // BoardController</a:t>
            </a:r>
            <a:r>
              <a:rPr lang="ko-KR" altLang="en-US" sz="1500" b="1"/>
              <a:t>에서 객체를 코드에서 직접 생성 사용</a:t>
            </a:r>
            <a:endParaRPr lang="ko-KR" altLang="en-US" sz="1500" b="1"/>
          </a:p>
          <a:p>
            <a:pPr marL="285750" indent="-285750" defTabSz="1980247">
              <a:lnSpc>
                <a:spcPct val="150000"/>
              </a:lnSpc>
              <a:spcBef>
                <a:spcPct val="16000"/>
              </a:spcBef>
              <a:buClr>
                <a:srgbClr val="7c68ad"/>
              </a:buClr>
              <a:buFont typeface="Arial"/>
              <a:buChar char="•"/>
            </a:pPr>
            <a:r>
              <a:rPr lang="en-US" altLang="ko-KR" sz="1500" b="1"/>
              <a:t>boardDAO=new BoardDAO(); // BoardService()</a:t>
            </a:r>
            <a:r>
              <a:rPr lang="ko-KR" altLang="en-US" sz="1500" b="1"/>
              <a:t>에서 객체를 코드에서 직접 생성 사용</a:t>
            </a:r>
            <a:endParaRPr lang="ko-KR" altLang="en-US" sz="1500" b="1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19.2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의존성 주입 실습하기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13" name="TextBox 2"/>
          <p:cNvSpPr txBox="1"/>
          <p:nvPr/>
        </p:nvSpPr>
        <p:spPr>
          <a:xfrm>
            <a:off x="504056" y="2664296"/>
            <a:ext cx="8039114" cy="810424"/>
          </a:xfrm>
          <a:prstGeom prst="rect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</a:ln>
        </p:spPr>
        <p:txBody>
          <a:bodyPr wrap="square">
            <a:spAutoFit/>
          </a:bodyPr>
          <a:lstStyle/>
          <a:p>
            <a:pPr marL="285750" indent="-285750" defTabSz="2340292">
              <a:lnSpc>
                <a:spcPct val="150000"/>
              </a:lnSpc>
              <a:spcBef>
                <a:spcPct val="16000"/>
              </a:spcBef>
              <a:buClr>
                <a:srgbClr val="7c68ad"/>
              </a:buClr>
              <a:buFont typeface="Arial"/>
            </a:pPr>
            <a:r>
              <a:rPr lang="en-US" altLang="ko-KR" sz="1500" b="1"/>
              <a:t> BoardServiceImpl </a:t>
            </a:r>
            <a:r>
              <a:rPr lang="ko-KR" altLang="en-US" sz="1500" b="1"/>
              <a:t>클래스에서 인터페이스 이용 하위 클래스 객체 생성</a:t>
            </a:r>
            <a:endParaRPr lang="en-US" altLang="ko-KR" sz="1500" b="1"/>
          </a:p>
          <a:p>
            <a:pPr marL="285750" indent="-285750" defTabSz="2340292">
              <a:lnSpc>
                <a:spcPct val="150000"/>
              </a:lnSpc>
              <a:spcBef>
                <a:spcPct val="16000"/>
              </a:spcBef>
              <a:buClr>
                <a:srgbClr val="7c68ad"/>
              </a:buClr>
              <a:buFont typeface="Arial"/>
              <a:buChar char="•"/>
            </a:pPr>
            <a:r>
              <a:rPr lang="en-US" altLang="ko-KR" sz="1500" b="1"/>
              <a:t>boardDAO=new BoardOracleDAOImpl();  </a:t>
            </a:r>
            <a:r>
              <a:rPr lang="ko-KR" altLang="en-US" sz="1500" b="1"/>
              <a:t>혹은 </a:t>
            </a:r>
            <a:r>
              <a:rPr lang="en-US" altLang="ko-KR" sz="1500" b="1"/>
              <a:t>BoardMySqlImpl();</a:t>
            </a:r>
            <a:endParaRPr lang="en-US" altLang="ko-KR" sz="1500" b="1"/>
          </a:p>
        </p:txBody>
      </p:sp>
      <p:sp>
        <p:nvSpPr>
          <p:cNvPr id="14" name="TextBox 2"/>
          <p:cNvSpPr txBox="1"/>
          <p:nvPr/>
        </p:nvSpPr>
        <p:spPr>
          <a:xfrm>
            <a:off x="504056" y="3780420"/>
            <a:ext cx="8039114" cy="2706296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</a:ln>
        </p:spPr>
        <p:txBody>
          <a:bodyPr wrap="square">
            <a:spAutoFit/>
          </a:bodyPr>
          <a:lstStyle/>
          <a:p>
            <a:pPr marL="285750" indent="-285750" defTabSz="2700337">
              <a:lnSpc>
                <a:spcPct val="150000"/>
              </a:lnSpc>
              <a:spcBef>
                <a:spcPct val="16000"/>
              </a:spcBef>
              <a:buClr>
                <a:srgbClr val="7c68ad"/>
              </a:buClr>
              <a:buFont typeface="Arial"/>
            </a:pPr>
            <a:r>
              <a:rPr lang="en-US" altLang="ko-KR" sz="1500" b="1"/>
              <a:t> BoardServiceImpl </a:t>
            </a:r>
            <a:r>
              <a:rPr lang="ko-KR" altLang="en-US" sz="1500" b="1"/>
              <a:t>클래스에서</a:t>
            </a:r>
            <a:endParaRPr lang="ko-KR" altLang="en-US" sz="1500" b="1"/>
          </a:p>
          <a:p>
            <a:pPr marL="285750" indent="-285750" defTabSz="2700337">
              <a:lnSpc>
                <a:spcPct val="150000"/>
              </a:lnSpc>
              <a:spcBef>
                <a:spcPct val="16000"/>
              </a:spcBef>
              <a:buClr>
                <a:srgbClr val="7c68ad"/>
              </a:buClr>
              <a:buFont typeface="Arial"/>
            </a:pPr>
            <a:r>
              <a:rPr lang="en-US" altLang="ko-KR" sz="1500" b="1"/>
              <a:t>    </a:t>
            </a:r>
            <a:r>
              <a:rPr lang="ko-KR" altLang="en-US" sz="1500" b="1"/>
              <a:t> </a:t>
            </a:r>
            <a:r>
              <a:rPr lang="en-US" altLang="ko-KR" sz="1500" b="1"/>
              <a:t>private BoardDAO</a:t>
            </a:r>
            <a:r>
              <a:rPr lang="ko-KR" altLang="en-US" sz="1500" b="1"/>
              <a:t> </a:t>
            </a:r>
            <a:r>
              <a:rPr lang="en-US" altLang="ko-KR" sz="1500" b="1"/>
              <a:t>boardDAO</a:t>
            </a:r>
            <a:endParaRPr lang="en-US" altLang="ko-KR" sz="1500" b="1"/>
          </a:p>
          <a:p>
            <a:pPr marL="285750" indent="-285750" defTabSz="2700337">
              <a:lnSpc>
                <a:spcPct val="150000"/>
              </a:lnSpc>
              <a:spcBef>
                <a:spcPct val="16000"/>
              </a:spcBef>
              <a:buClr>
                <a:srgbClr val="7c68ad"/>
              </a:buClr>
              <a:buFont typeface="Arial"/>
            </a:pPr>
            <a:r>
              <a:rPr lang="en-US" altLang="ko-KR" sz="1500" b="1"/>
              <a:t>     public BoardServiceImpl</a:t>
            </a:r>
            <a:r>
              <a:rPr lang="ko-KR" altLang="en-US" sz="1500" b="1"/>
              <a:t>( </a:t>
            </a:r>
            <a:r>
              <a:rPr lang="en-US" altLang="ko-KR" sz="1500" b="1"/>
              <a:t>BoardDAO</a:t>
            </a:r>
            <a:r>
              <a:rPr lang="ko-KR" altLang="en-US" sz="1500" b="1"/>
              <a:t> </a:t>
            </a:r>
            <a:r>
              <a:rPr lang="en-US" altLang="ko-KR" sz="1500" b="1"/>
              <a:t>boardDAO) {     // </a:t>
            </a:r>
            <a:r>
              <a:rPr lang="ko-KR" altLang="en-US" sz="1500" b="1"/>
              <a:t>생성자 이용</a:t>
            </a:r>
            <a:r>
              <a:rPr lang="en-US" altLang="ko-KR" sz="1500" b="1"/>
              <a:t> </a:t>
            </a:r>
            <a:r>
              <a:rPr lang="ko-KR" altLang="en-US" sz="1500" b="1"/>
              <a:t>의존주입</a:t>
            </a:r>
            <a:endParaRPr lang="ko-KR" altLang="en-US" sz="1500" b="1"/>
          </a:p>
          <a:p>
            <a:pPr marL="285750" indent="-285750" defTabSz="2700337">
              <a:lnSpc>
                <a:spcPct val="150000"/>
              </a:lnSpc>
              <a:spcBef>
                <a:spcPct val="16000"/>
              </a:spcBef>
              <a:buClr>
                <a:srgbClr val="7c68ad"/>
              </a:buClr>
              <a:buFont typeface="Arial"/>
            </a:pPr>
            <a:r>
              <a:rPr lang="ko-KR" altLang="en-US" sz="1500" b="1"/>
              <a:t>          </a:t>
            </a:r>
            <a:r>
              <a:rPr lang="en-US" altLang="ko-KR" sz="1500" b="1"/>
              <a:t>this.</a:t>
            </a:r>
            <a:r>
              <a:rPr lang="ko-KR" altLang="en-US" sz="1500" b="1"/>
              <a:t> </a:t>
            </a:r>
            <a:r>
              <a:rPr lang="en-US" altLang="ko-KR" sz="1500" b="1"/>
              <a:t>boardDAO= BoardDAO; </a:t>
            </a:r>
            <a:endParaRPr lang="en-US" altLang="ko-KR" sz="1500" b="1"/>
          </a:p>
          <a:p>
            <a:pPr marL="285750" indent="-285750" defTabSz="2700337">
              <a:lnSpc>
                <a:spcPct val="150000"/>
              </a:lnSpc>
              <a:spcBef>
                <a:spcPct val="16000"/>
              </a:spcBef>
              <a:buClr>
                <a:srgbClr val="7c68ad"/>
              </a:buClr>
              <a:buFont typeface="Arial"/>
            </a:pPr>
            <a:endParaRPr lang="en-US" altLang="ko-KR" sz="1500" b="1"/>
          </a:p>
          <a:p>
            <a:pPr marL="285750" indent="-285750" defTabSz="2700337">
              <a:lnSpc>
                <a:spcPct val="150000"/>
              </a:lnSpc>
              <a:spcBef>
                <a:spcPct val="16000"/>
              </a:spcBef>
              <a:buClr>
                <a:srgbClr val="7c68ad"/>
              </a:buClr>
              <a:buFont typeface="Arial"/>
            </a:pPr>
            <a:r>
              <a:rPr lang="en-US" altLang="ko-KR" sz="1500" b="1"/>
              <a:t>     public</a:t>
            </a:r>
            <a:r>
              <a:rPr lang="ko-KR" altLang="en-US" sz="1500" b="1"/>
              <a:t> </a:t>
            </a:r>
            <a:r>
              <a:rPr lang="en-US" altLang="ko-KR" sz="1500" b="1"/>
              <a:t>void setBoardDAO</a:t>
            </a:r>
            <a:r>
              <a:rPr lang="ko-KR" altLang="en-US" sz="1500" b="1"/>
              <a:t>( </a:t>
            </a:r>
            <a:r>
              <a:rPr lang="en-US" altLang="ko-KR" sz="1500" b="1"/>
              <a:t>BoardDAO</a:t>
            </a:r>
            <a:r>
              <a:rPr lang="ko-KR" altLang="en-US" sz="1500" b="1"/>
              <a:t> </a:t>
            </a:r>
            <a:r>
              <a:rPr lang="en-US" altLang="ko-KR" sz="1500" b="1"/>
              <a:t>boardDAO ) {     // setter </a:t>
            </a:r>
            <a:r>
              <a:rPr lang="ko-KR" altLang="en-US" sz="1500" b="1"/>
              <a:t>이용 의존주입</a:t>
            </a:r>
            <a:endParaRPr lang="ko-KR" altLang="en-US" sz="1500" b="1"/>
          </a:p>
          <a:p>
            <a:pPr marL="285750" indent="-285750" defTabSz="2700337">
              <a:lnSpc>
                <a:spcPct val="150000"/>
              </a:lnSpc>
              <a:spcBef>
                <a:spcPct val="16000"/>
              </a:spcBef>
              <a:buClr>
                <a:srgbClr val="7c68ad"/>
              </a:buClr>
              <a:buFont typeface="Arial"/>
            </a:pPr>
            <a:r>
              <a:rPr lang="en-US" altLang="ko-KR" sz="1500" b="1"/>
              <a:t>         </a:t>
            </a:r>
            <a:r>
              <a:rPr lang="ko-KR" altLang="en-US" sz="1500" b="1"/>
              <a:t>   </a:t>
            </a:r>
            <a:r>
              <a:rPr lang="en-US" altLang="ko-KR" sz="1500" b="1"/>
              <a:t>this.</a:t>
            </a:r>
            <a:r>
              <a:rPr lang="ko-KR" altLang="en-US" sz="1500" b="1"/>
              <a:t> </a:t>
            </a:r>
            <a:r>
              <a:rPr lang="en-US" altLang="ko-KR" sz="1500" b="1"/>
              <a:t>boardDAO= BoardDAO; }</a:t>
            </a:r>
            <a:endParaRPr lang="en-US" altLang="ko-KR" sz="1500" b="1"/>
          </a:p>
        </p:txBody>
      </p:sp>
    </p:spTree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64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19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 스프링 의존성 주입과 제어 역전 기능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505118" y="1335052"/>
            <a:ext cx="8039113" cy="491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1980247">
              <a:lnSpc>
                <a:spcPct val="150000"/>
              </a:lnSpc>
              <a:spcBef>
                <a:spcPct val="16000"/>
              </a:spcBef>
              <a:buClr>
                <a:srgbClr val="7c68ad"/>
              </a:buClr>
              <a:buFont typeface="Arial"/>
              <a:buChar char="•"/>
            </a:pPr>
            <a:r>
              <a:rPr lang="en-US" altLang="ko-KR" b="1"/>
              <a:t>19.2.1 setter</a:t>
            </a:r>
            <a:r>
              <a:rPr lang="ko-KR" altLang="en-US" b="1"/>
              <a:t>를 이용한 </a:t>
            </a:r>
            <a:r>
              <a:rPr lang="en-US" altLang="ko-KR" b="1"/>
              <a:t>DI </a:t>
            </a:r>
            <a:r>
              <a:rPr lang="ko-KR" altLang="en-US" b="1"/>
              <a:t>기능</a:t>
            </a:r>
            <a:endParaRPr lang="en-US" altLang="ko-KR" b="1" spc="-94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19.2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의존성 주입 실습하기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365517" y="2076694"/>
            <a:ext cx="3627783" cy="264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ko-KR" altLang="en-US" sz="1200" b="1"/>
              <a:t>실습 클래스 계층 구조</a:t>
            </a:r>
            <a:endParaRPr lang="ko-KR" altLang="en-US" sz="1200" b="1"/>
          </a:p>
        </p:txBody>
      </p:sp>
      <p:graphicFrame>
        <p:nvGraphicFramePr>
          <p:cNvPr id="5" name="개체 4"/>
          <p:cNvGraphicFramePr>
            <a:graphicFrameLocks noChangeAspect="1"/>
          </p:cNvGraphicFramePr>
          <p:nvPr/>
        </p:nvGraphicFramePr>
        <p:xfrm>
          <a:off x="1587799" y="2353693"/>
          <a:ext cx="5873750" cy="1905000"/>
        </p:xfrm>
        <a:graphic>
          <a:graphicData uri="http://schemas.openxmlformats.org/presentationml/2006/ole">
            <p:oleObj spid="_x0000_s4138" name="문서" r:id="rId2" imgW="5874221" imgH="1904909" progId="Word.Document.12">
              <p:link/>
            </p:oleObj>
          </a:graphicData>
        </a:graphic>
      </p:graphicFrame>
    </p:spTree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64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19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 스프링 의존성 주입과 제어 역전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19.2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의존성 주입 실습하기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6287" y="1470991"/>
            <a:ext cx="74841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1. </a:t>
            </a:r>
            <a:r>
              <a:rPr lang="ko-KR" altLang="en-US" sz="1200">
                <a:latin typeface="+mj-ea"/>
                <a:ea typeface="+mj-ea"/>
              </a:rPr>
              <a:t>이클립스 상단에서 </a:t>
            </a:r>
            <a:r>
              <a:rPr lang="en-US" altLang="ko-KR" sz="1200">
                <a:latin typeface="+mj-ea"/>
                <a:ea typeface="+mj-ea"/>
              </a:rPr>
              <a:t>New &gt; Project...</a:t>
            </a:r>
            <a:r>
              <a:rPr lang="ko-KR" altLang="en-US" sz="1200">
                <a:latin typeface="+mj-ea"/>
                <a:ea typeface="+mj-ea"/>
              </a:rPr>
              <a:t>를 선택한 후 </a:t>
            </a:r>
            <a:r>
              <a:rPr lang="en-US" altLang="ko-KR" sz="1200">
                <a:latin typeface="+mj-ea"/>
                <a:ea typeface="+mj-ea"/>
              </a:rPr>
              <a:t>Java Project</a:t>
            </a:r>
            <a:r>
              <a:rPr lang="ko-KR" altLang="en-US" sz="1200">
                <a:latin typeface="+mj-ea"/>
                <a:ea typeface="+mj-ea"/>
              </a:rPr>
              <a:t>를 선택하고 </a:t>
            </a:r>
            <a:r>
              <a:rPr lang="en-US" altLang="ko-KR" sz="1200">
                <a:latin typeface="+mj-ea"/>
                <a:ea typeface="+mj-ea"/>
              </a:rPr>
              <a:t>Next</a:t>
            </a:r>
            <a:r>
              <a:rPr lang="ko-KR" altLang="en-US" sz="1200">
                <a:latin typeface="+mj-ea"/>
                <a:ea typeface="+mj-ea"/>
              </a:rPr>
              <a:t>를 클릭합니다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6" name="그림 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2222666" y="1747990"/>
            <a:ext cx="4027543" cy="37600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직사각형 3"/>
          <p:cNvSpPr/>
          <p:nvPr/>
        </p:nvSpPr>
        <p:spPr>
          <a:xfrm>
            <a:off x="2355574" y="2733261"/>
            <a:ext cx="1033669" cy="208722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64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19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 스프링 의존성 주입과 제어 역전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19.2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의존성 주입 실습하기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5617" y="1480930"/>
            <a:ext cx="70094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2. </a:t>
            </a:r>
            <a:r>
              <a:rPr lang="ko-KR" altLang="en-US" sz="1200">
                <a:latin typeface="+mj-ea"/>
                <a:ea typeface="+mj-ea"/>
              </a:rPr>
              <a:t>프로젝트 이름으로 </a:t>
            </a:r>
            <a:r>
              <a:rPr lang="en-US" altLang="ko-KR" sz="1200">
                <a:latin typeface="+mj-ea"/>
                <a:ea typeface="+mj-ea"/>
              </a:rPr>
              <a:t>pro19</a:t>
            </a:r>
            <a:r>
              <a:rPr lang="ko-KR" altLang="en-US" sz="1200">
                <a:latin typeface="+mj-ea"/>
                <a:ea typeface="+mj-ea"/>
              </a:rPr>
              <a:t>를 입력하고 </a:t>
            </a:r>
            <a:r>
              <a:rPr lang="en-US" altLang="ko-KR" sz="1200">
                <a:latin typeface="+mj-ea"/>
                <a:ea typeface="+mj-ea"/>
              </a:rPr>
              <a:t>Finish</a:t>
            </a:r>
            <a:r>
              <a:rPr lang="ko-KR" altLang="en-US" sz="1200">
                <a:latin typeface="+mj-ea"/>
                <a:ea typeface="+mj-ea"/>
              </a:rPr>
              <a:t>를 클릭합니다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6" name="그림 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2075497" y="1757929"/>
            <a:ext cx="3887982" cy="478581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직사각형 3"/>
          <p:cNvSpPr/>
          <p:nvPr/>
        </p:nvSpPr>
        <p:spPr>
          <a:xfrm>
            <a:off x="2792896" y="2335696"/>
            <a:ext cx="477078" cy="218661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64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19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 스프링 의존성 주입과 제어 역전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19.2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의존성 주입 실습하기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36104" y="1451113"/>
            <a:ext cx="7643191" cy="4519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3. </a:t>
            </a:r>
            <a:r>
              <a:rPr lang="ko-KR" altLang="en-US" sz="1200">
                <a:latin typeface="+mj-ea"/>
                <a:ea typeface="+mj-ea"/>
              </a:rPr>
              <a:t>이클립스에서 자바 프로젝트를 생성합니다</a:t>
            </a:r>
            <a:r>
              <a:rPr lang="en-US" altLang="ko-KR" sz="1200">
                <a:latin typeface="+mj-ea"/>
                <a:ea typeface="+mj-ea"/>
              </a:rPr>
              <a:t>. </a:t>
            </a:r>
            <a:r>
              <a:rPr lang="ko-KR" altLang="en-US" sz="1200">
                <a:latin typeface="+mj-ea"/>
                <a:ea typeface="+mj-ea"/>
              </a:rPr>
              <a:t>자바 프로젝트 생성 시 이클립스의 </a:t>
            </a:r>
            <a:r>
              <a:rPr lang="en-US" altLang="ko-KR" sz="1200">
                <a:latin typeface="+mj-ea"/>
                <a:ea typeface="+mj-ea"/>
              </a:rPr>
              <a:t>Perspective</a:t>
            </a:r>
            <a:r>
              <a:rPr lang="ko-KR" altLang="en-US" sz="1200">
                <a:latin typeface="+mj-ea"/>
                <a:ea typeface="+mj-ea"/>
              </a:rPr>
              <a:t>를 자바 모드로</a:t>
            </a:r>
            <a:endParaRPr lang="ko-KR" altLang="en-US" sz="1200">
              <a:latin typeface="+mj-ea"/>
              <a:ea typeface="+mj-ea"/>
            </a:endParaRPr>
          </a:p>
          <a:p>
            <a:pPr lvl="0"/>
            <a:r>
              <a:rPr lang="ko-KR" altLang="en-US" sz="1200">
                <a:latin typeface="+mj-ea"/>
                <a:ea typeface="+mj-ea"/>
              </a:rPr>
              <a:t>   변경할지 물으면 </a:t>
            </a:r>
            <a:r>
              <a:rPr lang="en-US" altLang="ko-KR" sz="1200">
                <a:latin typeface="+mj-ea"/>
                <a:ea typeface="+mj-ea"/>
              </a:rPr>
              <a:t>Remember my decision </a:t>
            </a:r>
            <a:r>
              <a:rPr lang="ko-KR" altLang="en-US" sz="1200">
                <a:latin typeface="+mj-ea"/>
                <a:ea typeface="+mj-ea"/>
              </a:rPr>
              <a:t>체크박스에 체크하고 </a:t>
            </a:r>
            <a:r>
              <a:rPr lang="en-US" altLang="ko-KR" sz="1200">
                <a:latin typeface="+mj-ea"/>
                <a:ea typeface="+mj-ea"/>
              </a:rPr>
              <a:t>Open Perspective</a:t>
            </a:r>
            <a:r>
              <a:rPr lang="ko-KR" altLang="en-US" sz="1200">
                <a:latin typeface="+mj-ea"/>
                <a:ea typeface="+mj-ea"/>
              </a:rPr>
              <a:t>를 클릭합니다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55374" y="4313582"/>
            <a:ext cx="7404652" cy="266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4. </a:t>
            </a:r>
            <a:r>
              <a:rPr lang="en-US" altLang="ko-KR" sz="1200">
                <a:latin typeface="+mj-ea"/>
                <a:ea typeface="+mj-ea"/>
              </a:rPr>
              <a:t>Project Explorer</a:t>
            </a:r>
            <a:r>
              <a:rPr lang="ko-KR" altLang="en-US" sz="1200">
                <a:latin typeface="+mj-ea"/>
                <a:ea typeface="+mj-ea"/>
              </a:rPr>
              <a:t>에서 자바 프로젝트가 생성된 것을 확인할 수 있습니다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8" name="그림 7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1697107" y="1912778"/>
            <a:ext cx="4914900" cy="18383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직사각형 3"/>
          <p:cNvSpPr/>
          <p:nvPr/>
        </p:nvSpPr>
        <p:spPr>
          <a:xfrm>
            <a:off x="4457700" y="3389243"/>
            <a:ext cx="1014619" cy="198783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/>
          </a:p>
        </p:txBody>
      </p:sp>
      <p:pic>
        <p:nvPicPr>
          <p:cNvPr id="10" name="그림 9"/>
          <p:cNvPicPr/>
          <p:nvPr/>
        </p:nvPicPr>
        <p:blipFill rotWithShape="1">
          <a:blip r:embed="rId3">
            <a:alphaModFix/>
            <a:lum/>
          </a:blip>
          <a:stretch>
            <a:fillRect/>
          </a:stretch>
        </p:blipFill>
        <p:spPr>
          <a:xfrm>
            <a:off x="1697107" y="4779424"/>
            <a:ext cx="2155190" cy="143065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19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19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 스프링 의존성 주입과 제어 역전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19.2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의존성 주입 실습하기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586409" y="1417480"/>
            <a:ext cx="73549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5. </a:t>
            </a:r>
            <a:r>
              <a:rPr lang="ko-KR" altLang="en-US" sz="1200">
                <a:latin typeface="+mj-ea"/>
                <a:ea typeface="+mj-ea"/>
              </a:rPr>
              <a:t>프로젝트 </a:t>
            </a:r>
            <a:r>
              <a:rPr lang="en-US" altLang="ko-KR" sz="1200">
                <a:latin typeface="+mj-ea"/>
                <a:ea typeface="+mj-ea"/>
              </a:rPr>
              <a:t>pro19 </a:t>
            </a:r>
            <a:r>
              <a:rPr lang="ko-KR" altLang="en-US" sz="1200">
                <a:latin typeface="+mj-ea"/>
                <a:ea typeface="+mj-ea"/>
              </a:rPr>
              <a:t>아래 새 폴더 </a:t>
            </a:r>
            <a:r>
              <a:rPr lang="en-US" altLang="ko-KR" sz="1200">
                <a:latin typeface="+mj-ea"/>
                <a:ea typeface="+mj-ea"/>
              </a:rPr>
              <a:t>lib</a:t>
            </a:r>
            <a:r>
              <a:rPr lang="ko-KR" altLang="en-US" sz="1200">
                <a:latin typeface="+mj-ea"/>
                <a:ea typeface="+mj-ea"/>
              </a:rPr>
              <a:t>를 만든 후 이 책에서 제공하는 예제 소스에서 스프링 </a:t>
            </a:r>
            <a:r>
              <a:rPr lang="en-US" altLang="ko-KR" sz="1200">
                <a:latin typeface="+mj-ea"/>
                <a:ea typeface="+mj-ea"/>
              </a:rPr>
              <a:t>DI </a:t>
            </a:r>
            <a:r>
              <a:rPr lang="ko-KR" altLang="en-US" sz="1200">
                <a:latin typeface="+mj-ea"/>
                <a:ea typeface="+mj-ea"/>
              </a:rPr>
              <a:t>관련</a:t>
            </a:r>
            <a:endParaRPr lang="ko-KR" altLang="en-US" sz="1200">
              <a:latin typeface="+mj-ea"/>
              <a:ea typeface="+mj-ea"/>
            </a:endParaRPr>
          </a:p>
          <a:p>
            <a:pPr lvl="0"/>
            <a:r>
              <a:rPr lang="en-US" altLang="ko-KR" sz="1200">
                <a:latin typeface="+mj-ea"/>
                <a:ea typeface="+mj-ea"/>
              </a:rPr>
              <a:t>  </a:t>
            </a:r>
            <a:r>
              <a:rPr lang="ko-KR" altLang="en-US" sz="1200">
                <a:latin typeface="+mj-ea"/>
                <a:ea typeface="+mj-ea"/>
              </a:rPr>
              <a:t> 라이브러리를 복사해 붙여 넣습니다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3165" y="3657600"/>
            <a:ext cx="76034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6. </a:t>
            </a:r>
            <a:r>
              <a:rPr lang="en-US" altLang="ko-KR" sz="1200">
                <a:latin typeface="+mj-ea"/>
                <a:ea typeface="+mj-ea"/>
              </a:rPr>
              <a:t>pro19</a:t>
            </a:r>
            <a:r>
              <a:rPr lang="ko-KR" altLang="en-US" sz="1200">
                <a:latin typeface="+mj-ea"/>
                <a:ea typeface="+mj-ea"/>
              </a:rPr>
              <a:t>를 선택하고 마우스 오른쪽 버튼을 클릭한 후 </a:t>
            </a:r>
            <a:r>
              <a:rPr lang="en-US" altLang="ko-KR" sz="1200">
                <a:latin typeface="+mj-ea"/>
                <a:ea typeface="+mj-ea"/>
              </a:rPr>
              <a:t>Build Path &gt; Configure Build Path...</a:t>
            </a:r>
            <a:r>
              <a:rPr lang="ko-KR" altLang="en-US" sz="1200">
                <a:latin typeface="+mj-ea"/>
                <a:ea typeface="+mj-ea"/>
              </a:rPr>
              <a:t>를 선택합니다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8" name="그림 7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2329692" y="2017932"/>
            <a:ext cx="2155190" cy="143065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직사각형 2"/>
          <p:cNvSpPr/>
          <p:nvPr/>
        </p:nvSpPr>
        <p:spPr>
          <a:xfrm>
            <a:off x="2733261" y="2623930"/>
            <a:ext cx="1272209" cy="824657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/>
          </a:p>
        </p:txBody>
      </p:sp>
      <p:pic>
        <p:nvPicPr>
          <p:cNvPr id="10" name="그림 9"/>
          <p:cNvPicPr/>
          <p:nvPr/>
        </p:nvPicPr>
        <p:blipFill rotWithShape="1">
          <a:blip r:embed="rId3">
            <a:alphaModFix/>
            <a:lum/>
          </a:blip>
          <a:stretch>
            <a:fillRect/>
          </a:stretch>
        </p:blipFill>
        <p:spPr>
          <a:xfrm>
            <a:off x="1524856" y="4108699"/>
            <a:ext cx="5160010" cy="221869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직사각형 5"/>
          <p:cNvSpPr/>
          <p:nvPr/>
        </p:nvSpPr>
        <p:spPr>
          <a:xfrm>
            <a:off x="2236304" y="4671391"/>
            <a:ext cx="675861" cy="198783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5029199" y="5724939"/>
            <a:ext cx="1282149" cy="198783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19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19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 스프링 의존성 주입과 제어 역전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19.2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의존성 주입 실습하기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4511" y="1480930"/>
            <a:ext cx="76151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7. </a:t>
            </a:r>
            <a:r>
              <a:rPr lang="en-US" altLang="ko-KR" sz="1200">
                <a:latin typeface="+mj-ea"/>
                <a:ea typeface="+mj-ea"/>
              </a:rPr>
              <a:t>Libraries </a:t>
            </a:r>
            <a:r>
              <a:rPr lang="ko-KR" altLang="en-US" sz="1200">
                <a:latin typeface="+mj-ea"/>
                <a:ea typeface="+mj-ea"/>
              </a:rPr>
              <a:t>탭에서 </a:t>
            </a:r>
            <a:r>
              <a:rPr lang="en-US" altLang="ko-KR" sz="1200">
                <a:latin typeface="+mj-ea"/>
                <a:ea typeface="+mj-ea"/>
              </a:rPr>
              <a:t>Classpath</a:t>
            </a:r>
            <a:r>
              <a:rPr lang="ko-KR" altLang="en-US" sz="1200">
                <a:latin typeface="+mj-ea"/>
                <a:ea typeface="+mj-ea"/>
              </a:rPr>
              <a:t>를 선택하고 </a:t>
            </a:r>
            <a:r>
              <a:rPr lang="en-US" altLang="ko-KR" sz="1200">
                <a:latin typeface="+mj-ea"/>
                <a:ea typeface="+mj-ea"/>
              </a:rPr>
              <a:t>Add JARs...</a:t>
            </a:r>
            <a:r>
              <a:rPr lang="ko-KR" altLang="en-US" sz="1200">
                <a:latin typeface="+mj-ea"/>
                <a:ea typeface="+mj-ea"/>
              </a:rPr>
              <a:t>를 클릭합니다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6" name="그림 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1453574" y="1876106"/>
            <a:ext cx="5452345" cy="385877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직사각형 3"/>
          <p:cNvSpPr/>
          <p:nvPr/>
        </p:nvSpPr>
        <p:spPr>
          <a:xfrm>
            <a:off x="3120887" y="2673626"/>
            <a:ext cx="715617" cy="218661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4054277" y="2186609"/>
            <a:ext cx="715617" cy="218661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5763807" y="2564295"/>
            <a:ext cx="715617" cy="218661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19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19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 스프링 의존성 주입과 제어 역전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19.2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의존성 주입 실습하기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36104" y="1470990"/>
            <a:ext cx="75537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8. </a:t>
            </a:r>
            <a:r>
              <a:rPr lang="ko-KR" altLang="en-US" sz="1200">
                <a:latin typeface="+mj-ea"/>
                <a:ea typeface="+mj-ea"/>
              </a:rPr>
              <a:t>앞에서 미리 만든 </a:t>
            </a:r>
            <a:r>
              <a:rPr lang="en-US" altLang="ko-KR" sz="1200">
                <a:latin typeface="+mj-ea"/>
                <a:ea typeface="+mj-ea"/>
              </a:rPr>
              <a:t>lib </a:t>
            </a:r>
            <a:r>
              <a:rPr lang="ko-KR" altLang="en-US" sz="1200">
                <a:latin typeface="+mj-ea"/>
                <a:ea typeface="+mj-ea"/>
              </a:rPr>
              <a:t>폴더의 라이브러리들을 모두 선택한 후 </a:t>
            </a:r>
            <a:r>
              <a:rPr lang="en-US" altLang="ko-KR" sz="1200">
                <a:latin typeface="+mj-ea"/>
                <a:ea typeface="+mj-ea"/>
              </a:rPr>
              <a:t>OK</a:t>
            </a:r>
            <a:r>
              <a:rPr lang="ko-KR" altLang="en-US" sz="1200">
                <a:latin typeface="+mj-ea"/>
                <a:ea typeface="+mj-ea"/>
              </a:rPr>
              <a:t>를 클릭합니다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6" name="그림 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2174584" y="1832802"/>
            <a:ext cx="3689503" cy="411079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직사각형 3"/>
          <p:cNvSpPr/>
          <p:nvPr/>
        </p:nvSpPr>
        <p:spPr>
          <a:xfrm>
            <a:off x="2633870" y="4065104"/>
            <a:ext cx="1639956" cy="844826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19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19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 스프링 의존성 주입과 제어 역전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19.2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의존성 주입 실습하기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6348" y="1510748"/>
            <a:ext cx="75835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9. </a:t>
            </a:r>
            <a:r>
              <a:rPr lang="en-US" altLang="ko-KR" sz="1200">
                <a:latin typeface="+mj-ea"/>
                <a:ea typeface="+mj-ea"/>
              </a:rPr>
              <a:t>Apply and Close</a:t>
            </a:r>
            <a:r>
              <a:rPr lang="ko-KR" altLang="en-US" sz="1200">
                <a:latin typeface="+mj-ea"/>
                <a:ea typeface="+mj-ea"/>
              </a:rPr>
              <a:t>를 클릭하여 이 내용을 적용합니다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6" name="그림 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1253737" y="1787747"/>
            <a:ext cx="5882557" cy="406286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직사각형 3"/>
          <p:cNvSpPr/>
          <p:nvPr/>
        </p:nvSpPr>
        <p:spPr>
          <a:xfrm>
            <a:off x="5367130" y="5565913"/>
            <a:ext cx="805070" cy="16896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19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19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 스프링 의존성 주입과 제어 역전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19.2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의존성 주입 실습하기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75861" y="1490870"/>
            <a:ext cx="72953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10. </a:t>
            </a:r>
            <a:r>
              <a:rPr lang="en-US" altLang="ko-KR" sz="1200">
                <a:latin typeface="+mj-ea"/>
                <a:ea typeface="+mj-ea"/>
              </a:rPr>
              <a:t>Project Explorer</a:t>
            </a:r>
            <a:r>
              <a:rPr lang="ko-KR" altLang="en-US" sz="1200">
                <a:latin typeface="+mj-ea"/>
                <a:ea typeface="+mj-ea"/>
              </a:rPr>
              <a:t>의 </a:t>
            </a:r>
            <a:r>
              <a:rPr lang="en-US" altLang="ko-KR" sz="1200">
                <a:latin typeface="+mj-ea"/>
                <a:ea typeface="+mj-ea"/>
              </a:rPr>
              <a:t>Referenced Libraries</a:t>
            </a:r>
            <a:r>
              <a:rPr lang="ko-KR" altLang="en-US" sz="1200">
                <a:latin typeface="+mj-ea"/>
                <a:ea typeface="+mj-ea"/>
              </a:rPr>
              <a:t>에서 </a:t>
            </a:r>
            <a:r>
              <a:rPr lang="en-US" altLang="ko-KR" sz="1200">
                <a:latin typeface="+mj-ea"/>
                <a:ea typeface="+mj-ea"/>
              </a:rPr>
              <a:t>jar </a:t>
            </a:r>
            <a:r>
              <a:rPr lang="ko-KR" altLang="en-US" sz="1200">
                <a:latin typeface="+mj-ea"/>
                <a:ea typeface="+mj-ea"/>
              </a:rPr>
              <a:t>파일들을 확인할 수 있습니다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6" name="그림 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2665430" y="1906656"/>
            <a:ext cx="2219325" cy="17526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직사각형 3"/>
          <p:cNvSpPr/>
          <p:nvPr/>
        </p:nvSpPr>
        <p:spPr>
          <a:xfrm>
            <a:off x="3079354" y="2604052"/>
            <a:ext cx="1530626" cy="85476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19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19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 스프링 의존성 주입과 제어 역전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19.2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의존성 주입 실습하기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6409" y="1580322"/>
            <a:ext cx="8001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11. </a:t>
            </a:r>
            <a:r>
              <a:rPr lang="ko-KR" altLang="en-US" sz="1200">
                <a:latin typeface="+mj-ea"/>
                <a:ea typeface="+mj-ea"/>
              </a:rPr>
              <a:t>이제 </a:t>
            </a:r>
            <a:r>
              <a:rPr lang="en-US" altLang="ko-KR" sz="1200">
                <a:latin typeface="+mj-ea"/>
                <a:ea typeface="+mj-ea"/>
              </a:rPr>
              <a:t>DI </a:t>
            </a:r>
            <a:r>
              <a:rPr lang="ko-KR" altLang="en-US" sz="1200">
                <a:latin typeface="+mj-ea"/>
                <a:ea typeface="+mj-ea"/>
              </a:rPr>
              <a:t>설정을 할 차례입니다</a:t>
            </a:r>
            <a:r>
              <a:rPr lang="en-US" altLang="ko-KR" sz="1200">
                <a:latin typeface="+mj-ea"/>
                <a:ea typeface="+mj-ea"/>
              </a:rPr>
              <a:t>. </a:t>
            </a:r>
            <a:r>
              <a:rPr lang="ko-KR" altLang="en-US" sz="1200">
                <a:latin typeface="+mj-ea"/>
                <a:ea typeface="+mj-ea"/>
              </a:rPr>
              <a:t>스프링에서 </a:t>
            </a:r>
            <a:r>
              <a:rPr lang="en-US" altLang="ko-KR" sz="1200">
                <a:latin typeface="+mj-ea"/>
                <a:ea typeface="+mj-ea"/>
              </a:rPr>
              <a:t>DI </a:t>
            </a:r>
            <a:r>
              <a:rPr lang="ko-KR" altLang="en-US" sz="1200">
                <a:latin typeface="+mj-ea"/>
                <a:ea typeface="+mj-ea"/>
              </a:rPr>
              <a:t>설정은 </a:t>
            </a:r>
            <a:r>
              <a:rPr lang="en-US" altLang="ko-KR" sz="1200">
                <a:latin typeface="+mj-ea"/>
                <a:ea typeface="+mj-ea"/>
              </a:rPr>
              <a:t>XML </a:t>
            </a:r>
            <a:r>
              <a:rPr lang="ko-KR" altLang="en-US" sz="1200">
                <a:latin typeface="+mj-ea"/>
                <a:ea typeface="+mj-ea"/>
              </a:rPr>
              <a:t>파일에서 합니다</a:t>
            </a:r>
            <a:r>
              <a:rPr lang="en-US" altLang="ko-KR" sz="1200">
                <a:latin typeface="+mj-ea"/>
                <a:ea typeface="+mj-ea"/>
              </a:rPr>
              <a:t>. </a:t>
            </a:r>
            <a:r>
              <a:rPr lang="ko-KR" altLang="en-US" sz="1200">
                <a:latin typeface="+mj-ea"/>
                <a:ea typeface="+mj-ea"/>
              </a:rPr>
              <a:t>따라서 빈을 설정하는 </a:t>
            </a:r>
            <a:r>
              <a:rPr lang="en-US" altLang="ko-KR" sz="1200">
                <a:latin typeface="+mj-ea"/>
                <a:ea typeface="+mj-ea"/>
              </a:rPr>
              <a:t>person.xml</a:t>
            </a:r>
            <a:endParaRPr lang="en-US" altLang="ko-KR" sz="1200">
              <a:latin typeface="+mj-ea"/>
              <a:ea typeface="+mj-ea"/>
            </a:endParaRPr>
          </a:p>
          <a:p>
            <a:pPr lvl="0"/>
            <a:r>
              <a:rPr lang="en-US" altLang="ko-KR" sz="1200">
                <a:latin typeface="+mj-ea"/>
                <a:ea typeface="+mj-ea"/>
              </a:rPr>
              <a:t>    </a:t>
            </a:r>
            <a:r>
              <a:rPr lang="ko-KR" altLang="en-US" sz="1200">
                <a:latin typeface="+mj-ea"/>
                <a:ea typeface="+mj-ea"/>
              </a:rPr>
              <a:t>파일을 생성해야 합니다</a:t>
            </a:r>
            <a:r>
              <a:rPr lang="en-US" altLang="ko-KR" sz="1200">
                <a:latin typeface="+mj-ea"/>
                <a:ea typeface="+mj-ea"/>
              </a:rPr>
              <a:t>. pro19 </a:t>
            </a:r>
            <a:r>
              <a:rPr lang="ko-KR" altLang="en-US" sz="1200">
                <a:latin typeface="+mj-ea"/>
                <a:ea typeface="+mj-ea"/>
              </a:rPr>
              <a:t>위에서 마우스 오른쪽 버튼을 클릭한 후 </a:t>
            </a:r>
            <a:r>
              <a:rPr lang="en-US" altLang="ko-KR" sz="1200">
                <a:latin typeface="+mj-ea"/>
                <a:ea typeface="+mj-ea"/>
              </a:rPr>
              <a:t>New &gt; Other...</a:t>
            </a:r>
            <a:r>
              <a:rPr lang="ko-KR" altLang="en-US" sz="1200">
                <a:latin typeface="+mj-ea"/>
                <a:ea typeface="+mj-ea"/>
              </a:rPr>
              <a:t>를 선택하고 선택창에서</a:t>
            </a:r>
            <a:endParaRPr lang="ko-KR" altLang="en-US" sz="1200">
              <a:latin typeface="+mj-ea"/>
              <a:ea typeface="+mj-ea"/>
            </a:endParaRPr>
          </a:p>
          <a:p>
            <a:pPr lvl="0"/>
            <a:r>
              <a:rPr lang="en-US" altLang="ko-KR" sz="1200">
                <a:latin typeface="+mj-ea"/>
                <a:ea typeface="+mj-ea"/>
              </a:rPr>
              <a:t>   </a:t>
            </a:r>
            <a:r>
              <a:rPr lang="ko-KR" altLang="en-US" sz="1200">
                <a:latin typeface="+mj-ea"/>
                <a:ea typeface="+mj-ea"/>
              </a:rPr>
              <a:t> </a:t>
            </a:r>
            <a:r>
              <a:rPr lang="en-US" altLang="ko-KR" sz="1200">
                <a:latin typeface="+mj-ea"/>
                <a:ea typeface="+mj-ea"/>
              </a:rPr>
              <a:t>XML &gt; XML File</a:t>
            </a:r>
            <a:r>
              <a:rPr lang="ko-KR" altLang="en-US" sz="1200">
                <a:latin typeface="+mj-ea"/>
                <a:ea typeface="+mj-ea"/>
              </a:rPr>
              <a:t>을 선택하고 </a:t>
            </a:r>
            <a:r>
              <a:rPr lang="en-US" altLang="ko-KR" sz="1200">
                <a:latin typeface="+mj-ea"/>
                <a:ea typeface="+mj-ea"/>
              </a:rPr>
              <a:t>Next</a:t>
            </a:r>
            <a:r>
              <a:rPr lang="ko-KR" altLang="en-US" sz="1200">
                <a:latin typeface="+mj-ea"/>
                <a:ea typeface="+mj-ea"/>
              </a:rPr>
              <a:t>를 클릭합니다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6" name="그림 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2222568" y="2335240"/>
            <a:ext cx="4327319" cy="403574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직사각형 3"/>
          <p:cNvSpPr/>
          <p:nvPr/>
        </p:nvSpPr>
        <p:spPr>
          <a:xfrm>
            <a:off x="2574235" y="4840357"/>
            <a:ext cx="715617" cy="16896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19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19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 스프링 의존성 주입과 제어 역전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19.2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의존성 주입 실습하기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25557" y="1490870"/>
            <a:ext cx="73549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12. </a:t>
            </a:r>
            <a:r>
              <a:rPr lang="ko-KR" altLang="en-US" sz="1200">
                <a:latin typeface="+mj-ea"/>
                <a:ea typeface="+mj-ea"/>
              </a:rPr>
              <a:t>파일 이름으로 </a:t>
            </a:r>
            <a:r>
              <a:rPr lang="en-US" altLang="ko-KR" sz="1200">
                <a:latin typeface="+mj-ea"/>
                <a:ea typeface="+mj-ea"/>
              </a:rPr>
              <a:t>person.xml</a:t>
            </a:r>
            <a:r>
              <a:rPr lang="ko-KR" altLang="en-US" sz="1200">
                <a:latin typeface="+mj-ea"/>
                <a:ea typeface="+mj-ea"/>
              </a:rPr>
              <a:t>을 입력하고 </a:t>
            </a:r>
            <a:r>
              <a:rPr lang="en-US" altLang="ko-KR" sz="1200">
                <a:latin typeface="+mj-ea"/>
                <a:ea typeface="+mj-ea"/>
              </a:rPr>
              <a:t>Finish</a:t>
            </a:r>
            <a:r>
              <a:rPr lang="ko-KR" altLang="en-US" sz="1200">
                <a:latin typeface="+mj-ea"/>
                <a:ea typeface="+mj-ea"/>
              </a:rPr>
              <a:t>를 클릭합니다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6" name="그림 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2147362" y="1767869"/>
            <a:ext cx="4024838" cy="440081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직사각형 3"/>
          <p:cNvSpPr/>
          <p:nvPr/>
        </p:nvSpPr>
        <p:spPr>
          <a:xfrm>
            <a:off x="2693504" y="4870174"/>
            <a:ext cx="566531" cy="159026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2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19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19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 스프링 의존성 주입과 제어 역전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19.2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의존성 주입 실습하기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5119" y="1470991"/>
            <a:ext cx="76151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13. </a:t>
            </a:r>
            <a:r>
              <a:rPr lang="ko-KR" altLang="en-US" sz="1200">
                <a:latin typeface="+mj-ea"/>
                <a:ea typeface="+mj-ea"/>
              </a:rPr>
              <a:t>프로젝트 이름 하위에 </a:t>
            </a:r>
            <a:r>
              <a:rPr lang="en-US" altLang="ko-KR" sz="1200">
                <a:latin typeface="+mj-ea"/>
                <a:ea typeface="+mj-ea"/>
              </a:rPr>
              <a:t>person.xml</a:t>
            </a:r>
            <a:r>
              <a:rPr lang="ko-KR" altLang="en-US" sz="1200">
                <a:latin typeface="+mj-ea"/>
                <a:ea typeface="+mj-ea"/>
              </a:rPr>
              <a:t>이 생성된 것을 확인할 수 있습니다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731441" y="4068872"/>
            <a:ext cx="317106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&lt;bean&gt; </a:t>
            </a:r>
            <a:r>
              <a:rPr lang="ko-KR" altLang="en-US" sz="1200" b="1">
                <a:latin typeface="+mj-ea"/>
                <a:ea typeface="+mj-ea"/>
              </a:rPr>
              <a:t>태그에 사용되는 여러 가지 속성들</a:t>
            </a:r>
            <a:endParaRPr lang="ko-KR" altLang="en-US" sz="1200" b="1">
              <a:latin typeface="+mj-ea"/>
              <a:ea typeface="+mj-ea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762412" y="4345871"/>
          <a:ext cx="7964145" cy="2164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3831"/>
                <a:gridCol w="6480314"/>
              </a:tblGrid>
              <a:tr h="236068">
                <a:tc>
                  <a:txBody>
                    <a:bodyPr/>
                    <a:p>
                      <a:pPr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속성 이름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설명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10889">
                <a:tc>
                  <a:txBody>
                    <a:bodyPr/>
                    <a:p>
                      <a:pPr latinLnBrk="1"/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id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p>
                      <a:pPr latinLnBrk="1"/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빈 객체의 고유 이름으로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, 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빈 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id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를 이용해 빈에 접근합니다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.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15527">
                <a:tc>
                  <a:txBody>
                    <a:bodyPr/>
                    <a:p>
                      <a:pPr latinLnBrk="1"/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name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p>
                      <a:pPr latinLnBrk="1"/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객체의 별칭입니다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.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170470">
                <a:tc>
                  <a:txBody>
                    <a:bodyPr/>
                    <a:p>
                      <a:pPr latinLnBrk="1"/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class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p>
                      <a:pPr latinLnBrk="1"/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생성할 클래스입니다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. 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패키지 이름까지 입력해야 합니다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.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194986">
                <a:tc>
                  <a:txBody>
                    <a:bodyPr/>
                    <a:p>
                      <a:pPr latinLnBrk="1"/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constructor-arg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p>
                      <a:pPr latinLnBrk="1"/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생성자를 이용해 값을 주입할 때 사용합니다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.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159868">
                <a:tc>
                  <a:txBody>
                    <a:bodyPr/>
                    <a:p>
                      <a:pPr latinLnBrk="1"/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property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setter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를 이용해 값을 주입할 때 사용합니다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.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159868">
                <a:tc>
                  <a:txBody>
                    <a:bodyPr/>
                    <a:p>
                      <a:pPr latinLnBrk="1"/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lazy-init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latinLnBrk="1"/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-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빈 생성을 톰캣 실행 시점이 아닌 해당 빈 요청 시  메모리에 생성할 수 있습니다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  <a:p>
                      <a:pPr latinLnBrk="1"/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-true, false, default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세가지 값을 지정할 수 있습니다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  <a:p>
                      <a:pPr latinLnBrk="1"/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-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설정하지 않거나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false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로 설정 시 톰캣 실행 시 빈이 생성됩니다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  <a:p>
                      <a:pPr latinLnBrk="1"/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-true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로 설정 시 해당 빈 사용 시 빈이 생성됩니다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.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  <p:pic>
        <p:nvPicPr>
          <p:cNvPr id="8" name="그림 7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2840464" y="1747990"/>
            <a:ext cx="2124075" cy="19240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19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19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 스프링 의존성 주입과 제어 역전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19.2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의존성 주입 실습하기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25557" y="1500809"/>
            <a:ext cx="69076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14. </a:t>
            </a:r>
            <a:r>
              <a:rPr lang="ko-KR" altLang="en-US" sz="1200">
                <a:latin typeface="+mj-ea"/>
                <a:ea typeface="+mj-ea"/>
              </a:rPr>
              <a:t>다음과 같이 </a:t>
            </a:r>
            <a:r>
              <a:rPr lang="en-US" altLang="ko-KR" sz="1200">
                <a:latin typeface="+mj-ea"/>
                <a:ea typeface="+mj-ea"/>
              </a:rPr>
              <a:t>person.xml</a:t>
            </a:r>
            <a:r>
              <a:rPr lang="ko-KR" altLang="en-US" sz="1200">
                <a:latin typeface="+mj-ea"/>
                <a:ea typeface="+mj-ea"/>
              </a:rPr>
              <a:t>을 작성합니다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586409" y="1777808"/>
            <a:ext cx="7537380" cy="323648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직선 연결선 5"/>
          <p:cNvCxnSpPr/>
          <p:nvPr/>
        </p:nvCxnSpPr>
        <p:spPr>
          <a:xfrm>
            <a:off x="4179404" y="4430605"/>
            <a:ext cx="119269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19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19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 스프링 의존성 주입과 제어 역전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19.2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의존성 주입 실습하기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6348" y="1451113"/>
            <a:ext cx="75636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15. </a:t>
            </a:r>
            <a:r>
              <a:rPr lang="ko-KR" altLang="en-US" sz="1200">
                <a:latin typeface="+mj-ea"/>
                <a:ea typeface="+mj-ea"/>
              </a:rPr>
              <a:t>이번에는 실습 관련 클래스를 구현할 차례입니다</a:t>
            </a:r>
            <a:r>
              <a:rPr lang="en-US" altLang="ko-KR" sz="1200">
                <a:latin typeface="+mj-ea"/>
                <a:ea typeface="+mj-ea"/>
              </a:rPr>
              <a:t>. com.spring.ex01 </a:t>
            </a:r>
            <a:r>
              <a:rPr lang="ko-KR" altLang="en-US" sz="1200">
                <a:latin typeface="+mj-ea"/>
                <a:ea typeface="+mj-ea"/>
              </a:rPr>
              <a:t>패키지를 만들고 클래스 파일을</a:t>
            </a:r>
            <a:endParaRPr lang="ko-KR" altLang="en-US" sz="1200">
              <a:latin typeface="+mj-ea"/>
              <a:ea typeface="+mj-ea"/>
            </a:endParaRPr>
          </a:p>
          <a:p>
            <a:pPr lvl="0"/>
            <a:r>
              <a:rPr lang="en-US" altLang="ko-KR" sz="1200">
                <a:latin typeface="+mj-ea"/>
                <a:ea typeface="+mj-ea"/>
              </a:rPr>
              <a:t>   </a:t>
            </a:r>
            <a:r>
              <a:rPr lang="ko-KR" altLang="en-US" sz="1200">
                <a:latin typeface="+mj-ea"/>
                <a:ea typeface="+mj-ea"/>
              </a:rPr>
              <a:t> 생성합니다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6" name="그림 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2874618" y="1993306"/>
            <a:ext cx="2082800" cy="163893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19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19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 스프링 의존성 주입과 제어 역전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19.2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의존성 주입 실습하기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36104" y="1490870"/>
            <a:ext cx="74046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16. </a:t>
            </a:r>
            <a:r>
              <a:rPr lang="en-US" altLang="ko-KR" sz="1200">
                <a:latin typeface="+mj-ea"/>
                <a:ea typeface="+mj-ea"/>
              </a:rPr>
              <a:t>PersonService </a:t>
            </a:r>
            <a:r>
              <a:rPr lang="ko-KR" altLang="en-US" sz="1200">
                <a:latin typeface="+mj-ea"/>
                <a:ea typeface="+mj-ea"/>
              </a:rPr>
              <a:t>인터페이스를 다음과 같이 작성합니다</a:t>
            </a:r>
            <a:r>
              <a:rPr lang="en-US" altLang="ko-KR" sz="1200">
                <a:latin typeface="+mj-ea"/>
                <a:ea typeface="+mj-ea"/>
              </a:rPr>
              <a:t>. </a:t>
            </a:r>
            <a:r>
              <a:rPr lang="ko-KR" altLang="en-US" sz="1200">
                <a:latin typeface="+mj-ea"/>
                <a:ea typeface="+mj-ea"/>
              </a:rPr>
              <a:t>인터페이스 </a:t>
            </a:r>
            <a:r>
              <a:rPr lang="en-US" altLang="ko-KR" sz="1200">
                <a:latin typeface="+mj-ea"/>
                <a:ea typeface="+mj-ea"/>
              </a:rPr>
              <a:t>PersonService</a:t>
            </a:r>
            <a:r>
              <a:rPr lang="ko-KR" altLang="en-US" sz="1200">
                <a:latin typeface="+mj-ea"/>
                <a:ea typeface="+mj-ea"/>
              </a:rPr>
              <a:t>에 추상 메서드</a:t>
            </a:r>
            <a:endParaRPr lang="ko-KR" altLang="en-US" sz="1200">
              <a:latin typeface="+mj-ea"/>
              <a:ea typeface="+mj-ea"/>
            </a:endParaRPr>
          </a:p>
          <a:p>
            <a:pPr lvl="0"/>
            <a:r>
              <a:rPr lang="en-US" altLang="ko-KR" sz="1200">
                <a:latin typeface="+mj-ea"/>
                <a:ea typeface="+mj-ea"/>
              </a:rPr>
              <a:t>    </a:t>
            </a:r>
            <a:r>
              <a:rPr lang="ko-KR" altLang="en-US" sz="1200">
                <a:latin typeface="+mj-ea"/>
                <a:ea typeface="+mj-ea"/>
              </a:rPr>
              <a:t> </a:t>
            </a:r>
            <a:r>
              <a:rPr lang="en-US" altLang="ko-KR" sz="1200">
                <a:latin typeface="+mj-ea"/>
                <a:ea typeface="+mj-ea"/>
              </a:rPr>
              <a:t>sayHello()</a:t>
            </a:r>
            <a:r>
              <a:rPr lang="ko-KR" altLang="en-US" sz="1200">
                <a:latin typeface="+mj-ea"/>
                <a:ea typeface="+mj-ea"/>
              </a:rPr>
              <a:t>를 선언합니다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1072230" y="2047394"/>
            <a:ext cx="6904888" cy="17002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19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19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 스프링 의존성 주입과 제어 역전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19.2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의존성 주입 실습하기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5982" y="1461052"/>
            <a:ext cx="74543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17. </a:t>
            </a:r>
            <a:r>
              <a:rPr lang="en-US" altLang="ko-KR" sz="1200">
                <a:latin typeface="+mj-ea"/>
                <a:ea typeface="+mj-ea"/>
              </a:rPr>
              <a:t>PersonServiceImpl </a:t>
            </a:r>
            <a:r>
              <a:rPr lang="ko-KR" altLang="en-US" sz="1200">
                <a:latin typeface="+mj-ea"/>
                <a:ea typeface="+mj-ea"/>
              </a:rPr>
              <a:t>클래스를 다음과 같이 작성합니다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grpSp>
        <p:nvGrpSpPr>
          <p:cNvPr id="4" name="그룹 3"/>
          <p:cNvGrpSpPr/>
          <p:nvPr/>
        </p:nvGrpSpPr>
        <p:grpSpPr>
          <a:xfrm rot="0">
            <a:off x="655982" y="1738051"/>
            <a:ext cx="7386339" cy="4757325"/>
            <a:chOff x="376536" y="1595438"/>
            <a:chExt cx="8334077" cy="5964722"/>
          </a:xfrm>
        </p:grpSpPr>
        <p:pic>
          <p:nvPicPr>
            <p:cNvPr id="23554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alphaModFix/>
              <a:lum/>
            </a:blip>
            <a:srcRect/>
            <a:stretch>
              <a:fillRect/>
            </a:stretch>
          </p:blipFill>
          <p:spPr>
            <a:xfrm>
              <a:off x="433388" y="1595438"/>
              <a:ext cx="8277225" cy="3667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555" name="Picture 3"/>
            <p:cNvPicPr>
              <a:picLocks noChangeAspect="1" noChangeArrowheads="1"/>
            </p:cNvPicPr>
            <p:nvPr/>
          </p:nvPicPr>
          <p:blipFill rotWithShape="1">
            <a:blip r:embed="rId3">
              <a:alphaModFix/>
              <a:lum/>
            </a:blip>
            <a:srcRect/>
            <a:stretch>
              <a:fillRect/>
            </a:stretch>
          </p:blipFill>
          <p:spPr>
            <a:xfrm>
              <a:off x="376536" y="5340835"/>
              <a:ext cx="8296275" cy="22193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19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19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 스프링 의존성 주입과 제어 역전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19.2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의존성 주입 실습하기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6286" y="1451113"/>
            <a:ext cx="71187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18. </a:t>
            </a:r>
            <a:r>
              <a:rPr lang="ko-KR" altLang="en-US" sz="1200">
                <a:latin typeface="+mj-ea"/>
                <a:ea typeface="+mj-ea"/>
              </a:rPr>
              <a:t>다음과 같이 실행 클래스인 </a:t>
            </a:r>
            <a:r>
              <a:rPr lang="en-US" altLang="ko-KR" sz="1200">
                <a:latin typeface="+mj-ea"/>
                <a:ea typeface="+mj-ea"/>
              </a:rPr>
              <a:t>PersonTest </a:t>
            </a:r>
            <a:r>
              <a:rPr lang="ko-KR" altLang="en-US" sz="1200">
                <a:latin typeface="+mj-ea"/>
                <a:ea typeface="+mj-ea"/>
              </a:rPr>
              <a:t>클래스를 작성합니다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1022373" y="1799834"/>
            <a:ext cx="7004602" cy="44218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19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19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 스프링 의존성 주입과 제어 역전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19.2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의존성 주입 실습하기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6287" y="1470991"/>
            <a:ext cx="76531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19. </a:t>
            </a:r>
            <a:r>
              <a:rPr lang="en-US" altLang="ko-KR" sz="1200">
                <a:latin typeface="+mj-ea"/>
                <a:ea typeface="+mj-ea"/>
              </a:rPr>
              <a:t>main() </a:t>
            </a:r>
            <a:r>
              <a:rPr lang="ko-KR" altLang="en-US" sz="1200">
                <a:latin typeface="+mj-ea"/>
                <a:ea typeface="+mj-ea"/>
              </a:rPr>
              <a:t>메서드가 있는 실행 클래스</a:t>
            </a:r>
            <a:r>
              <a:rPr lang="en-US" altLang="ko-KR" sz="1200">
                <a:latin typeface="+mj-ea"/>
                <a:ea typeface="+mj-ea"/>
              </a:rPr>
              <a:t>(PersonTest.java)</a:t>
            </a:r>
            <a:r>
              <a:rPr lang="ko-KR" altLang="en-US" sz="1200">
                <a:latin typeface="+mj-ea"/>
                <a:ea typeface="+mj-ea"/>
              </a:rPr>
              <a:t>가 보이는 상태에서 이클립스 상단의 녹색 아이콘을</a:t>
            </a:r>
            <a:endParaRPr lang="ko-KR" altLang="en-US" sz="1200">
              <a:latin typeface="+mj-ea"/>
              <a:ea typeface="+mj-ea"/>
            </a:endParaRPr>
          </a:p>
          <a:p>
            <a:pPr lvl="0"/>
            <a:r>
              <a:rPr lang="en-US" altLang="ko-KR" sz="1200">
                <a:latin typeface="+mj-ea"/>
                <a:ea typeface="+mj-ea"/>
              </a:rPr>
              <a:t>   </a:t>
            </a:r>
            <a:r>
              <a:rPr lang="ko-KR" altLang="en-US" sz="1200">
                <a:latin typeface="+mj-ea"/>
                <a:ea typeface="+mj-ea"/>
              </a:rPr>
              <a:t> 클릭해 자바 프로젝트를 실행합니다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6" name="그림 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1783563" y="2026989"/>
            <a:ext cx="4761865" cy="242633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직사각형 3"/>
          <p:cNvSpPr/>
          <p:nvPr/>
        </p:nvSpPr>
        <p:spPr>
          <a:xfrm>
            <a:off x="3260035" y="2026989"/>
            <a:ext cx="208722" cy="229194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3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19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19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 스프링 의존성 주입과 제어 역전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19.2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의존성 주입 실습하기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5118" y="1490870"/>
            <a:ext cx="81618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20. </a:t>
            </a:r>
            <a:r>
              <a:rPr lang="ko-KR" altLang="en-US" sz="1200">
                <a:latin typeface="+mj-ea"/>
                <a:ea typeface="+mj-ea"/>
              </a:rPr>
              <a:t>콘솔에 </a:t>
            </a:r>
            <a:r>
              <a:rPr lang="en-US" altLang="ko-KR" sz="1200">
                <a:latin typeface="+mj-ea"/>
                <a:ea typeface="+mj-ea"/>
              </a:rPr>
              <a:t>name </a:t>
            </a:r>
            <a:r>
              <a:rPr lang="ko-KR" altLang="en-US" sz="1200">
                <a:latin typeface="+mj-ea"/>
                <a:ea typeface="+mj-ea"/>
              </a:rPr>
              <a:t>속성 값은 </a:t>
            </a:r>
            <a:r>
              <a:rPr lang="en-US" altLang="ko-KR" sz="1200">
                <a:latin typeface="+mj-ea"/>
                <a:ea typeface="+mj-ea"/>
              </a:rPr>
              <a:t>person.xml</a:t>
            </a:r>
            <a:r>
              <a:rPr lang="ko-KR" altLang="en-US" sz="1200">
                <a:latin typeface="+mj-ea"/>
                <a:ea typeface="+mj-ea"/>
              </a:rPr>
              <a:t>에서 </a:t>
            </a:r>
            <a:r>
              <a:rPr lang="en-US" altLang="ko-KR" sz="1200">
                <a:latin typeface="+mj-ea"/>
                <a:ea typeface="+mj-ea"/>
              </a:rPr>
              <a:t>&lt;value&gt; </a:t>
            </a:r>
            <a:r>
              <a:rPr lang="ko-KR" altLang="en-US" sz="1200">
                <a:latin typeface="+mj-ea"/>
                <a:ea typeface="+mj-ea"/>
              </a:rPr>
              <a:t>태그로 설정한 값이 출력되지만 </a:t>
            </a:r>
            <a:r>
              <a:rPr lang="en-US" altLang="ko-KR" sz="1200">
                <a:latin typeface="+mj-ea"/>
                <a:ea typeface="+mj-ea"/>
              </a:rPr>
              <a:t>age </a:t>
            </a:r>
            <a:r>
              <a:rPr lang="ko-KR" altLang="en-US" sz="1200">
                <a:latin typeface="+mj-ea"/>
                <a:ea typeface="+mj-ea"/>
              </a:rPr>
              <a:t>속성 값은 </a:t>
            </a:r>
            <a:r>
              <a:rPr lang="en-US" altLang="ko-KR" sz="1200">
                <a:latin typeface="+mj-ea"/>
                <a:ea typeface="+mj-ea"/>
              </a:rPr>
              <a:t>0</a:t>
            </a:r>
            <a:r>
              <a:rPr lang="ko-KR" altLang="en-US" sz="1200">
                <a:latin typeface="+mj-ea"/>
                <a:ea typeface="+mj-ea"/>
              </a:rPr>
              <a:t>이 출력됩니다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6" name="그림 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2480019" y="1853854"/>
            <a:ext cx="2295525" cy="9239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19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19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 스프링 의존성 주입과 제어 역전 기능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505118" y="1335052"/>
            <a:ext cx="8039113" cy="45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1980247">
              <a:lnSpc>
                <a:spcPct val="150000"/>
              </a:lnSpc>
              <a:spcBef>
                <a:spcPct val="16000"/>
              </a:spcBef>
              <a:buClr>
                <a:srgbClr val="7c68ad"/>
              </a:buClr>
              <a:buFont typeface="Arial"/>
              <a:buChar char="•"/>
            </a:pPr>
            <a:r>
              <a:rPr lang="en-US" altLang="ko-KR" b="1"/>
              <a:t>19.2.2 </a:t>
            </a:r>
            <a:r>
              <a:rPr lang="ko-KR" altLang="en-US" b="1"/>
              <a:t>생성자를 이용한 </a:t>
            </a:r>
            <a:r>
              <a:rPr lang="en-US" altLang="ko-KR" b="1"/>
              <a:t>DI </a:t>
            </a:r>
            <a:r>
              <a:rPr lang="ko-KR" altLang="en-US" b="1"/>
              <a:t>기능</a:t>
            </a:r>
            <a:endParaRPr lang="en-US" altLang="ko-KR" b="1" spc="-94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19.2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의존성 주입 실습하기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8228" y="1921431"/>
            <a:ext cx="76928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1. </a:t>
            </a:r>
            <a:r>
              <a:rPr lang="en-US" altLang="ko-KR" sz="1200">
                <a:latin typeface="+mj-ea"/>
                <a:ea typeface="+mj-ea"/>
              </a:rPr>
              <a:t>com.spring.ex02 </a:t>
            </a:r>
            <a:r>
              <a:rPr lang="ko-KR" altLang="en-US" sz="1200">
                <a:latin typeface="+mj-ea"/>
                <a:ea typeface="+mj-ea"/>
              </a:rPr>
              <a:t>패키지를 만들고 다음과 같이 클래스를 추가합니다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7" name="그림 6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2533944" y="2198430"/>
            <a:ext cx="2343150" cy="19145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19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19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 스프링 의존성 주입과 제어 역전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19.2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의존성 주입 실습하기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75861" y="1412004"/>
            <a:ext cx="72555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2. </a:t>
            </a:r>
            <a:r>
              <a:rPr lang="en-US" altLang="ko-KR" sz="1200">
                <a:latin typeface="+mj-ea"/>
                <a:ea typeface="+mj-ea"/>
              </a:rPr>
              <a:t>person.xml</a:t>
            </a:r>
            <a:r>
              <a:rPr lang="ko-KR" altLang="en-US" sz="1200">
                <a:latin typeface="+mj-ea"/>
                <a:ea typeface="+mj-ea"/>
              </a:rPr>
              <a:t>를 다음과 같이 작성합니다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675861" y="1689003"/>
            <a:ext cx="7419676" cy="41672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19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19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 스프링 의존성 주입과 제어 역전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19.2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의존성 주입 실습하기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665922" y="1431596"/>
            <a:ext cx="749410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3. </a:t>
            </a:r>
            <a:r>
              <a:rPr lang="en-US" altLang="ko-KR" sz="1200">
                <a:latin typeface="+mj-ea"/>
                <a:ea typeface="+mj-ea"/>
              </a:rPr>
              <a:t>PersonServiceImpl </a:t>
            </a:r>
            <a:r>
              <a:rPr lang="ko-KR" altLang="en-US" sz="1200">
                <a:latin typeface="+mj-ea"/>
                <a:ea typeface="+mj-ea"/>
              </a:rPr>
              <a:t>클래스에서는 인자가 한 개인 생성자와 두 개인 생성자를 구현합니다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29700" name="Picture 4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883062" y="1888435"/>
            <a:ext cx="7059824" cy="38551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19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19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 스프링 의존성 주입과 제어 역전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19.2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의존성 주입 실습하기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914400" y="1578949"/>
            <a:ext cx="7020961" cy="2908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19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19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 스프링 의존성 주입과 제어 역전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19.2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의존성 주입 실습하기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75861" y="1441174"/>
            <a:ext cx="75139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4. </a:t>
            </a:r>
            <a:r>
              <a:rPr lang="ko-KR" altLang="en-US" sz="1200">
                <a:latin typeface="+mj-ea"/>
                <a:ea typeface="+mj-ea"/>
              </a:rPr>
              <a:t>실행 클래스인 </a:t>
            </a:r>
            <a:r>
              <a:rPr lang="en-US" altLang="ko-KR" sz="1200">
                <a:latin typeface="+mj-ea"/>
                <a:ea typeface="+mj-ea"/>
              </a:rPr>
              <a:t>PersonTest2</a:t>
            </a:r>
            <a:r>
              <a:rPr lang="ko-KR" altLang="en-US" sz="1200">
                <a:latin typeface="+mj-ea"/>
                <a:ea typeface="+mj-ea"/>
              </a:rPr>
              <a:t>를 다음과 같이 작성합니다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874644" y="1718173"/>
            <a:ext cx="6850430" cy="5048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19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19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 스프링 의존성 주입과 제어 역전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324274" y="711235"/>
            <a:ext cx="6400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19.2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의존성 주입 실습하기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6409" y="1570383"/>
            <a:ext cx="76531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5. </a:t>
            </a:r>
            <a:r>
              <a:rPr lang="ko-KR" altLang="en-US" sz="1200">
                <a:latin typeface="+mj-ea"/>
                <a:ea typeface="+mj-ea"/>
              </a:rPr>
              <a:t>다음은 </a:t>
            </a:r>
            <a:r>
              <a:rPr lang="en-US" altLang="ko-KR" sz="1200">
                <a:latin typeface="+mj-ea"/>
                <a:ea typeface="+mj-ea"/>
              </a:rPr>
              <a:t>main() </a:t>
            </a:r>
            <a:r>
              <a:rPr lang="ko-KR" altLang="en-US" sz="1200">
                <a:latin typeface="+mj-ea"/>
                <a:ea typeface="+mj-ea"/>
              </a:rPr>
              <a:t>메서드가 있는 실행 클래스</a:t>
            </a:r>
            <a:r>
              <a:rPr lang="en-US" altLang="ko-KR" sz="1200">
                <a:latin typeface="+mj-ea"/>
                <a:ea typeface="+mj-ea"/>
              </a:rPr>
              <a:t>(PersonTest2.java)</a:t>
            </a:r>
            <a:r>
              <a:rPr lang="ko-KR" altLang="en-US" sz="1200">
                <a:latin typeface="+mj-ea"/>
                <a:ea typeface="+mj-ea"/>
              </a:rPr>
              <a:t>가 보이는 상태에서 실행 버튼을 클릭하여</a:t>
            </a:r>
            <a:endParaRPr lang="ko-KR" altLang="en-US" sz="1200">
              <a:latin typeface="+mj-ea"/>
              <a:ea typeface="+mj-ea"/>
            </a:endParaRPr>
          </a:p>
          <a:p>
            <a:pPr lvl="0"/>
            <a:r>
              <a:rPr lang="en-US" altLang="ko-KR" sz="1200">
                <a:latin typeface="+mj-ea"/>
                <a:ea typeface="+mj-ea"/>
              </a:rPr>
              <a:t>  </a:t>
            </a:r>
            <a:r>
              <a:rPr lang="ko-KR" altLang="en-US" sz="1200">
                <a:latin typeface="+mj-ea"/>
                <a:ea typeface="+mj-ea"/>
              </a:rPr>
              <a:t> 실행한 결과입니다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6" name="그림 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2837042" y="2032048"/>
            <a:ext cx="1256030" cy="135953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19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19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 스프링 의존성 주입과 제어 역전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05119" y="711235"/>
            <a:ext cx="75853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19.3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회원 기능 이용해 의존성 주입 실습하기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graphicFrame>
        <p:nvGraphicFramePr>
          <p:cNvPr id="3" name="개체 2"/>
          <p:cNvGraphicFramePr>
            <a:graphicFrameLocks noChangeAspect="1"/>
          </p:cNvGraphicFramePr>
          <p:nvPr/>
        </p:nvGraphicFramePr>
        <p:xfrm>
          <a:off x="1227620" y="1857969"/>
          <a:ext cx="5873750" cy="2462213"/>
        </p:xfrm>
        <a:graphic>
          <a:graphicData uri="http://schemas.openxmlformats.org/presentationml/2006/ole">
            <p:oleObj spid="_x0000_s5171" name="문서" r:id="rId2" imgW="5874221" imgH="2461751" progId="Word.Document.12">
              <p:link/>
            </p:oleObj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752480" y="1580970"/>
            <a:ext cx="39060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ko-KR" altLang="en-US" sz="1200" b="1"/>
              <a:t>회원 관리 기능 클래스 계층 구조</a:t>
            </a:r>
            <a:endParaRPr lang="ko-KR" altLang="en-US" sz="1200" b="1"/>
          </a:p>
        </p:txBody>
      </p:sp>
    </p:spTree>
  </p:cSld>
  <p:clrMapOvr>
    <a:masterClrMapping/>
  </p:clrMapOvr>
</p:sld>
</file>

<file path=ppt/slides/slide3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19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19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 스프링 의존성 주입과 제어 역전 기능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685800" y="1550504"/>
            <a:ext cx="71561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1. </a:t>
            </a:r>
            <a:r>
              <a:rPr lang="ko-KR" altLang="en-US" sz="1200">
                <a:latin typeface="+mj-ea"/>
                <a:ea typeface="+mj-ea"/>
              </a:rPr>
              <a:t>같은 프로젝트에 </a:t>
            </a:r>
            <a:r>
              <a:rPr lang="en-US" altLang="ko-KR" sz="1200">
                <a:latin typeface="+mj-ea"/>
                <a:ea typeface="+mj-ea"/>
              </a:rPr>
              <a:t>member.xml</a:t>
            </a:r>
            <a:r>
              <a:rPr lang="ko-KR" altLang="en-US" sz="1200">
                <a:latin typeface="+mj-ea"/>
                <a:ea typeface="+mj-ea"/>
              </a:rPr>
              <a:t>을 생성합니다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6" name="그림 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2971204" y="1933974"/>
            <a:ext cx="1969135" cy="235394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05119" y="711235"/>
            <a:ext cx="75853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19.3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회원 기능 이용해 의존성 주입 실습하기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19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19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 스프링 의존성 주입과 제어 역전 기능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505118" y="1449899"/>
            <a:ext cx="78636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2. </a:t>
            </a:r>
            <a:r>
              <a:rPr lang="en-US" altLang="ko-KR" sz="1200">
                <a:latin typeface="+mj-ea"/>
                <a:ea typeface="+mj-ea"/>
              </a:rPr>
              <a:t>member.xml</a:t>
            </a:r>
            <a:r>
              <a:rPr lang="ko-KR" altLang="en-US" sz="1200">
                <a:latin typeface="+mj-ea"/>
                <a:ea typeface="+mj-ea"/>
              </a:rPr>
              <a:t>에서는 두 개의 빈을 동시에 생성한 후 </a:t>
            </a:r>
            <a:r>
              <a:rPr lang="en-US" altLang="ko-KR" sz="1200">
                <a:latin typeface="+mj-ea"/>
                <a:ea typeface="+mj-ea"/>
              </a:rPr>
              <a:t>id</a:t>
            </a:r>
            <a:r>
              <a:rPr lang="ko-KR" altLang="en-US" sz="1200">
                <a:latin typeface="+mj-ea"/>
                <a:ea typeface="+mj-ea"/>
              </a:rPr>
              <a:t>가 </a:t>
            </a:r>
            <a:r>
              <a:rPr lang="en-US" altLang="ko-KR" sz="1200">
                <a:latin typeface="+mj-ea"/>
                <a:ea typeface="+mj-ea"/>
              </a:rPr>
              <a:t>memberService</a:t>
            </a:r>
            <a:r>
              <a:rPr lang="ko-KR" altLang="en-US" sz="1200">
                <a:latin typeface="+mj-ea"/>
                <a:ea typeface="+mj-ea"/>
              </a:rPr>
              <a:t>인 빈이 </a:t>
            </a:r>
            <a:r>
              <a:rPr lang="en-US" altLang="ko-KR" sz="1200">
                <a:latin typeface="+mj-ea"/>
                <a:ea typeface="+mj-ea"/>
              </a:rPr>
              <a:t>id</a:t>
            </a:r>
            <a:r>
              <a:rPr lang="ko-KR" altLang="en-US" sz="1200">
                <a:latin typeface="+mj-ea"/>
                <a:ea typeface="+mj-ea"/>
              </a:rPr>
              <a:t>가 </a:t>
            </a:r>
            <a:r>
              <a:rPr lang="en-US" altLang="ko-KR" sz="1200">
                <a:latin typeface="+mj-ea"/>
                <a:ea typeface="+mj-ea"/>
              </a:rPr>
              <a:t>memberDAO</a:t>
            </a:r>
            <a:r>
              <a:rPr lang="ko-KR" altLang="en-US" sz="1200">
                <a:latin typeface="+mj-ea"/>
                <a:ea typeface="+mj-ea"/>
              </a:rPr>
              <a:t>인 빈을</a:t>
            </a:r>
            <a:endParaRPr lang="ko-KR" altLang="en-US" sz="1200">
              <a:latin typeface="+mj-ea"/>
              <a:ea typeface="+mj-ea"/>
            </a:endParaRPr>
          </a:p>
          <a:p>
            <a:pPr lvl="0"/>
            <a:r>
              <a:rPr lang="en-US" altLang="ko-KR" sz="1200">
                <a:latin typeface="+mj-ea"/>
                <a:ea typeface="+mj-ea"/>
              </a:rPr>
              <a:t>  </a:t>
            </a:r>
            <a:r>
              <a:rPr lang="ko-KR" altLang="en-US" sz="1200">
                <a:latin typeface="+mj-ea"/>
                <a:ea typeface="+mj-ea"/>
              </a:rPr>
              <a:t> 자신의 속성 </a:t>
            </a:r>
            <a:r>
              <a:rPr lang="en-US" altLang="ko-KR" sz="1200">
                <a:latin typeface="+mj-ea"/>
                <a:ea typeface="+mj-ea"/>
              </a:rPr>
              <a:t>memberDAO</a:t>
            </a:r>
            <a:r>
              <a:rPr lang="ko-KR" altLang="en-US" sz="1200">
                <a:latin typeface="+mj-ea"/>
                <a:ea typeface="+mj-ea"/>
              </a:rPr>
              <a:t>에 바로 주입합니다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35842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900112" y="1911564"/>
            <a:ext cx="7343775" cy="372253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" name="개체 4"/>
          <p:cNvGraphicFramePr>
            <a:graphicFrameLocks noChangeAspect="1"/>
          </p:cNvGraphicFramePr>
          <p:nvPr/>
        </p:nvGraphicFramePr>
        <p:xfrm>
          <a:off x="1324274" y="5510213"/>
          <a:ext cx="5873750" cy="1347787"/>
        </p:xfrm>
        <a:graphic>
          <a:graphicData uri="http://schemas.openxmlformats.org/presentationml/2006/ole">
            <p:oleObj spid="_x0000_s6191" name="문서" r:id="rId3" imgW="5874221" imgH="1348068" progId="Word.Document.12">
              <p:link/>
            </p:oleObj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5119" y="711235"/>
            <a:ext cx="75853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19.3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회원 기능 이용해 의존성 주입 실습하기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19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19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 스프링 의존성 주입과 제어 역전 기능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636104" y="1428807"/>
            <a:ext cx="75239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3. </a:t>
            </a:r>
            <a:r>
              <a:rPr lang="en-US" altLang="ko-KR" sz="1200">
                <a:latin typeface="+mj-ea"/>
                <a:ea typeface="+mj-ea"/>
              </a:rPr>
              <a:t>MemberServiceImpl </a:t>
            </a:r>
            <a:r>
              <a:rPr lang="ko-KR" altLang="en-US" sz="1200">
                <a:latin typeface="+mj-ea"/>
                <a:ea typeface="+mj-ea"/>
              </a:rPr>
              <a:t>클래스는 다음과 같이 </a:t>
            </a:r>
            <a:r>
              <a:rPr lang="en-US" altLang="ko-KR" sz="1200">
                <a:latin typeface="+mj-ea"/>
                <a:ea typeface="+mj-ea"/>
              </a:rPr>
              <a:t>setter</a:t>
            </a:r>
            <a:r>
              <a:rPr lang="ko-KR" altLang="en-US" sz="1200">
                <a:latin typeface="+mj-ea"/>
                <a:ea typeface="+mj-ea"/>
              </a:rPr>
              <a:t>로 주입되는 빈을 받을 </a:t>
            </a:r>
            <a:r>
              <a:rPr lang="en-US" altLang="ko-KR" sz="1200">
                <a:latin typeface="+mj-ea"/>
                <a:ea typeface="+mj-ea"/>
              </a:rPr>
              <a:t>MemberDAO </a:t>
            </a:r>
            <a:r>
              <a:rPr lang="ko-KR" altLang="en-US" sz="1200">
                <a:latin typeface="+mj-ea"/>
                <a:ea typeface="+mj-ea"/>
              </a:rPr>
              <a:t>타입의 속성과</a:t>
            </a:r>
            <a:endParaRPr lang="ko-KR" altLang="en-US" sz="1200">
              <a:latin typeface="+mj-ea"/>
              <a:ea typeface="+mj-ea"/>
            </a:endParaRPr>
          </a:p>
          <a:p>
            <a:pPr lvl="0"/>
            <a:r>
              <a:rPr lang="en-US" altLang="ko-KR" sz="1200">
                <a:latin typeface="+mj-ea"/>
                <a:ea typeface="+mj-ea"/>
              </a:rPr>
              <a:t>  </a:t>
            </a:r>
            <a:r>
              <a:rPr lang="ko-KR" altLang="en-US" sz="1200">
                <a:latin typeface="+mj-ea"/>
                <a:ea typeface="+mj-ea"/>
              </a:rPr>
              <a:t> </a:t>
            </a:r>
            <a:r>
              <a:rPr lang="en-US" altLang="ko-KR" sz="1200">
                <a:latin typeface="+mj-ea"/>
                <a:ea typeface="+mj-ea"/>
              </a:rPr>
              <a:t>setter</a:t>
            </a:r>
            <a:r>
              <a:rPr lang="ko-KR" altLang="en-US" sz="1200">
                <a:latin typeface="+mj-ea"/>
                <a:ea typeface="+mj-ea"/>
              </a:rPr>
              <a:t>를 이용해 구현합니다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1324274" y="2069377"/>
            <a:ext cx="6603517" cy="442260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505119" y="711235"/>
            <a:ext cx="75853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19.3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회원 기능 이용해 의존성 주입 실습하기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19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19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 스프링 의존성 주입과 제어 역전 기능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596348" y="1449899"/>
            <a:ext cx="73648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4. </a:t>
            </a:r>
            <a:r>
              <a:rPr lang="ko-KR" altLang="en-US" sz="1200">
                <a:latin typeface="+mj-ea"/>
                <a:ea typeface="+mj-ea"/>
              </a:rPr>
              <a:t>다음은 주입되는 빈에 해당하는 </a:t>
            </a:r>
            <a:r>
              <a:rPr lang="en-US" altLang="ko-KR" sz="1200">
                <a:latin typeface="+mj-ea"/>
                <a:ea typeface="+mj-ea"/>
              </a:rPr>
              <a:t>MemberDAOImpl </a:t>
            </a:r>
            <a:r>
              <a:rPr lang="ko-KR" altLang="en-US" sz="1200">
                <a:latin typeface="+mj-ea"/>
                <a:ea typeface="+mj-ea"/>
              </a:rPr>
              <a:t>클래스입니다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37890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781049" y="1726898"/>
            <a:ext cx="6995491" cy="324103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505119" y="711235"/>
            <a:ext cx="75853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19.3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회원 기능 이용해 의존성 주입 실습하기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19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19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 스프링 의존성 주입과 제어 역전 기능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505119" y="1449899"/>
            <a:ext cx="75555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5. </a:t>
            </a:r>
            <a:r>
              <a:rPr lang="ko-KR" altLang="en-US" sz="1200">
                <a:latin typeface="+mj-ea"/>
                <a:ea typeface="+mj-ea"/>
              </a:rPr>
              <a:t>실행 클래스인 </a:t>
            </a:r>
            <a:r>
              <a:rPr lang="en-US" altLang="ko-KR" sz="1200">
                <a:latin typeface="+mj-ea"/>
                <a:ea typeface="+mj-ea"/>
              </a:rPr>
              <a:t>MemberTest1</a:t>
            </a:r>
            <a:r>
              <a:rPr lang="ko-KR" altLang="en-US" sz="1200">
                <a:latin typeface="+mj-ea"/>
                <a:ea typeface="+mj-ea"/>
              </a:rPr>
              <a:t>에서는 </a:t>
            </a:r>
            <a:r>
              <a:rPr lang="en-US" altLang="ko-KR" sz="1200">
                <a:latin typeface="+mj-ea"/>
                <a:ea typeface="+mj-ea"/>
              </a:rPr>
              <a:t>member.xml</a:t>
            </a:r>
            <a:r>
              <a:rPr lang="ko-KR" altLang="en-US" sz="1200">
                <a:latin typeface="+mj-ea"/>
                <a:ea typeface="+mj-ea"/>
              </a:rPr>
              <a:t>을 읽어 들인 후 빈을 생성합니다</a:t>
            </a:r>
            <a:r>
              <a:rPr lang="en-US" altLang="ko-KR" sz="1200">
                <a:latin typeface="+mj-ea"/>
                <a:ea typeface="+mj-ea"/>
              </a:rPr>
              <a:t>. </a:t>
            </a:r>
            <a:r>
              <a:rPr lang="ko-KR" altLang="en-US" sz="1200">
                <a:latin typeface="+mj-ea"/>
                <a:ea typeface="+mj-ea"/>
              </a:rPr>
              <a:t>그리고 </a:t>
            </a:r>
            <a:r>
              <a:rPr lang="en-US" altLang="ko-KR" sz="1200">
                <a:latin typeface="+mj-ea"/>
                <a:ea typeface="+mj-ea"/>
              </a:rPr>
              <a:t>setter </a:t>
            </a:r>
            <a:r>
              <a:rPr lang="ko-KR" altLang="en-US" sz="1200">
                <a:latin typeface="+mj-ea"/>
                <a:ea typeface="+mj-ea"/>
              </a:rPr>
              <a:t>주입</a:t>
            </a:r>
            <a:endParaRPr lang="ko-KR" altLang="en-US" sz="1200">
              <a:latin typeface="+mj-ea"/>
              <a:ea typeface="+mj-ea"/>
            </a:endParaRPr>
          </a:p>
          <a:p>
            <a:pPr lvl="0"/>
            <a:r>
              <a:rPr lang="en-US" altLang="ko-KR" sz="1200">
                <a:latin typeface="+mj-ea"/>
                <a:ea typeface="+mj-ea"/>
              </a:rPr>
              <a:t>  </a:t>
            </a:r>
            <a:r>
              <a:rPr lang="ko-KR" altLang="en-US" sz="1200">
                <a:latin typeface="+mj-ea"/>
                <a:ea typeface="+mj-ea"/>
              </a:rPr>
              <a:t> 방식으로 주입한 후 빈 </a:t>
            </a:r>
            <a:r>
              <a:rPr lang="en-US" altLang="ko-KR" sz="1200">
                <a:latin typeface="+mj-ea"/>
                <a:ea typeface="+mj-ea"/>
              </a:rPr>
              <a:t>id</a:t>
            </a:r>
            <a:r>
              <a:rPr lang="ko-KR" altLang="en-US" sz="1200">
                <a:latin typeface="+mj-ea"/>
                <a:ea typeface="+mj-ea"/>
              </a:rPr>
              <a:t>인 </a:t>
            </a:r>
            <a:r>
              <a:rPr lang="en-US" altLang="ko-KR" sz="1200">
                <a:latin typeface="+mj-ea"/>
                <a:ea typeface="+mj-ea"/>
              </a:rPr>
              <a:t>memberService</a:t>
            </a:r>
            <a:r>
              <a:rPr lang="ko-KR" altLang="en-US" sz="1200">
                <a:latin typeface="+mj-ea"/>
                <a:ea typeface="+mj-ea"/>
              </a:rPr>
              <a:t>로 접근하여 </a:t>
            </a:r>
            <a:r>
              <a:rPr lang="en-US" altLang="ko-KR" sz="1200">
                <a:latin typeface="+mj-ea"/>
                <a:ea typeface="+mj-ea"/>
              </a:rPr>
              <a:t>listMembers() </a:t>
            </a:r>
            <a:r>
              <a:rPr lang="ko-KR" altLang="en-US" sz="1200">
                <a:latin typeface="+mj-ea"/>
                <a:ea typeface="+mj-ea"/>
              </a:rPr>
              <a:t>메서드를 호출합니다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894522" y="1995854"/>
            <a:ext cx="7028829" cy="415812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505119" y="711235"/>
            <a:ext cx="75853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19.3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회원 기능 이용해 의존성 주입 실습하기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19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19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 스프링 의존성 주입과 제어 역전 기능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586409" y="1550504"/>
            <a:ext cx="79513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6. </a:t>
            </a:r>
            <a:r>
              <a:rPr lang="en-US" altLang="ko-KR" sz="1200">
                <a:latin typeface="+mj-ea"/>
                <a:ea typeface="+mj-ea"/>
              </a:rPr>
              <a:t>main() </a:t>
            </a:r>
            <a:r>
              <a:rPr lang="ko-KR" altLang="en-US" sz="1200">
                <a:latin typeface="+mj-ea"/>
                <a:ea typeface="+mj-ea"/>
              </a:rPr>
              <a:t>메서드가 있는 실행 클래스</a:t>
            </a:r>
            <a:r>
              <a:rPr lang="en-US" altLang="ko-KR" sz="1200">
                <a:latin typeface="+mj-ea"/>
                <a:ea typeface="+mj-ea"/>
              </a:rPr>
              <a:t>(MemberTest1.java)</a:t>
            </a:r>
            <a:r>
              <a:rPr lang="ko-KR" altLang="en-US" sz="1200">
                <a:latin typeface="+mj-ea"/>
                <a:ea typeface="+mj-ea"/>
              </a:rPr>
              <a:t>가 보이는 상태에서 실행 버튼을 클릭해실행합니다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en-US" altLang="ko-KR" sz="1200">
              <a:latin typeface="+mj-ea"/>
              <a:ea typeface="+mj-ea"/>
            </a:endParaRPr>
          </a:p>
          <a:p>
            <a:pPr lvl="0"/>
            <a:r>
              <a:rPr lang="en-US" altLang="ko-KR" sz="1200">
                <a:latin typeface="+mj-ea"/>
                <a:ea typeface="+mj-ea"/>
              </a:rPr>
              <a:t>  </a:t>
            </a:r>
            <a:r>
              <a:rPr lang="ko-KR" altLang="en-US" sz="1200">
                <a:latin typeface="+mj-ea"/>
                <a:ea typeface="+mj-ea"/>
              </a:rPr>
              <a:t>이클립스 콘솔에서 </a:t>
            </a:r>
            <a:r>
              <a:rPr lang="en-US" altLang="ko-KR" sz="1200">
                <a:latin typeface="+mj-ea"/>
                <a:ea typeface="+mj-ea"/>
              </a:rPr>
              <a:t>MemberDAO</a:t>
            </a:r>
            <a:r>
              <a:rPr lang="ko-KR" altLang="en-US" sz="1200">
                <a:latin typeface="+mj-ea"/>
                <a:ea typeface="+mj-ea"/>
              </a:rPr>
              <a:t>의 </a:t>
            </a:r>
            <a:r>
              <a:rPr lang="en-US" altLang="ko-KR" sz="1200">
                <a:latin typeface="+mj-ea"/>
                <a:ea typeface="+mj-ea"/>
              </a:rPr>
              <a:t>listMembers() </a:t>
            </a:r>
            <a:r>
              <a:rPr lang="ko-KR" altLang="en-US" sz="1200">
                <a:latin typeface="+mj-ea"/>
                <a:ea typeface="+mj-ea"/>
              </a:rPr>
              <a:t>메서드를 호출한다는 결과를 확인할 수 있습니다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6" name="그림 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2133186" y="2185987"/>
            <a:ext cx="2571750" cy="8286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05119" y="711235"/>
            <a:ext cx="75853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19.3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회원 기능 이용해 의존성 주입 실습하기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19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19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 스프링 의존성 주입과 제어 역전 기능</a:t>
            </a:r>
            <a:endParaRPr lang="ko-KR" altLang="en-US" sz="1500"/>
          </a:p>
        </p:txBody>
      </p:sp>
      <p:sp>
        <p:nvSpPr>
          <p:cNvPr id="7" name="TextBox 6"/>
          <p:cNvSpPr txBox="1"/>
          <p:nvPr/>
        </p:nvSpPr>
        <p:spPr>
          <a:xfrm>
            <a:off x="505119" y="711235"/>
            <a:ext cx="75853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추가 학습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6226" y="1480930"/>
            <a:ext cx="38365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altLang="ko-KR" b="1">
                <a:latin typeface="+mj-ea"/>
                <a:ea typeface="+mj-ea"/>
              </a:rPr>
              <a:t>lazy-init </a:t>
            </a:r>
            <a:r>
              <a:rPr lang="ko-KR" altLang="en-US" b="1">
                <a:latin typeface="+mj-ea"/>
                <a:ea typeface="+mj-ea"/>
              </a:rPr>
              <a:t>실습</a:t>
            </a:r>
            <a:endParaRPr lang="ko-KR" altLang="en-US" b="1">
              <a:latin typeface="+mj-ea"/>
              <a:ea typeface="+mj-ea"/>
            </a:endParaRP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2942337" y="1987487"/>
            <a:ext cx="2200275" cy="2924175"/>
          </a:xfrm>
          <a:prstGeom prst="rect">
            <a:avLst/>
          </a:prstGeom>
          <a:noFill/>
          <a:ln w="9525">
            <a:solidFill>
              <a:schemeClr val="tx1"/>
            </a:solidFill>
            <a:miter/>
          </a:ln>
        </p:spPr>
      </p:pic>
    </p:spTree>
  </p:cSld>
  <p:clrMapOvr>
    <a:masterClrMapping/>
  </p:clrMapOvr>
</p:sld>
</file>

<file path=ppt/slides/slide4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19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19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 스프링 의존성 주입과 제어 역전 기능</a:t>
            </a:r>
            <a:endParaRPr lang="ko-KR" altLang="en-US" sz="1500"/>
          </a:p>
        </p:txBody>
      </p:sp>
      <p:sp>
        <p:nvSpPr>
          <p:cNvPr id="7" name="TextBox 6"/>
          <p:cNvSpPr txBox="1"/>
          <p:nvPr/>
        </p:nvSpPr>
        <p:spPr>
          <a:xfrm>
            <a:off x="505119" y="711235"/>
            <a:ext cx="75853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추가 학습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6226" y="1480930"/>
            <a:ext cx="38365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400" b="1">
                <a:latin typeface="+mj-ea"/>
                <a:ea typeface="+mj-ea"/>
              </a:rPr>
              <a:t>lazy-init </a:t>
            </a:r>
            <a:r>
              <a:rPr lang="ko-KR" altLang="en-US" sz="1400" b="1">
                <a:latin typeface="+mj-ea"/>
                <a:ea typeface="+mj-ea"/>
              </a:rPr>
              <a:t>실습</a:t>
            </a:r>
            <a:endParaRPr lang="ko-KR" altLang="en-US" sz="1400" b="1">
              <a:latin typeface="+mj-ea"/>
              <a:ea typeface="+mj-ea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328405" y="2199654"/>
            <a:ext cx="8248650" cy="1743075"/>
          </a:xfrm>
          <a:prstGeom prst="rect">
            <a:avLst/>
          </a:prstGeom>
          <a:noFill/>
          <a:ln w="9525">
            <a:solidFill>
              <a:schemeClr val="tx1"/>
            </a:solidFill>
            <a:miter/>
          </a:ln>
        </p:spPr>
      </p:pic>
      <p:sp>
        <p:nvSpPr>
          <p:cNvPr id="5" name="TextBox 4"/>
          <p:cNvSpPr txBox="1"/>
          <p:nvPr/>
        </p:nvSpPr>
        <p:spPr>
          <a:xfrm>
            <a:off x="328405" y="1878496"/>
            <a:ext cx="82486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1. </a:t>
            </a:r>
            <a:r>
              <a:rPr lang="en-US" altLang="ko-KR" sz="1200">
                <a:latin typeface="+mj-ea"/>
                <a:ea typeface="+mj-ea"/>
              </a:rPr>
              <a:t>lazy.xml</a:t>
            </a:r>
            <a:r>
              <a:rPr lang="ko-KR" altLang="en-US" sz="1200">
                <a:latin typeface="+mj-ea"/>
                <a:ea typeface="+mj-ea"/>
              </a:rPr>
              <a:t>에 세개의 빈을 생성하면서 </a:t>
            </a:r>
            <a:r>
              <a:rPr lang="en-US" altLang="ko-KR" sz="1200">
                <a:latin typeface="+mj-ea"/>
                <a:ea typeface="+mj-ea"/>
              </a:rPr>
              <a:t>lazy-init </a:t>
            </a:r>
            <a:r>
              <a:rPr lang="ko-KR" altLang="en-US" sz="1200">
                <a:latin typeface="+mj-ea"/>
                <a:ea typeface="+mj-ea"/>
              </a:rPr>
              <a:t>속성을 각각 설정합니다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r>
              <a:rPr lang="ko-KR" altLang="en-US" sz="1200">
                <a:latin typeface="+mj-ea"/>
                <a:ea typeface="+mj-ea"/>
              </a:rPr>
              <a:t> </a:t>
            </a:r>
            <a:endParaRPr lang="ko-KR" altLang="en-US" sz="120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4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19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19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 스프링 의존성 주입과 제어 역전 기능</a:t>
            </a:r>
            <a:endParaRPr lang="ko-KR" altLang="en-US" sz="1500"/>
          </a:p>
        </p:txBody>
      </p:sp>
      <p:sp>
        <p:nvSpPr>
          <p:cNvPr id="7" name="TextBox 6"/>
          <p:cNvSpPr txBox="1"/>
          <p:nvPr/>
        </p:nvSpPr>
        <p:spPr>
          <a:xfrm>
            <a:off x="505119" y="711235"/>
            <a:ext cx="75853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추가 학습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4704" y="1461052"/>
            <a:ext cx="643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2. </a:t>
            </a:r>
            <a:r>
              <a:rPr lang="ko-KR" altLang="en-US" sz="1200">
                <a:latin typeface="+mj-ea"/>
                <a:ea typeface="+mj-ea"/>
              </a:rPr>
              <a:t>세 개의 클래스를 작성합니다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41162" y="1738051"/>
            <a:ext cx="3777490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/>
            <a:r>
              <a:rPr lang="en-US" altLang="ko-KR" sz="1200" b="1"/>
              <a:t>First.java</a:t>
            </a:r>
            <a:endParaRPr lang="ko-KR" altLang="en-US" sz="1200" b="1"/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1341161" y="2015050"/>
            <a:ext cx="4657725" cy="1276350"/>
          </a:xfrm>
          <a:prstGeom prst="rect">
            <a:avLst/>
          </a:prstGeom>
          <a:noFill/>
          <a:ln w="9525">
            <a:solidFill>
              <a:schemeClr val="tx1"/>
            </a:solidFill>
            <a:miter/>
          </a:ln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 rotWithShape="1">
          <a:blip r:embed="rId3">
            <a:alphaModFix/>
            <a:lum/>
          </a:blip>
          <a:srcRect/>
          <a:stretch>
            <a:fillRect/>
          </a:stretch>
        </p:blipFill>
        <p:spPr>
          <a:xfrm>
            <a:off x="1341161" y="3664296"/>
            <a:ext cx="4467225" cy="1295400"/>
          </a:xfrm>
          <a:prstGeom prst="rect">
            <a:avLst/>
          </a:prstGeom>
          <a:noFill/>
          <a:ln w="9525">
            <a:solidFill>
              <a:schemeClr val="tx1"/>
            </a:solidFill>
            <a:miter/>
          </a:ln>
        </p:spPr>
      </p:pic>
      <p:sp>
        <p:nvSpPr>
          <p:cNvPr id="12" name="TextBox 11"/>
          <p:cNvSpPr txBox="1"/>
          <p:nvPr/>
        </p:nvSpPr>
        <p:spPr>
          <a:xfrm>
            <a:off x="1341161" y="3376061"/>
            <a:ext cx="3777490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/>
            <a:r>
              <a:rPr lang="en-US" altLang="ko-KR" sz="1200" b="1"/>
              <a:t>Second.java</a:t>
            </a:r>
            <a:endParaRPr lang="ko-KR" altLang="en-US" sz="1200" b="1"/>
          </a:p>
        </p:txBody>
      </p:sp>
      <p:pic>
        <p:nvPicPr>
          <p:cNvPr id="8198" name="Picture 6"/>
          <p:cNvPicPr>
            <a:picLocks noChangeAspect="1" noChangeArrowheads="1"/>
          </p:cNvPicPr>
          <p:nvPr/>
        </p:nvPicPr>
        <p:blipFill rotWithShape="1">
          <a:blip r:embed="rId4">
            <a:alphaModFix/>
            <a:lum/>
          </a:blip>
          <a:srcRect/>
          <a:stretch>
            <a:fillRect/>
          </a:stretch>
        </p:blipFill>
        <p:spPr>
          <a:xfrm>
            <a:off x="1341161" y="5355299"/>
            <a:ext cx="4429125" cy="1314450"/>
          </a:xfrm>
          <a:prstGeom prst="rect">
            <a:avLst/>
          </a:prstGeom>
          <a:noFill/>
          <a:ln w="9525">
            <a:solidFill>
              <a:schemeClr val="tx1"/>
            </a:solidFill>
            <a:miter/>
          </a:ln>
        </p:spPr>
      </p:pic>
      <p:sp>
        <p:nvSpPr>
          <p:cNvPr id="14" name="TextBox 13"/>
          <p:cNvSpPr txBox="1"/>
          <p:nvPr/>
        </p:nvSpPr>
        <p:spPr>
          <a:xfrm>
            <a:off x="1341161" y="5078300"/>
            <a:ext cx="3777490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/>
            <a:r>
              <a:rPr lang="en-US" altLang="ko-KR" sz="1200" b="1"/>
              <a:t>Third.java</a:t>
            </a:r>
            <a:endParaRPr lang="ko-KR" altLang="en-US" sz="1200" b="1"/>
          </a:p>
        </p:txBody>
      </p:sp>
    </p:spTree>
  </p:cSld>
  <p:clrMapOvr>
    <a:masterClrMapping/>
  </p:clrMapOvr>
</p:sld>
</file>

<file path=ppt/slides/slide4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19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19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 스프링 의존성 주입과 제어 역전 기능</a:t>
            </a:r>
            <a:endParaRPr lang="ko-KR" altLang="en-US" sz="1500"/>
          </a:p>
        </p:txBody>
      </p:sp>
      <p:sp>
        <p:nvSpPr>
          <p:cNvPr id="7" name="TextBox 6"/>
          <p:cNvSpPr txBox="1"/>
          <p:nvPr/>
        </p:nvSpPr>
        <p:spPr>
          <a:xfrm>
            <a:off x="505119" y="711235"/>
            <a:ext cx="758533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추가 학습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6165" y="1520686"/>
            <a:ext cx="72555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3.</a:t>
            </a:r>
            <a:r>
              <a:rPr lang="en-US" altLang="ko-KR" sz="1200">
                <a:latin typeface="+mj-ea"/>
                <a:ea typeface="+mj-ea"/>
              </a:rPr>
              <a:t> </a:t>
            </a:r>
            <a:r>
              <a:rPr lang="ko-KR" altLang="en-US" sz="1200">
                <a:latin typeface="+mj-ea"/>
                <a:ea typeface="+mj-ea"/>
              </a:rPr>
              <a:t>실행 클래스를 작성합니다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6164" y="4432852"/>
            <a:ext cx="8001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4. </a:t>
            </a:r>
            <a:r>
              <a:rPr lang="ko-KR" altLang="en-US" sz="1200">
                <a:latin typeface="+mj-ea"/>
                <a:ea typeface="+mj-ea"/>
              </a:rPr>
              <a:t>실행 클래스를 실행 하면 </a:t>
            </a:r>
            <a:r>
              <a:rPr lang="en-US" altLang="ko-KR" sz="1200">
                <a:latin typeface="+mj-ea"/>
                <a:ea typeface="+mj-ea"/>
              </a:rPr>
              <a:t>First</a:t>
            </a:r>
            <a:r>
              <a:rPr lang="ko-KR" altLang="en-US" sz="1200">
                <a:latin typeface="+mj-ea"/>
                <a:ea typeface="+mj-ea"/>
              </a:rPr>
              <a:t>와 </a:t>
            </a:r>
            <a:r>
              <a:rPr lang="en-US" altLang="ko-KR" sz="1200">
                <a:latin typeface="+mj-ea"/>
                <a:ea typeface="+mj-ea"/>
              </a:rPr>
              <a:t>Third </a:t>
            </a:r>
            <a:r>
              <a:rPr lang="ko-KR" altLang="en-US" sz="1200">
                <a:latin typeface="+mj-ea"/>
                <a:ea typeface="+mj-ea"/>
              </a:rPr>
              <a:t>클래스는 애플리케이션 실행 시 빈이 생성되나</a:t>
            </a:r>
            <a:r>
              <a:rPr lang="en-US" altLang="ko-KR" sz="1200">
                <a:latin typeface="+mj-ea"/>
                <a:ea typeface="+mj-ea"/>
              </a:rPr>
              <a:t>, Second </a:t>
            </a:r>
            <a:r>
              <a:rPr lang="ko-KR" altLang="en-US" sz="1200">
                <a:latin typeface="+mj-ea"/>
                <a:ea typeface="+mj-ea"/>
              </a:rPr>
              <a:t>클래스 빈은</a:t>
            </a:r>
            <a:endParaRPr lang="ko-KR" altLang="en-US" sz="1200">
              <a:latin typeface="+mj-ea"/>
              <a:ea typeface="+mj-ea"/>
            </a:endParaRPr>
          </a:p>
          <a:p>
            <a:pPr lvl="0"/>
            <a:r>
              <a:rPr lang="en-US" altLang="ko-KR" sz="1200">
                <a:latin typeface="+mj-ea"/>
                <a:ea typeface="+mj-ea"/>
              </a:rPr>
              <a:t>  </a:t>
            </a:r>
            <a:r>
              <a:rPr lang="ko-KR" altLang="en-US" sz="1200">
                <a:latin typeface="+mj-ea"/>
                <a:ea typeface="+mj-ea"/>
              </a:rPr>
              <a:t> </a:t>
            </a:r>
            <a:r>
              <a:rPr lang="en-US" altLang="ko-KR" sz="1200">
                <a:latin typeface="+mj-ea"/>
                <a:ea typeface="+mj-ea"/>
              </a:rPr>
              <a:t>context.getBean() </a:t>
            </a:r>
            <a:r>
              <a:rPr lang="ko-KR" altLang="en-US" sz="1200">
                <a:latin typeface="+mj-ea"/>
                <a:ea typeface="+mj-ea"/>
              </a:rPr>
              <a:t>호출 시 빈이 생성됩니다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9221" name="Picture 5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807139" y="1797685"/>
            <a:ext cx="7639050" cy="2190750"/>
          </a:xfrm>
          <a:prstGeom prst="rect">
            <a:avLst/>
          </a:prstGeom>
          <a:noFill/>
          <a:ln w="9525">
            <a:solidFill>
              <a:schemeClr val="tx1"/>
            </a:solidFill>
            <a:miter/>
          </a:ln>
        </p:spPr>
      </p:pic>
      <p:pic>
        <p:nvPicPr>
          <p:cNvPr id="9222" name="Picture 6"/>
          <p:cNvPicPr>
            <a:picLocks noChangeAspect="1" noChangeArrowheads="1"/>
          </p:cNvPicPr>
          <p:nvPr/>
        </p:nvPicPr>
        <p:blipFill rotWithShape="1">
          <a:blip r:embed="rId3">
            <a:alphaModFix/>
            <a:lum/>
          </a:blip>
          <a:srcRect/>
          <a:stretch>
            <a:fillRect/>
          </a:stretch>
        </p:blipFill>
        <p:spPr>
          <a:xfrm>
            <a:off x="2365098" y="4894517"/>
            <a:ext cx="3638550" cy="1533525"/>
          </a:xfrm>
          <a:prstGeom prst="rect">
            <a:avLst/>
          </a:prstGeom>
          <a:noFill/>
          <a:ln w="9525">
            <a:solidFill>
              <a:schemeClr val="tx1"/>
            </a:solidFill>
            <a:miter/>
          </a:ln>
        </p:spPr>
      </p:pic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20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20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20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TotalTime>0</ep:TotalTime>
  <ep:HyperlinkBase/>
  <ep:Application>Hancom Office Hanshow 2010</ep:Application>
  <ep:AppVersion>8.0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cp:category/>
  <cp:contentStatus/>
  <dcterms:created xsi:type="dcterms:W3CDTF">2018-08-29T04:30:46.000</dcterms:created>
  <dc:creator>SSEN Kim</dc:creator>
  <dc:description/>
  <cp:keywords/>
  <cp:lastModifiedBy>daewo</cp:lastModifiedBy>
  <dcterms:modified xsi:type="dcterms:W3CDTF">2020-07-26T08:10:03.156</dcterms:modified>
  <cp:revision>703</cp:revision>
  <dc:subject/>
  <dc:title>PowerPoint 프레젠테이션</dc:title>
</cp:coreProperties>
</file>