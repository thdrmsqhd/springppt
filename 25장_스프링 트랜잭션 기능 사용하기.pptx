
<file path=[Content_Types].xml><?xml version="1.0" encoding="utf-8"?>
<Types xmlns="http://schemas.openxmlformats.org/package/2006/content-types"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officeDocument/2006/relationships/extended-properties" Target="docProps/app.xml"  /><Relationship Id="rId3" Type="http://schemas.openxmlformats.org/package/2006/relationships/metadata/core-properties" Target="docProps/core.xml"  /><Relationship Id="rId4" Type="http://schemas.openxmlformats.org/package/2006/relationships/metadata/thumbnail" Target="docProps/thumbnail.jpeg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17" r:id="rId32"/>
  </p:sldMasterIdLst>
  <p:notesMasterIdLst>
    <p:notesMasterId r:id="rId34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SSEN Kim" initials="S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horzBarState="maximized">
    <p:restoredLeft sz="13410"/>
    <p:restoredTop sz="94660"/>
  </p:normalViewPr>
  <p:slideViewPr>
    <p:cSldViewPr snapToGrid="0">
      <p:cViewPr varScale="1">
        <p:scale>
          <a:sx n="96" d="100"/>
          <a:sy n="96" d="100"/>
        </p:scale>
        <p:origin x="-912" y="-108"/>
      </p:cViewPr>
      <p:guideLst>
        <p:guide orient="horz" pos="1070"/>
        <p:guide pos="384"/>
        <p:guide pos="5375"/>
        <p:guide pos="54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" Target="slides/slide1.xml"  /><Relationship Id="rId10" Type="http://schemas.openxmlformats.org/officeDocument/2006/relationships/slide" Target="slides/slide10.xml"  /><Relationship Id="rId11" Type="http://schemas.openxmlformats.org/officeDocument/2006/relationships/slide" Target="slides/slide11.xml"  /><Relationship Id="rId12" Type="http://schemas.openxmlformats.org/officeDocument/2006/relationships/slide" Target="slides/slide12.xml"  /><Relationship Id="rId13" Type="http://schemas.openxmlformats.org/officeDocument/2006/relationships/slide" Target="slides/slide13.xml"  /><Relationship Id="rId14" Type="http://schemas.openxmlformats.org/officeDocument/2006/relationships/slide" Target="slides/slide14.xml"  /><Relationship Id="rId15" Type="http://schemas.openxmlformats.org/officeDocument/2006/relationships/slide" Target="slides/slide15.xml"  /><Relationship Id="rId16" Type="http://schemas.openxmlformats.org/officeDocument/2006/relationships/slide" Target="slides/slide16.xml"  /><Relationship Id="rId17" Type="http://schemas.openxmlformats.org/officeDocument/2006/relationships/slide" Target="slides/slide17.xml"  /><Relationship Id="rId18" Type="http://schemas.openxmlformats.org/officeDocument/2006/relationships/slide" Target="slides/slide18.xml"  /><Relationship Id="rId19" Type="http://schemas.openxmlformats.org/officeDocument/2006/relationships/slide" Target="slides/slide19.xml"  /><Relationship Id="rId2" Type="http://schemas.openxmlformats.org/officeDocument/2006/relationships/slide" Target="slides/slide2.xml"  /><Relationship Id="rId20" Type="http://schemas.openxmlformats.org/officeDocument/2006/relationships/slide" Target="slides/slide20.xml"  /><Relationship Id="rId21" Type="http://schemas.openxmlformats.org/officeDocument/2006/relationships/slide" Target="slides/slide21.xml"  /><Relationship Id="rId22" Type="http://schemas.openxmlformats.org/officeDocument/2006/relationships/slide" Target="slides/slide22.xml"  /><Relationship Id="rId23" Type="http://schemas.openxmlformats.org/officeDocument/2006/relationships/slide" Target="slides/slide23.xml"  /><Relationship Id="rId24" Type="http://schemas.openxmlformats.org/officeDocument/2006/relationships/slide" Target="slides/slide24.xml"  /><Relationship Id="rId25" Type="http://schemas.openxmlformats.org/officeDocument/2006/relationships/slide" Target="slides/slide25.xml"  /><Relationship Id="rId26" Type="http://schemas.openxmlformats.org/officeDocument/2006/relationships/slide" Target="slides/slide26.xml"  /><Relationship Id="rId27" Type="http://schemas.openxmlformats.org/officeDocument/2006/relationships/slide" Target="slides/slide27.xml"  /><Relationship Id="rId28" Type="http://schemas.openxmlformats.org/officeDocument/2006/relationships/slide" Target="slides/slide28.xml"  /><Relationship Id="rId29" Type="http://schemas.openxmlformats.org/officeDocument/2006/relationships/slide" Target="slides/slide29.xml"  /><Relationship Id="rId3" Type="http://schemas.openxmlformats.org/officeDocument/2006/relationships/slide" Target="slides/slide3.xml"  /><Relationship Id="rId30" Type="http://schemas.openxmlformats.org/officeDocument/2006/relationships/presProps" Target="presProps.xml"  /><Relationship Id="rId31" Type="http://schemas.openxmlformats.org/officeDocument/2006/relationships/viewProps" Target="viewProps.xml"  /><Relationship Id="rId32" Type="http://schemas.openxmlformats.org/officeDocument/2006/relationships/slideMaster" Target="slideMasters/slideMaster1.xml"  /><Relationship Id="rId33" Type="http://schemas.openxmlformats.org/officeDocument/2006/relationships/theme" Target="theme/theme1.xml"  /><Relationship Id="rId34" Type="http://schemas.openxmlformats.org/officeDocument/2006/relationships/notesMaster" Target="notesMasters/notesMaster1.xml"  /><Relationship Id="rId35" Type="http://schemas.openxmlformats.org/officeDocument/2006/relationships/commentAuthors" Target="commentAuthors.xml"  /><Relationship Id="rId36" Type="http://schemas.openxmlformats.org/officeDocument/2006/relationships/tableStyles" Target="tableStyles.xml"  /><Relationship Id="rId4" Type="http://schemas.openxmlformats.org/officeDocument/2006/relationships/slide" Target="slides/slide4.xml"  /><Relationship Id="rId5" Type="http://schemas.openxmlformats.org/officeDocument/2006/relationships/slide" Target="slides/slide5.xml"  /><Relationship Id="rId6" Type="http://schemas.openxmlformats.org/officeDocument/2006/relationships/slide" Target="slides/slide6.xml"  /><Relationship Id="rId7" Type="http://schemas.openxmlformats.org/officeDocument/2006/relationships/slide" Target="slides/slide7.xml"  /><Relationship Id="rId8" Type="http://schemas.openxmlformats.org/officeDocument/2006/relationships/slide" Target="slides/slide8.xml"  /><Relationship Id="rId9" Type="http://schemas.openxmlformats.org/officeDocument/2006/relationships/slide" Target="slides/slide9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/>
            <a:fld id="{0E7094D2-52B1-4A24-9772-F4ABB377CA0B}" type="datetimeFigureOut">
              <a:rPr lang="ko-KR" altLang="en-US"/>
              <a:pPr/>
              <a:t>2020-08-04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/>
            <a:fld id="{303C5F93-DBD8-475E-B5C0-664EF94AA89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:a16="http://schemas.microsoft.com/office/drawing/2014/main" xmlns="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  <p:sldLayoutId id="214748371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emf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emf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emf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4.png"  /><Relationship Id="rId3" Type="http://schemas.openxmlformats.org/officeDocument/2006/relationships/image" Target="../media/image2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7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8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1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2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3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80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25</a:t>
            </a:r>
            <a:r>
              <a:rPr lang="ko-KR" altLang="en-US" sz="2800"/>
              <a:t>장</a:t>
            </a:r>
            <a:r>
              <a:rPr lang="en-US" altLang="ko-KR" sz="2800"/>
              <a:t> </a:t>
            </a:r>
            <a:r>
              <a:rPr lang="ko-KR" altLang="en-US" sz="2800"/>
              <a:t>스프링 트랜잭션 기능 사용하기</a:t>
            </a:r>
            <a:endParaRPr lang="ko-KR" altLang="en-US" sz="2800" spc="-89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2098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25.1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트랜잭션 기능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25.2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은행 계좌 이체를 통한 트랜 잭션 기능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25.3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스프링의 트랜잭션 속성 알아보기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25.4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 트랜잭션 기능 적용해 계좌 이체 실습하기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트랜잭션 기능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1540565"/>
            <a:ext cx="4979504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트랜잭션</a:t>
            </a:r>
            <a:r>
              <a:rPr lang="en-US" altLang="ko-KR" sz="1200" b="1">
                <a:latin typeface="+mj-ea"/>
                <a:ea typeface="+mj-ea"/>
              </a:rPr>
              <a:t>(Transaction)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5618" y="1817563"/>
            <a:ext cx="7335078" cy="90468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여러 개의 </a:t>
            </a:r>
            <a:r>
              <a:rPr lang="en-US" altLang="ko-KR" sz="1200">
                <a:latin typeface="+mj-ea"/>
                <a:ea typeface="+mj-ea"/>
              </a:rPr>
              <a:t>DML</a:t>
            </a:r>
            <a:r>
              <a:rPr lang="ko-KR" altLang="en-US" sz="1200">
                <a:latin typeface="+mj-ea"/>
                <a:ea typeface="+mj-ea"/>
              </a:rPr>
              <a:t>(데이터조작어)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명령문을 하나의 논리적인 작업 단위로 묶어서 관리하는것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en-US" altLang="ko-KR" sz="1200">
                <a:latin typeface="+mj-ea"/>
                <a:ea typeface="+mj-ea"/>
              </a:rPr>
              <a:t>All </a:t>
            </a:r>
            <a:r>
              <a:rPr lang="ko-KR" altLang="en-US" sz="1200">
                <a:latin typeface="+mj-ea"/>
                <a:ea typeface="+mj-ea"/>
              </a:rPr>
              <a:t>또는 </a:t>
            </a:r>
            <a:r>
              <a:rPr lang="en-US" altLang="ko-KR" sz="1200">
                <a:latin typeface="+mj-ea"/>
                <a:ea typeface="+mj-ea"/>
              </a:rPr>
              <a:t>Nothing </a:t>
            </a:r>
            <a:r>
              <a:rPr lang="ko-KR" altLang="en-US" sz="1200">
                <a:latin typeface="+mj-ea"/>
                <a:ea typeface="+mj-ea"/>
              </a:rPr>
              <a:t>방식으로 작업을 처리함으로써 작업의 일관성을 유지함(</a:t>
            </a:r>
            <a:r>
              <a:rPr lang="en-US" altLang="ko-KR" sz="1200">
                <a:latin typeface="+mj-ea"/>
                <a:ea typeface="+mj-ea"/>
              </a:rPr>
              <a:t>commit, rollback)</a:t>
            </a:r>
            <a:endParaRPr lang="en-US" altLang="ko-KR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/>
              <a:t>웹 애플리케이션에선 </a:t>
            </a:r>
            <a:r>
              <a:rPr lang="en-US" altLang="ko-KR" sz="1200"/>
              <a:t>Service </a:t>
            </a:r>
            <a:r>
              <a:rPr lang="ko-KR" altLang="en-US" sz="1200"/>
              <a:t>클래스의 각 메서드가 애플리케이션의 단위 기능을 수행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87864" y="3348190"/>
            <a:ext cx="5873750" cy="27400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5618" y="3071191"/>
            <a:ext cx="5381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ko-KR" sz="1200" b="1">
                <a:latin typeface="+mj-ea"/>
                <a:ea typeface="+mj-ea"/>
              </a:rPr>
              <a:t>일반적인 웹 애플리케이션의</a:t>
            </a:r>
            <a:r>
              <a:rPr lang="en-US" altLang="ko-KR" sz="1200" b="1">
                <a:latin typeface="+mj-ea"/>
                <a:ea typeface="+mj-ea"/>
              </a:rPr>
              <a:t> Service </a:t>
            </a:r>
            <a:r>
              <a:rPr lang="ko-KR" altLang="ko-KR" sz="1200" b="1">
                <a:latin typeface="+mj-ea"/>
                <a:ea typeface="+mj-ea"/>
              </a:rPr>
              <a:t>클래스와</a:t>
            </a:r>
            <a:r>
              <a:rPr lang="en-US" altLang="ko-KR" sz="1200" b="1">
                <a:latin typeface="+mj-ea"/>
                <a:ea typeface="+mj-ea"/>
              </a:rPr>
              <a:t> DAO </a:t>
            </a:r>
            <a:r>
              <a:rPr lang="ko-KR" altLang="ko-KR" sz="1200" b="1">
                <a:latin typeface="+mj-ea"/>
                <a:ea typeface="+mj-ea"/>
              </a:rPr>
              <a:t>클래스 구조</a:t>
            </a:r>
            <a:endParaRPr lang="ko-KR" altLang="en-US" sz="1200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트랜잭션 기능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435" y="1510748"/>
            <a:ext cx="6708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웹 애플리케이션에서 관련된 </a:t>
            </a:r>
            <a:r>
              <a:rPr lang="en-US" altLang="ko-KR" sz="1200" b="1">
                <a:latin typeface="+mj-ea"/>
                <a:ea typeface="+mj-ea"/>
              </a:rPr>
              <a:t>DB</a:t>
            </a:r>
            <a:r>
              <a:rPr lang="ko-KR" altLang="en-US" sz="1200" b="1">
                <a:latin typeface="+mj-ea"/>
                <a:ea typeface="+mj-ea"/>
              </a:rPr>
              <a:t>연동작업을 한꺼번에 묶어서 처리하는 단위 기능의 예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5435" y="1787747"/>
            <a:ext cx="7543799" cy="90592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게시판 글 조회 시 해당 글을 조회하는 기능과 조회 수를 갱신하는 기능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쇼핑몰에서 상품 주문 시 주문 상품을 테이블에 등록하는 기능과 주문자의 포인트를 갱신하는 기능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은행에서 송금 시 송금자의 잔고를 갱신하는 기능과 수신자의 잔고를 갱신하는 기능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은행 계좌 이체를 통한 트랜잭션 기능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0100" y="1321904"/>
            <a:ext cx="7036903" cy="26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트랜잭션 적용 전 은행 계좌 이체</a:t>
            </a:r>
            <a:endParaRPr lang="ko-KR" altLang="en-US" sz="1200" b="1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32169" y="1598903"/>
            <a:ext cx="5873750" cy="5246687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은행 계좌 이체를 통한 트랜잭션 기능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2169" y="6241774"/>
            <a:ext cx="7255565" cy="64289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홍길동과 김유신 계좌 잔고의 갱신이 모두 정상적으로 이루어지면 최종적으로 반영</a:t>
            </a:r>
            <a:r>
              <a:rPr lang="en-US" altLang="ko-KR" sz="1200">
                <a:latin typeface="+mj-ea"/>
                <a:ea typeface="+mj-ea"/>
              </a:rPr>
              <a:t>(commit)</a:t>
            </a:r>
            <a:r>
              <a:rPr lang="ko-KR" altLang="en-US" sz="1200">
                <a:latin typeface="+mj-ea"/>
                <a:ea typeface="+mj-ea"/>
              </a:rPr>
              <a:t>함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중간에 이상이 발생할 경우 이전의 모든 작업 취소</a:t>
            </a:r>
            <a:r>
              <a:rPr lang="en-US" altLang="ko-KR" sz="1200">
                <a:latin typeface="+mj-ea"/>
                <a:ea typeface="+mj-ea"/>
              </a:rPr>
              <a:t>, </a:t>
            </a:r>
            <a:r>
              <a:rPr lang="ko-KR" altLang="en-US" sz="1200">
                <a:latin typeface="+mj-ea"/>
                <a:ea typeface="+mj-ea"/>
              </a:rPr>
              <a:t>즉 롤백</a:t>
            </a:r>
            <a:r>
              <a:rPr lang="en-US" altLang="ko-KR" sz="1200">
                <a:latin typeface="+mj-ea"/>
                <a:ea typeface="+mj-ea"/>
              </a:rPr>
              <a:t>(rollback)</a:t>
            </a:r>
            <a:r>
              <a:rPr lang="ko-KR" altLang="en-US" sz="1200">
                <a:latin typeface="+mj-ea"/>
                <a:ea typeface="+mj-ea"/>
              </a:rPr>
              <a:t>시킴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3974" y="1361661"/>
            <a:ext cx="4770783" cy="26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트랜잭션 적용 후 은행 계좌 이체</a:t>
            </a:r>
            <a:endParaRPr lang="ko-KR" altLang="en-US" sz="1200" b="1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32169" y="1638660"/>
            <a:ext cx="5873750" cy="4411663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스프링의 트랜잭션 속성 알아보기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480930"/>
            <a:ext cx="5009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스프링의 여러 가지 트랜잭션 속성들(예제를 통해 이해하도록 한다)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57519" y="1758564"/>
          <a:ext cx="7462751" cy="1740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464"/>
                <a:gridCol w="5178287"/>
              </a:tblGrid>
              <a:tr h="27697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속성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9146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propagation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전파 규칙 설정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6628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isolation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격리 레벨 설정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062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realOnly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읽기 전용 여부 설정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0538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rollbackFor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트랜잭션을 롤백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(rollback)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할 예외 타입 설정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80202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norollbackFor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트랜잭션을 롤백하지 않을 예외 타입 설정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84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timeout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타임아웃 시간 설정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607107" y="3631960"/>
            <a:ext cx="22751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propagation </a:t>
            </a:r>
            <a:r>
              <a:rPr lang="ko-KR" altLang="en-US" sz="1200" b="1">
                <a:latin typeface="+mj-ea"/>
                <a:ea typeface="+mj-ea"/>
              </a:rPr>
              <a:t>속성이 가지는 값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07107" y="3908959"/>
          <a:ext cx="7462751" cy="2959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8"/>
                <a:gridCol w="5614893"/>
              </a:tblGrid>
              <a:tr h="27697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값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의미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9146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REQUIRED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필요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진행 중인 트랜잭션이 있는 경우 해당 트랜잭션 사용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트랜잭션이 없으면 새로운 트랜잭션 생성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디폴트 값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6628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MANDATORY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필요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진행 중인 트랜잭션이 없는 경우 예외 발생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062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REQUIRED_NEW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항상 새로운 트랜잭션 생성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진행 중인 트랜잭션이 있는 경우 기존 트랜잭션을 일시 중지시킨 후 새로운 트랜잭션 시작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새로 시작된 트랜잭션이 종료되면 기존 트랜잭션 계속 진행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0538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SUPPORTS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필요 없음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진행 중인 트랜잭션이 있는 경우 해당 트랜잭션 사용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80202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NOT_SUPPORTED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필요 없음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진행 중인 트랜잭션이 있는 경우 기존 트랜잭션을 일시 중지시킨 후 메서드 실행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메서드 실행이 종료되면 기존 트랜잭션 계속 진행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84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NEVER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필요 없음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진행 중인 트랜잭션이 있는 경우 예외 발생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스프링의 트랜잭션 속성 알아보기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7945" y="1642837"/>
          <a:ext cx="746275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8"/>
                <a:gridCol w="5614893"/>
              </a:tblGrid>
              <a:tr h="19146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NESTED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트랜잭션 필요</a:t>
                      </a:r>
                      <a:endParaRPr lang="ko-KR" altLang="en-US" sz="1000" b="0" i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진행 중인 트랜잭션이 있는 경우 기존 트랜잭션에 중첩된 트랜잭션에서 메서드 실행</a:t>
                      </a:r>
                      <a:endParaRPr lang="ko-KR" altLang="en-US" sz="1000" b="0" i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• </a:t>
                      </a:r>
                      <a:r>
                        <a:rPr lang="ko-KR" altLang="en-US" sz="1000" b="0" i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트랜잭션이 없으면 새로운 트랜잭션 생성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586409" y="2439264"/>
            <a:ext cx="2019631" cy="263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isolation </a:t>
            </a:r>
            <a:r>
              <a:rPr lang="ko-KR" altLang="en-US" sz="1200" b="1">
                <a:latin typeface="+mj-ea"/>
                <a:ea typeface="+mj-ea"/>
              </a:rPr>
              <a:t>속성이 가지는 값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87945" y="2716263"/>
          <a:ext cx="7462751" cy="164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8"/>
                <a:gridCol w="5614893"/>
              </a:tblGrid>
              <a:tr h="27697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속성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9146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DEFAULT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데이터베이스에서 제공하는 기본 설정 사용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6628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READ_UNCOMMITED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다른 트랜잭션에서 커밋하지 않은 데이터 읽기 가능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56809">
                <a:tc>
                  <a:txBody>
                    <a:bodyPr vert="horz" lIns="91440" tIns="45720" rIns="91440" bIns="45720" anchor="t" anchorCtr="0"/>
                    <a:p>
                      <a:pPr marL="0" indent="0" algn="l" defTabSz="1080135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READ_COMMITED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커밋한 데이터만 읽기 가능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0538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REPEATABLE_READ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현재 트랜잭션에서 데이터를 수정하지 않았다면 처음 읽어온 데이터와 두 번째 읽어온 데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이터가 동일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80202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SERIALIZABLE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같은 데이터에 대해 한 개의 트랜잭션만 수행 가능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20687"/>
            <a:ext cx="7633252" cy="44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>
                <a:latin typeface="+mj-ea"/>
                <a:ea typeface="+mj-ea"/>
              </a:rPr>
              <a:t>먼저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로 예금자 계좌 정보를 저장하는 테이블을 생성합니다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그리고 예금자의 계좌 정보를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ko-KR" altLang="en-US" sz="1200">
                <a:latin typeface="+mj-ea"/>
                <a:ea typeface="+mj-ea"/>
              </a:rPr>
              <a:t>다음과 같이 추가합니다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688404" y="2007689"/>
            <a:ext cx="7260296" cy="3627782"/>
            <a:chOff x="199197" y="2043113"/>
            <a:chExt cx="8725728" cy="4617558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219075" y="2043113"/>
              <a:ext cx="8705850" cy="2771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99197" y="4669946"/>
              <a:ext cx="8567116" cy="1990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743658" y="1449899"/>
            <a:ext cx="5923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테이블에 저장된 예금자들의 잔고 현황</a:t>
            </a:r>
            <a:endParaRPr lang="ko-KR" altLang="en-US" sz="1200" b="1"/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582599" y="1885329"/>
            <a:ext cx="3076575" cy="542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25.4.1 </a:t>
            </a:r>
            <a:r>
              <a:rPr lang="ko-KR" altLang="en-US" b="1"/>
              <a:t>트랜잭션 관련 </a:t>
            </a:r>
            <a:r>
              <a:rPr lang="en-US" altLang="ko-KR" b="1"/>
              <a:t>XML </a:t>
            </a:r>
            <a:r>
              <a:rPr lang="ko-KR" altLang="en-US" b="1"/>
              <a:t>파일 설정하기</a:t>
            </a:r>
            <a:r>
              <a:rPr lang="en-US" altLang="ko-KR" b="1"/>
              <a:t> </a:t>
            </a:r>
            <a:endParaRPr lang="en-US" altLang="ko-KR" b="1" spc="-95"/>
          </a:p>
        </p:txBody>
      </p:sp>
      <p:sp>
        <p:nvSpPr>
          <p:cNvPr id="4" name="TextBox 3"/>
          <p:cNvSpPr txBox="1"/>
          <p:nvPr/>
        </p:nvSpPr>
        <p:spPr>
          <a:xfrm>
            <a:off x="655983" y="1918252"/>
            <a:ext cx="7643190" cy="45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스프링과 연동해 트랜잭션 기능을 구현하는 데 필요한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파일들을 다음과 같이 준비합니다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web.xml</a:t>
            </a:r>
            <a:r>
              <a:rPr lang="ko-KR" altLang="en-US" sz="1200">
                <a:latin typeface="+mj-ea"/>
                <a:ea typeface="+mj-ea"/>
              </a:rPr>
              <a:t>은 </a:t>
            </a:r>
            <a:r>
              <a:rPr lang="en-US" altLang="ko-KR" sz="1200">
                <a:latin typeface="+mj-ea"/>
                <a:ea typeface="+mj-ea"/>
              </a:rPr>
              <a:t>24</a:t>
            </a:r>
            <a:r>
              <a:rPr lang="ko-KR" altLang="en-US" sz="1200">
                <a:latin typeface="+mj-ea"/>
                <a:ea typeface="+mj-ea"/>
              </a:rPr>
              <a:t>장의 것을 복사해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76003" y="2379917"/>
            <a:ext cx="2276475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9" name="설명선 1(강조선) 8"/>
          <p:cNvSpPr/>
          <p:nvPr/>
        </p:nvSpPr>
        <p:spPr>
          <a:xfrm>
            <a:off x="4572000" y="5256179"/>
            <a:ext cx="4423181" cy="1314553"/>
          </a:xfrm>
          <a:prstGeom prst="accentCallout1">
            <a:avLst>
              <a:gd name="adj1" fmla="val 23869"/>
              <a:gd name="adj2" fmla="val -1932"/>
              <a:gd name="adj3" fmla="val -30867"/>
              <a:gd name="adj4" fmla="val -7612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endParaRPr lang="en-US" altLang="ko-KR" sz="1100"/>
          </a:p>
          <a:p>
            <a:pPr/>
            <a:r>
              <a:rPr lang="en-US" altLang="ko-KR" sz="1100"/>
              <a:t>bean </a:t>
            </a:r>
            <a:r>
              <a:rPr lang="ko-KR" altLang="en-US" sz="1100"/>
              <a:t>설정</a:t>
            </a:r>
            <a:endParaRPr lang="ko-KR" altLang="en-US" sz="1100"/>
          </a:p>
          <a:p>
            <a:pPr/>
            <a:r>
              <a:rPr lang="ko-KR" altLang="en-US" sz="1100"/>
              <a:t> -</a:t>
            </a:r>
            <a:r>
              <a:rPr lang="en-US" altLang="ko-KR" sz="1100"/>
              <a:t>viewResolver </a:t>
            </a:r>
            <a:r>
              <a:rPr lang="ko-KR" altLang="en-US" sz="1100"/>
              <a:t>빈</a:t>
            </a:r>
            <a:r>
              <a:rPr lang="en-US" altLang="ko-KR" sz="1100"/>
              <a:t>: prefix/suffix</a:t>
            </a:r>
            <a:endParaRPr lang="en-US" altLang="ko-KR" sz="1100"/>
          </a:p>
          <a:p>
            <a:pPr/>
            <a:r>
              <a:rPr lang="en-US" altLang="ko-KR" sz="1100"/>
              <a:t>-HandlerMapping</a:t>
            </a:r>
            <a:endParaRPr lang="en-US" altLang="ko-KR" sz="1100"/>
          </a:p>
          <a:p>
            <a:pPr/>
            <a:r>
              <a:rPr lang="en-US" altLang="ko-KR" sz="1100"/>
              <a:t>  .urlMappimg</a:t>
            </a:r>
            <a:r>
              <a:rPr lang="ko-KR" altLang="en-US" sz="1100"/>
              <a:t>빈: </a:t>
            </a:r>
            <a:r>
              <a:rPr lang="en-US" altLang="ko-KR" sz="1100"/>
              <a:t>/account/*.do&gt;accController</a:t>
            </a:r>
            <a:r>
              <a:rPr lang="ko-KR" altLang="en-US" sz="1100"/>
              <a:t> 빈 실행</a:t>
            </a:r>
            <a:endParaRPr lang="ko-KR" altLang="en-US" sz="1100"/>
          </a:p>
          <a:p>
            <a:pPr/>
            <a:r>
              <a:rPr lang="en-US" altLang="ko-KR" sz="1100"/>
              <a:t>  .methodResolver</a:t>
            </a:r>
            <a:r>
              <a:rPr lang="ko-KR" altLang="en-US" sz="1100"/>
              <a:t>빈: </a:t>
            </a:r>
            <a:r>
              <a:rPr lang="en-US" altLang="ko-KR" sz="1100"/>
              <a:t>/account/sendMoney.do&gt;sendMoney</a:t>
            </a:r>
            <a:r>
              <a:rPr lang="ko-KR" altLang="en-US" sz="1100"/>
              <a:t>매서드호출</a:t>
            </a:r>
            <a:endParaRPr lang="ko-KR" altLang="en-US" sz="1100"/>
          </a:p>
          <a:p>
            <a:pPr/>
            <a:r>
              <a:rPr lang="ko-KR" altLang="en-US" sz="1100"/>
              <a:t>  .</a:t>
            </a:r>
            <a:r>
              <a:rPr lang="en-US" altLang="ko-KR" sz="1100"/>
              <a:t>accController</a:t>
            </a:r>
            <a:r>
              <a:rPr lang="ko-KR" altLang="en-US" sz="1100"/>
              <a:t>빈(</a:t>
            </a:r>
            <a:r>
              <a:rPr lang="en-US" altLang="ko-KR" sz="1100"/>
              <a:t>methodResolver</a:t>
            </a:r>
            <a:r>
              <a:rPr lang="ko-KR" altLang="en-US" sz="1100"/>
              <a:t>빈과 </a:t>
            </a:r>
            <a:r>
              <a:rPr lang="en-US" altLang="ko-KR" sz="1100"/>
              <a:t>accService</a:t>
            </a:r>
            <a:r>
              <a:rPr lang="ko-KR" altLang="en-US" sz="1100"/>
              <a:t>빈 주입설정)</a:t>
            </a:r>
            <a:endParaRPr lang="ko-KR" altLang="en-US" sz="1100"/>
          </a:p>
          <a:p>
            <a:pPr/>
            <a:endParaRPr lang="ko-KR" altLang="en-US" sz="1100"/>
          </a:p>
          <a:p>
            <a:pPr/>
            <a:endParaRPr lang="ko-KR" altLang="en-US" sz="1100"/>
          </a:p>
        </p:txBody>
      </p:sp>
      <p:sp>
        <p:nvSpPr>
          <p:cNvPr id="10" name="설명선 1(강조선) 8"/>
          <p:cNvSpPr/>
          <p:nvPr/>
        </p:nvSpPr>
        <p:spPr>
          <a:xfrm>
            <a:off x="4720819" y="3019751"/>
            <a:ext cx="4423181" cy="1066525"/>
          </a:xfrm>
          <a:prstGeom prst="accentCallout1">
            <a:avLst>
              <a:gd name="adj1" fmla="val 23869"/>
              <a:gd name="adj2" fmla="val -1932"/>
              <a:gd name="adj3" fmla="val 98158"/>
              <a:gd name="adj4" fmla="val -12348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/>
            <a:r>
              <a:rPr lang="en-US" altLang="ko-KR" sz="1100"/>
              <a:t>bean </a:t>
            </a:r>
            <a:r>
              <a:rPr lang="ko-KR" altLang="en-US" sz="1100"/>
              <a:t>설정</a:t>
            </a:r>
            <a:endParaRPr lang="ko-KR" altLang="en-US" sz="1100"/>
          </a:p>
          <a:p>
            <a:pPr/>
            <a:r>
              <a:rPr lang="ko-KR" altLang="en-US" sz="1100"/>
              <a:t> -propertyPlaceholderConfigurer빈 </a:t>
            </a:r>
            <a:r>
              <a:rPr lang="en-US" altLang="ko-KR" sz="1100"/>
              <a:t>(jdbc.properties)</a:t>
            </a:r>
            <a:endParaRPr lang="en-US" altLang="ko-KR" sz="1100"/>
          </a:p>
          <a:p>
            <a:pPr/>
            <a:r>
              <a:rPr lang="ko-KR" altLang="en-US" sz="1100"/>
              <a:t>  / </a:t>
            </a:r>
            <a:r>
              <a:rPr lang="en-US" altLang="ko-KR" sz="1100"/>
              <a:t>dataSource</a:t>
            </a:r>
            <a:r>
              <a:rPr lang="ko-KR" altLang="en-US" sz="1100"/>
              <a:t>빈 / </a:t>
            </a:r>
            <a:r>
              <a:rPr lang="en-US" altLang="ko-KR" sz="1100"/>
              <a:t>sqlSessionFactory</a:t>
            </a:r>
            <a:r>
              <a:rPr lang="ko-KR" altLang="en-US" sz="1100"/>
              <a:t>빈 / </a:t>
            </a:r>
            <a:r>
              <a:rPr lang="en-US" altLang="ko-KR" sz="1100"/>
              <a:t>sqlS ession</a:t>
            </a:r>
            <a:r>
              <a:rPr lang="ko-KR" altLang="en-US" sz="1100"/>
              <a:t>빈</a:t>
            </a:r>
            <a:endParaRPr lang="ko-KR" altLang="en-US" sz="1100"/>
          </a:p>
          <a:p>
            <a:pPr/>
            <a:r>
              <a:rPr lang="en-US" altLang="ko-KR" sz="1100"/>
              <a:t>-accDAO</a:t>
            </a:r>
            <a:r>
              <a:rPr lang="ko-KR" altLang="en-US" sz="1100"/>
              <a:t>빈</a:t>
            </a:r>
            <a:r>
              <a:rPr lang="en-US" altLang="ko-KR" sz="1100"/>
              <a:t>(sqlS ession</a:t>
            </a:r>
            <a:r>
              <a:rPr lang="ko-KR" altLang="en-US" sz="1100"/>
              <a:t>빈주입설정)</a:t>
            </a:r>
            <a:endParaRPr lang="ko-KR" altLang="en-US" sz="1100"/>
          </a:p>
          <a:p>
            <a:pPr/>
            <a:r>
              <a:rPr lang="ko-KR" altLang="en-US" sz="1100"/>
              <a:t>-txManager빈 (</a:t>
            </a:r>
            <a:r>
              <a:rPr lang="en-US" altLang="ko-KR" sz="1100"/>
              <a:t>tx: </a:t>
            </a:r>
            <a:r>
              <a:rPr lang="ko-KR" altLang="en-US" sz="1100"/>
              <a:t>애노테이션설정-txManager)</a:t>
            </a:r>
            <a:endParaRPr lang="ko-KR" altLang="en-US" sz="1100"/>
          </a:p>
        </p:txBody>
      </p:sp>
      <p:sp>
        <p:nvSpPr>
          <p:cNvPr id="11" name="설명선 1(강조선) 8"/>
          <p:cNvSpPr/>
          <p:nvPr/>
        </p:nvSpPr>
        <p:spPr>
          <a:xfrm>
            <a:off x="5518094" y="4553706"/>
            <a:ext cx="2240527" cy="483656"/>
          </a:xfrm>
          <a:prstGeom prst="accentCallout1">
            <a:avLst>
              <a:gd name="adj1" fmla="val 23869"/>
              <a:gd name="adj2" fmla="val -1932"/>
              <a:gd name="adj3" fmla="val -41112"/>
              <a:gd name="adj4" fmla="val -38716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/>
            <a:r>
              <a:rPr lang="en-US" altLang="ko-KR" sz="1100"/>
              <a:t>bean </a:t>
            </a:r>
            <a:r>
              <a:rPr lang="ko-KR" altLang="en-US" sz="1100"/>
              <a:t>설정</a:t>
            </a:r>
            <a:endParaRPr lang="ko-KR" altLang="en-US" sz="1100"/>
          </a:p>
          <a:p>
            <a:pPr/>
            <a:r>
              <a:rPr lang="en-US" altLang="ko-KR" sz="1100"/>
              <a:t>-accService</a:t>
            </a:r>
            <a:r>
              <a:rPr lang="ko-KR" altLang="en-US" sz="1100"/>
              <a:t>빈</a:t>
            </a:r>
            <a:r>
              <a:rPr lang="en-US" altLang="ko-KR" sz="1100"/>
              <a:t>(accDAO</a:t>
            </a:r>
            <a:r>
              <a:rPr lang="ko-KR" altLang="en-US" sz="1100"/>
              <a:t>빈주입설정)</a:t>
            </a:r>
            <a:endParaRPr lang="ko-KR" altLang="en-US" sz="110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481576"/>
            <a:ext cx="7335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에서는 뷰 관련 빈과 각 </a:t>
            </a:r>
            <a:r>
              <a:rPr lang="en-US" altLang="ko-KR" sz="1200">
                <a:latin typeface="+mj-ea"/>
                <a:ea typeface="+mj-ea"/>
              </a:rPr>
              <a:t>URL </a:t>
            </a:r>
            <a:r>
              <a:rPr lang="ko-KR" altLang="en-US" sz="1200">
                <a:latin typeface="+mj-ea"/>
                <a:ea typeface="+mj-ea"/>
              </a:rPr>
              <a:t>요청명에 대해 호출될 메서드들을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889462" y="1794310"/>
            <a:ext cx="7294908" cy="3882235"/>
            <a:chOff x="447675" y="1758575"/>
            <a:chExt cx="8248650" cy="4876799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47675" y="1758575"/>
              <a:ext cx="8248650" cy="1781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7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736117" y="3539749"/>
              <a:ext cx="7572375" cy="3095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14607" y="1539028"/>
            <a:ext cx="6807890" cy="44416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449899"/>
            <a:ext cx="69872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action-mybatis.xml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874230" y="1818861"/>
            <a:ext cx="7176466" cy="3123578"/>
            <a:chOff x="466725" y="2700338"/>
            <a:chExt cx="8210550" cy="3752850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66725" y="2700338"/>
              <a:ext cx="8210550" cy="145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1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66725" y="4157663"/>
              <a:ext cx="8181975" cy="2295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65922" y="1530626"/>
            <a:ext cx="7533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action-service.xml</a:t>
            </a:r>
            <a:r>
              <a:rPr lang="ko-KR" altLang="en-US" sz="1200">
                <a:latin typeface="+mj-ea"/>
                <a:ea typeface="+mj-ea"/>
              </a:rPr>
              <a:t>에서는 </a:t>
            </a:r>
            <a:r>
              <a:rPr lang="en-US" altLang="ko-KR" sz="1200">
                <a:latin typeface="+mj-ea"/>
                <a:ea typeface="+mj-ea"/>
              </a:rPr>
              <a:t>AccountService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accDAO </a:t>
            </a:r>
            <a:r>
              <a:rPr lang="ko-KR" altLang="en-US" sz="1200">
                <a:latin typeface="+mj-ea"/>
                <a:ea typeface="+mj-ea"/>
              </a:rPr>
              <a:t>속성에 </a:t>
            </a:r>
            <a:r>
              <a:rPr lang="en-US" altLang="ko-KR" sz="1200">
                <a:latin typeface="+mj-ea"/>
                <a:ea typeface="+mj-ea"/>
              </a:rPr>
              <a:t>accDAO </a:t>
            </a:r>
            <a:r>
              <a:rPr lang="ko-KR" altLang="en-US" sz="1200">
                <a:latin typeface="+mj-ea"/>
                <a:ea typeface="+mj-ea"/>
              </a:rPr>
              <a:t>빈을 주입하도록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45977" y="1807625"/>
            <a:ext cx="6745150" cy="16370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25.4.2 </a:t>
            </a:r>
            <a:r>
              <a:rPr lang="ko-KR" altLang="en-US" b="1"/>
              <a:t>마이바티스 관련 </a:t>
            </a:r>
            <a:r>
              <a:rPr lang="en-US" altLang="ko-KR" b="1"/>
              <a:t>XML </a:t>
            </a:r>
            <a:r>
              <a:rPr lang="ko-KR" altLang="en-US" b="1"/>
              <a:t>파일 설정하기</a:t>
            </a:r>
            <a:r>
              <a:rPr lang="en-US" altLang="ko-KR" b="1"/>
              <a:t> </a:t>
            </a:r>
            <a:endParaRPr lang="en-US" altLang="ko-KR" b="1" spc="-95"/>
          </a:p>
        </p:txBody>
      </p:sp>
      <p:sp>
        <p:nvSpPr>
          <p:cNvPr id="4" name="TextBox 3"/>
          <p:cNvSpPr txBox="1"/>
          <p:nvPr/>
        </p:nvSpPr>
        <p:spPr>
          <a:xfrm>
            <a:off x="998882" y="1928547"/>
            <a:ext cx="66393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다음과 같이 매퍼 파일인 </a:t>
            </a:r>
            <a:r>
              <a:rPr lang="en-US" altLang="ko-KR" sz="1200">
                <a:latin typeface="+mj-ea"/>
                <a:ea typeface="+mj-ea"/>
              </a:rPr>
              <a:t>account.xml</a:t>
            </a:r>
            <a:r>
              <a:rPr lang="ko-KR" altLang="en-US" sz="1200">
                <a:latin typeface="+mj-ea"/>
                <a:ea typeface="+mj-ea"/>
              </a:rPr>
              <a:t>을 준비합니다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946832" y="2301115"/>
            <a:ext cx="2133600" cy="1381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9" name="설명선 1(강조선) 8"/>
          <p:cNvSpPr/>
          <p:nvPr/>
        </p:nvSpPr>
        <p:spPr>
          <a:xfrm>
            <a:off x="6444618" y="2666311"/>
            <a:ext cx="855700" cy="322437"/>
          </a:xfrm>
          <a:prstGeom prst="accentCallout1">
            <a:avLst>
              <a:gd name="adj1" fmla="val 18750"/>
              <a:gd name="adj2" fmla="val -8333"/>
              <a:gd name="adj3" fmla="val 235372"/>
              <a:gd name="adj4" fmla="val -214966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r>
              <a:rPr lang="en-US" altLang="ko-KR" sz="1100"/>
              <a:t>sql</a:t>
            </a:r>
            <a:r>
              <a:rPr lang="ko-KR" altLang="en-US" sz="1100"/>
              <a:t>문 작성</a:t>
            </a:r>
            <a:endParaRPr lang="ko-KR" altLang="en-US" sz="1100"/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86409" y="1540565"/>
            <a:ext cx="7464287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매퍼 파일에서는 두 개의 </a:t>
            </a:r>
            <a:r>
              <a:rPr lang="en-US" altLang="ko-KR" sz="1200">
                <a:latin typeface="+mj-ea"/>
                <a:ea typeface="+mj-ea"/>
              </a:rPr>
              <a:t>update</a:t>
            </a:r>
            <a:r>
              <a:rPr lang="ko-KR" altLang="en-US" sz="1200">
                <a:latin typeface="+mj-ea"/>
                <a:ea typeface="+mj-ea"/>
              </a:rPr>
              <a:t>문으로 두 명의 계좌 잔고를 갱신합니다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910881" y="1898357"/>
            <a:ext cx="6815342" cy="4512725"/>
            <a:chOff x="452230" y="1817564"/>
            <a:chExt cx="8231669" cy="6342822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52230" y="1817564"/>
              <a:ext cx="8229600" cy="175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9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501924" y="3550286"/>
              <a:ext cx="8181975" cy="4610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25.4.3 </a:t>
            </a:r>
            <a:r>
              <a:rPr lang="ko-KR" altLang="en-US" b="1"/>
              <a:t>트랜잭션 관련 자바 클래스와 </a:t>
            </a:r>
            <a:r>
              <a:rPr lang="en-US" altLang="ko-KR" b="1"/>
              <a:t>JSP </a:t>
            </a:r>
            <a:r>
              <a:rPr lang="ko-KR" altLang="en-US" b="1"/>
              <a:t>파일 구현하기</a:t>
            </a:r>
            <a:r>
              <a:rPr lang="en-US" altLang="ko-KR" b="1"/>
              <a:t> </a:t>
            </a:r>
            <a:endParaRPr lang="en-US" altLang="ko-KR" b="1" spc="-95"/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986087" y="1790048"/>
            <a:ext cx="2257425" cy="3800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449899"/>
            <a:ext cx="7464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컨트롤러에서는 속성 </a:t>
            </a:r>
            <a:r>
              <a:rPr lang="en-US" altLang="ko-KR" sz="1200">
                <a:latin typeface="+mj-ea"/>
                <a:ea typeface="+mj-ea"/>
              </a:rPr>
              <a:t>accService</a:t>
            </a:r>
            <a:r>
              <a:rPr lang="ko-KR" altLang="en-US" sz="1200">
                <a:latin typeface="+mj-ea"/>
                <a:ea typeface="+mj-ea"/>
              </a:rPr>
              <a:t>에 빈을 주입하기 위해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를 구현합니다</a:t>
            </a:r>
            <a:r>
              <a:rPr lang="en-US" altLang="ko-KR" sz="1200">
                <a:latin typeface="+mj-ea"/>
                <a:ea typeface="+mj-ea"/>
              </a:rPr>
              <a:t>. /account/sendMoney.do</a:t>
            </a:r>
            <a:r>
              <a:rPr lang="ko-KR" altLang="en-US" sz="1200">
                <a:latin typeface="+mj-ea"/>
                <a:ea typeface="+mj-ea"/>
              </a:rPr>
              <a:t>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요청 시 </a:t>
            </a:r>
            <a:r>
              <a:rPr lang="en-US" altLang="ko-KR" sz="1200">
                <a:latin typeface="+mj-ea"/>
                <a:ea typeface="+mj-ea"/>
              </a:rPr>
              <a:t>sendMoney() </a:t>
            </a:r>
            <a:r>
              <a:rPr lang="ko-KR" altLang="en-US" sz="1200">
                <a:latin typeface="+mj-ea"/>
                <a:ea typeface="+mj-ea"/>
              </a:rPr>
              <a:t>메서드를 호출해 계좌 이체 작업을 수행합니다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79004" y="1911564"/>
            <a:ext cx="6679096" cy="42285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14339" name="설명선 1(강조선) 14338"/>
          <p:cNvSpPr/>
          <p:nvPr/>
        </p:nvSpPr>
        <p:spPr>
          <a:xfrm>
            <a:off x="6302086" y="2820620"/>
            <a:ext cx="2244437" cy="311727"/>
          </a:xfrm>
          <a:prstGeom prst="accent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r>
              <a:rPr lang="en-US" altLang="ko-KR" sz="1100"/>
              <a:t>action-servlet.xm l  </a:t>
            </a:r>
            <a:r>
              <a:rPr lang="ko-KR" altLang="en-US" sz="1100"/>
              <a:t>빈주입</a:t>
            </a:r>
            <a:endParaRPr lang="ko-KR" altLang="en-US" sz="1100"/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65922" y="1449899"/>
            <a:ext cx="7454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AccountService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서비스 클래스의 메서드는 단위 기능을 수행하므로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@Transactional </a:t>
            </a:r>
            <a:r>
              <a:rPr lang="ko-KR" altLang="en-US" sz="1200">
                <a:latin typeface="+mj-ea"/>
                <a:ea typeface="+mj-ea"/>
              </a:rPr>
              <a:t>애너테이션을 서비스 클래스에 적용해 메서드별로 트랜잭션을 적용합니다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07463" y="1911564"/>
            <a:ext cx="6971265" cy="38747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15364" name="설명선 1(강조선) 15363"/>
          <p:cNvSpPr/>
          <p:nvPr/>
        </p:nvSpPr>
        <p:spPr>
          <a:xfrm>
            <a:off x="5400600" y="5081155"/>
            <a:ext cx="2524992" cy="358486"/>
          </a:xfrm>
          <a:prstGeom prst="accentCallout1">
            <a:avLst>
              <a:gd name="adj1" fmla="val 28989"/>
              <a:gd name="adj2" fmla="val -4748"/>
              <a:gd name="adj3" fmla="val 5996"/>
              <a:gd name="adj4" fmla="val -3014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r>
              <a:rPr lang="ko-KR" altLang="en-US" sz="1100"/>
              <a:t>작업단위(</a:t>
            </a:r>
            <a:r>
              <a:rPr lang="en-US" altLang="ko-KR" sz="1100"/>
              <a:t>DB</a:t>
            </a:r>
            <a:r>
              <a:rPr lang="ko-KR" altLang="en-US" sz="1100"/>
              <a:t>연동 관련</a:t>
            </a:r>
            <a:r>
              <a:rPr lang="en-US" altLang="ko-KR" sz="1100"/>
              <a:t>DML</a:t>
            </a:r>
            <a:r>
              <a:rPr lang="ko-KR" altLang="en-US" sz="1100"/>
              <a:t>)</a:t>
            </a:r>
            <a:endParaRPr lang="ko-KR" altLang="en-US" sz="1100"/>
          </a:p>
        </p:txBody>
      </p:sp>
      <p:sp>
        <p:nvSpPr>
          <p:cNvPr id="15365" name="설명선 1(강조선) 15364"/>
          <p:cNvSpPr/>
          <p:nvPr/>
        </p:nvSpPr>
        <p:spPr>
          <a:xfrm>
            <a:off x="5425786" y="3961994"/>
            <a:ext cx="2524992" cy="358486"/>
          </a:xfrm>
          <a:prstGeom prst="accentCallout1">
            <a:avLst>
              <a:gd name="adj1" fmla="val 28989"/>
              <a:gd name="adj2" fmla="val -4748"/>
              <a:gd name="adj3" fmla="val 5996"/>
              <a:gd name="adj4" fmla="val -3014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1200"/>
              <a:t>action-service.xm l  </a:t>
            </a:r>
            <a:r>
              <a:rPr lang="ko-KR" altLang="en-US" sz="1200"/>
              <a:t>빈주입 </a:t>
            </a:r>
            <a:endParaRPr lang="ko-KR" altLang="en-US" sz="1200"/>
          </a:p>
        </p:txBody>
      </p:sp>
      <p:sp>
        <p:nvSpPr>
          <p:cNvPr id="15368" name="설명선 1(강조선) 15367"/>
          <p:cNvSpPr/>
          <p:nvPr/>
        </p:nvSpPr>
        <p:spPr>
          <a:xfrm>
            <a:off x="5304559" y="2057399"/>
            <a:ext cx="3382240" cy="623454"/>
          </a:xfrm>
          <a:prstGeom prst="accentCallout1">
            <a:avLst>
              <a:gd name="adj1" fmla="val 19773"/>
              <a:gd name="adj2" fmla="val -3212"/>
              <a:gd name="adj3" fmla="val 112500"/>
              <a:gd name="adj4" fmla="val -38333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ko-KR" altLang="en-US" sz="1100"/>
              <a:t>트랜잭션 전파(보급)에서 트랜잭션이 있으면</a:t>
            </a:r>
            <a:endParaRPr lang="ko-KR" altLang="en-US" sz="1100"/>
          </a:p>
          <a:p>
            <a:pPr/>
            <a:r>
              <a:rPr lang="ko-KR" altLang="en-US" sz="1100"/>
              <a:t>해당 트랜잭션 사용하고, 트랜잭션이 없으면 새로운 트랜잭션 생성한다.</a:t>
            </a:r>
            <a:endParaRPr lang="ko-KR" altLang="en-US" sz="1100"/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449899"/>
            <a:ext cx="7593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AccountDAO </a:t>
            </a:r>
            <a:r>
              <a:rPr lang="ko-KR" altLang="en-US" sz="1200">
                <a:latin typeface="+mj-ea"/>
                <a:ea typeface="+mj-ea"/>
              </a:rPr>
              <a:t>클래스에서는 각 예금자 계좌를 갱신하는 메서드를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44826" y="1726898"/>
            <a:ext cx="6702909" cy="41806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16387" name="설명선 1(강조선) 16386"/>
          <p:cNvSpPr/>
          <p:nvPr/>
        </p:nvSpPr>
        <p:spPr>
          <a:xfrm>
            <a:off x="4572000" y="2509404"/>
            <a:ext cx="2291195" cy="342899"/>
          </a:xfrm>
          <a:prstGeom prst="accentCallout1">
            <a:avLst>
              <a:gd name="adj1" fmla="val 22845"/>
              <a:gd name="adj2" fmla="val -3724"/>
              <a:gd name="adj3" fmla="val 112500"/>
              <a:gd name="adj4" fmla="val -38333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r>
              <a:rPr lang="en-US" altLang="ko-KR" sz="1200"/>
              <a:t>action-mybatis.xml </a:t>
            </a:r>
            <a:r>
              <a:rPr lang="ko-KR" altLang="en-US" sz="1200"/>
              <a:t> 빈주입 </a:t>
            </a:r>
            <a:endParaRPr lang="ko-KR" altLang="en-US" sz="1200"/>
          </a:p>
        </p:txBody>
      </p:sp>
      <p:sp>
        <p:nvSpPr>
          <p:cNvPr id="16388" name="구름 모양 설명선 16387"/>
          <p:cNvSpPr/>
          <p:nvPr/>
        </p:nvSpPr>
        <p:spPr>
          <a:xfrm>
            <a:off x="3652447" y="5796644"/>
            <a:ext cx="5204537" cy="622800"/>
          </a:xfrm>
          <a:prstGeom prst="cloud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/>
            <a:r>
              <a:rPr lang="en-US" altLang="ko-KR" sz="1200"/>
              <a:t>DAO</a:t>
            </a:r>
            <a:r>
              <a:rPr lang="ko-KR" altLang="en-US" sz="1200"/>
              <a:t>클래스에 앞서 </a:t>
            </a:r>
            <a:r>
              <a:rPr lang="en-US" altLang="ko-KR" sz="1200"/>
              <a:t>service </a:t>
            </a:r>
            <a:r>
              <a:rPr lang="ko-KR" altLang="en-US" sz="1200"/>
              <a:t>클래스가   없다면?</a:t>
            </a:r>
            <a:endParaRPr lang="ko-KR" altLang="en-US" sz="1200"/>
          </a:p>
          <a:p>
            <a:pPr/>
            <a:r>
              <a:rPr lang="ko-KR" altLang="en-US" sz="1200"/>
              <a:t>트랜잭션은 가능할까?</a:t>
            </a:r>
            <a:endParaRPr lang="ko-KR" altLang="en-US" sz="1200"/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86409" y="1530626"/>
            <a:ext cx="7464287" cy="44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http://localhost:8090/pro25/account/sendMoney.do</a:t>
            </a:r>
            <a:r>
              <a:rPr lang="ko-KR" altLang="en-US" sz="1200">
                <a:latin typeface="+mj-ea"/>
                <a:ea typeface="+mj-ea"/>
              </a:rPr>
              <a:t>로 요청하여 정상적으로 계좌 이체가 이루어진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경우의 결과를 확인합니다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5435" y="3627783"/>
            <a:ext cx="7305261" cy="44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로 조회하면 홍길동의 계좌에서 김유신의 계좌로 </a:t>
            </a:r>
            <a:r>
              <a:rPr lang="en-US" altLang="ko-KR" sz="1200">
                <a:latin typeface="+mj-ea"/>
                <a:ea typeface="+mj-ea"/>
              </a:rPr>
              <a:t>5,000,000</a:t>
            </a:r>
            <a:r>
              <a:rPr lang="ko-KR" altLang="en-US" sz="1200">
                <a:latin typeface="+mj-ea"/>
                <a:ea typeface="+mj-ea"/>
              </a:rPr>
              <a:t>만 원이 이체된 것을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095793" y="2064027"/>
            <a:ext cx="4200525" cy="1295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157706" y="4331597"/>
            <a:ext cx="3095625" cy="600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4398065" y="4502426"/>
            <a:ext cx="855266" cy="42924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21195" y="1438746"/>
            <a:ext cx="7394712" cy="445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ko-KR" altLang="en-US" sz="1200">
                <a:latin typeface="+mj-ea"/>
                <a:ea typeface="+mj-ea"/>
              </a:rPr>
              <a:t>이번에는 트랜잭션을 적용하지 않은 경우의 실행 결과를 보겠습니다</a:t>
            </a:r>
            <a:r>
              <a:rPr lang="en-US" altLang="ko-KR" sz="1200">
                <a:latin typeface="+mj-ea"/>
                <a:ea typeface="+mj-ea"/>
              </a:rPr>
              <a:t>. AccountService.java</a:t>
            </a:r>
            <a:r>
              <a:rPr lang="ko-KR" altLang="en-US" sz="1200">
                <a:latin typeface="+mj-ea"/>
                <a:ea typeface="+mj-ea"/>
              </a:rPr>
              <a:t>에서 다음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부분을 주석 처리합니다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44217" y="1900411"/>
            <a:ext cx="6991558" cy="17095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665922" y="1421944"/>
            <a:ext cx="7176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en-US" altLang="ko-KR" sz="1200">
                <a:latin typeface="+mj-ea"/>
                <a:ea typeface="+mj-ea"/>
              </a:rPr>
              <a:t>account.xml</a:t>
            </a:r>
            <a:r>
              <a:rPr lang="ko-KR" altLang="en-US" sz="1200">
                <a:latin typeface="+mj-ea"/>
                <a:ea typeface="+mj-ea"/>
              </a:rPr>
              <a:t>의 두 번째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문에 일부러 문법 오류를 발생시킵니다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54156" y="1698943"/>
            <a:ext cx="6394796" cy="42092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6250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9.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에서 예금자들의 잔고를 원래대로 되돌린 후</a:t>
            </a:r>
            <a:r>
              <a:rPr lang="en-US" altLang="ko-KR" sz="1200">
                <a:latin typeface="+mj-ea"/>
                <a:ea typeface="+mj-ea"/>
              </a:rPr>
              <a:t>, </a:t>
            </a:r>
            <a:r>
              <a:rPr lang="ko-KR" altLang="en-US" sz="1200">
                <a:latin typeface="+mj-ea"/>
                <a:ea typeface="+mj-ea"/>
              </a:rPr>
              <a:t>즉 </a:t>
            </a:r>
            <a:r>
              <a:rPr lang="en-US" altLang="ko-KR" sz="1200">
                <a:latin typeface="+mj-ea"/>
                <a:ea typeface="+mj-ea"/>
              </a:rPr>
              <a:t>10,000,000</a:t>
            </a:r>
            <a:r>
              <a:rPr lang="ko-KR" altLang="en-US" sz="1200">
                <a:latin typeface="+mj-ea"/>
                <a:ea typeface="+mj-ea"/>
              </a:rPr>
              <a:t>원으로 갱신한 후 브라우저에서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http://localhost:8090/pro25/account/sendMoney.do</a:t>
            </a:r>
            <a:r>
              <a:rPr lang="ko-KR" altLang="en-US" sz="1200">
                <a:latin typeface="+mj-ea"/>
                <a:ea typeface="+mj-ea"/>
              </a:rPr>
              <a:t>로 요청하면 다음과 같은 오류가 발생합니다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105284" y="2050712"/>
            <a:ext cx="6426536" cy="38564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86409" y="1560443"/>
            <a:ext cx="7901608" cy="4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10.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로 각 계좌 잔고를 조회해 보면 홍길동의 잔고는 </a:t>
            </a:r>
            <a:r>
              <a:rPr lang="en-US" altLang="ko-KR" sz="1200">
                <a:latin typeface="+mj-ea"/>
                <a:ea typeface="+mj-ea"/>
              </a:rPr>
              <a:t>5,000,000</a:t>
            </a:r>
            <a:r>
              <a:rPr lang="ko-KR" altLang="en-US" sz="1200">
                <a:latin typeface="+mj-ea"/>
                <a:ea typeface="+mj-ea"/>
              </a:rPr>
              <a:t>원이 감소했으나 김유신의 잔고는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10,000,000</a:t>
            </a:r>
            <a:r>
              <a:rPr lang="ko-KR" altLang="en-US" sz="1200">
                <a:latin typeface="+mj-ea"/>
                <a:ea typeface="+mj-ea"/>
              </a:rPr>
              <a:t>원 그대로인 것을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5119" y="3873363"/>
            <a:ext cx="8328991" cy="449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11. </a:t>
            </a:r>
            <a:r>
              <a:rPr lang="ko-KR" altLang="en-US" sz="1200">
                <a:latin typeface="+mj-ea"/>
                <a:ea typeface="+mj-ea"/>
              </a:rPr>
              <a:t>트랜잭션을 적용한 후 브라우저에서 요청한 결과를 확인하기에 앞서 원래대로 주석을 해제합니다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 </a:t>
            </a:r>
            <a:r>
              <a:rPr lang="ko-KR" altLang="en-US" sz="1200">
                <a:latin typeface="+mj-ea"/>
                <a:ea typeface="+mj-ea"/>
              </a:rPr>
              <a:t>그리고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로 다시 예금자들의 잔고를 </a:t>
            </a:r>
            <a:r>
              <a:rPr lang="en-US" altLang="ko-KR" sz="1200">
                <a:latin typeface="+mj-ea"/>
                <a:ea typeface="+mj-ea"/>
              </a:rPr>
              <a:t>10,000,000</a:t>
            </a:r>
            <a:r>
              <a:rPr lang="ko-KR" altLang="en-US" sz="1200">
                <a:latin typeface="+mj-ea"/>
                <a:ea typeface="+mj-ea"/>
              </a:rPr>
              <a:t>원으로 변경합니다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76300" y="4409746"/>
            <a:ext cx="6884504" cy="16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466354" y="2218497"/>
            <a:ext cx="3038475" cy="552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4669614" y="2405270"/>
            <a:ext cx="965873" cy="3656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520687"/>
            <a:ext cx="72853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12. </a:t>
            </a:r>
            <a:r>
              <a:rPr lang="en-US" altLang="ko-KR" sz="1200">
                <a:latin typeface="+mj-ea"/>
                <a:ea typeface="+mj-ea"/>
              </a:rPr>
              <a:t>http://localhost:8090/pro25/account/sendMoney.do</a:t>
            </a:r>
            <a:r>
              <a:rPr lang="ko-KR" altLang="en-US" sz="1200">
                <a:latin typeface="+mj-ea"/>
                <a:ea typeface="+mj-ea"/>
              </a:rPr>
              <a:t>로 요청하면 또다시 오류가 발생합니다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257300" y="1888337"/>
            <a:ext cx="6356074" cy="3836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530626"/>
            <a:ext cx="7464287" cy="44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13.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로 각 계좌 잔고를 조회합니다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이번에는 트랜잭션이 적용되었으므로 김유신의 잔고는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 물론이고 오류가 발생하지 않은 홍길동의 잔고도 원래의 금액으로 롤백이 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502177" y="2178741"/>
            <a:ext cx="3086100" cy="552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4731026" y="2325757"/>
            <a:ext cx="857251" cy="4054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grpSp>
        <p:nvGrpSpPr>
          <p:cNvPr id="4" name="그룹 3"/>
          <p:cNvGrpSpPr/>
          <p:nvPr/>
        </p:nvGrpSpPr>
        <p:grpSpPr>
          <a:xfrm rot="0">
            <a:off x="724728" y="2377280"/>
            <a:ext cx="7187648" cy="2916713"/>
            <a:chOff x="495300" y="1733550"/>
            <a:chExt cx="8153400" cy="3542216"/>
          </a:xfrm>
        </p:grpSpPr>
        <p:pic>
          <p:nvPicPr>
            <p:cNvPr id="2457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95300" y="1733550"/>
              <a:ext cx="8153400" cy="339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TextBox 2"/>
            <p:cNvSpPr txBox="1"/>
            <p:nvPr/>
          </p:nvSpPr>
          <p:spPr>
            <a:xfrm>
              <a:off x="934279" y="4830452"/>
              <a:ext cx="1371600" cy="445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altLang="ko-KR"/>
                <a:t>...</a:t>
              </a:r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24728" y="1585887"/>
            <a:ext cx="6650107" cy="2769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ko-KR" altLang="en-US" sz="1200" b="1">
                <a:solidFill>
                  <a:srgbClr val="c00000"/>
                </a:solidFill>
                <a:latin typeface="+mj-ea"/>
                <a:ea typeface="+mj-ea"/>
              </a:rPr>
              <a:t>웹 애플리케이션의 트랜잭션은 대부분 서비스 클래스에 적용합니다</a:t>
            </a:r>
            <a:r>
              <a:rPr lang="en-US" altLang="ko-KR" sz="1200" b="1">
                <a:solidFill>
                  <a:srgbClr val="c00000"/>
                </a:solidFill>
                <a:latin typeface="+mj-ea"/>
                <a:ea typeface="+mj-ea"/>
              </a:rPr>
              <a:t>.(24</a:t>
            </a:r>
            <a:r>
              <a:rPr lang="ko-KR" altLang="en-US" sz="1200" b="1">
                <a:solidFill>
                  <a:srgbClr val="c00000"/>
                </a:solidFill>
                <a:latin typeface="+mj-ea"/>
                <a:ea typeface="+mj-ea"/>
              </a:rPr>
              <a:t>장에서 이미 코드됨)</a:t>
            </a:r>
            <a:endParaRPr lang="ko-KR" altLang="en-US" sz="1200" b="1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4643" y="2933566"/>
            <a:ext cx="4104861" cy="19878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24579" name="설명선 1(강조선) 24578"/>
          <p:cNvSpPr/>
          <p:nvPr/>
        </p:nvSpPr>
        <p:spPr>
          <a:xfrm>
            <a:off x="2076845" y="2088232"/>
            <a:ext cx="623454" cy="218208"/>
          </a:xfrm>
          <a:prstGeom prst="accent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r>
              <a:rPr lang="en-US" altLang="ko-KR" sz="1200"/>
              <a:t>pro24</a:t>
            </a:r>
            <a:endParaRPr lang="en-US" altLang="ko-KR" sz="1200"/>
          </a:p>
        </p:txBody>
      </p:sp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25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트랜잭션 기능 사용하기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1027551" y="1585887"/>
            <a:ext cx="5633189" cy="2769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/>
            <a:r>
              <a:rPr lang="ko-KR" altLang="en-US" sz="1200"/>
              <a:t> 31장 1159쪽 예 / 장바구니 작업단위 - 장바구니에 담기전에 해당상품 개수를 조회</a:t>
            </a:r>
            <a:endParaRPr lang="ko-KR" altLang="en-US" sz="1200"/>
          </a:p>
        </p:txBody>
      </p:sp>
      <p:sp>
        <p:nvSpPr>
          <p:cNvPr id="9" name="TextBox 8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25.4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트랜잭션 기능 적용해 계좌 이체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24583" name="그림 24582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960517" y="2179808"/>
            <a:ext cx="6863324" cy="2790342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sp>
        <p:nvSpPr>
          <p:cNvPr id="24584" name="직사각형 24583"/>
          <p:cNvSpPr/>
          <p:nvPr/>
        </p:nvSpPr>
        <p:spPr>
          <a:xfrm>
            <a:off x="863967" y="2108246"/>
            <a:ext cx="5729468" cy="297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TotalTime>0</ep:TotalTime>
  <ep:HyperlinkBase/>
  <ep:Application>Hancom Office Hanshow 2010</ep:Application>
  <ep:AppVersion>8.0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cp:contentStatus/>
  <dcterms:created xsi:type="dcterms:W3CDTF">2018-08-29T04:30:46.000</dcterms:created>
  <dc:creator>SSEN Kim</dc:creator>
  <dc:description/>
  <cp:keywords/>
  <cp:lastModifiedBy>daewo</cp:lastModifiedBy>
  <dcterms:modified xsi:type="dcterms:W3CDTF">2020-08-04T08:21:09.904</dcterms:modified>
  <cp:revision>581</cp:revision>
  <dc:subject/>
  <dc:title>PowerPoint 프레젠테이션</dc:title>
</cp:coreProperties>
</file>