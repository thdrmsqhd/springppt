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51" r:id="rId31"/>
  </p:sldMasterIdLst>
  <p:notesMasterIdLst>
    <p:notesMasterId r:id="rId33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>
    <p:restoredLeft sz="13612"/>
    <p:restoredTop sz="94984"/>
  </p:normalViewPr>
  <p:slideViewPr>
    <p:cSldViewPr snapToGrid="0">
      <p:cViewPr varScale="1">
        <p:scale>
          <a:sx n="96" d="100"/>
          <a:sy n="96" d="100"/>
        </p:scale>
        <p:origin x="-906" y="-108"/>
      </p:cViewPr>
      <p:guideLst>
        <p:guide orient="horz" pos="1068"/>
        <p:guide pos="382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presProps" Target="presProps.xml"  /><Relationship Id="rId3" Type="http://schemas.openxmlformats.org/officeDocument/2006/relationships/slide" Target="slides/slide3.xml"  /><Relationship Id="rId30" Type="http://schemas.openxmlformats.org/officeDocument/2006/relationships/viewProps" Target="viewProps.xml"  /><Relationship Id="rId31" Type="http://schemas.openxmlformats.org/officeDocument/2006/relationships/slideMaster" Target="slideMasters/slideMaster1.xml"  /><Relationship Id="rId32" Type="http://schemas.openxmlformats.org/officeDocument/2006/relationships/theme" Target="theme/theme1.xml"  /><Relationship Id="rId33" Type="http://schemas.openxmlformats.org/officeDocument/2006/relationships/notesMaster" Target="notesMasters/notesMaster1.xml"  /><Relationship Id="rId34" Type="http://schemas.openxmlformats.org/officeDocument/2006/relationships/commentAuthors" Target="commentAuthors.xml"  /><Relationship Id="rId35" Type="http://schemas.openxmlformats.org/officeDocument/2006/relationships/tableStyles" Target="tableStyles.xml"  /><Relationship Id="rId4" Type="http://schemas.openxmlformats.org/officeDocument/2006/relationships/slide" Target="slides/slide4.xml"  /><Relationship Id="rId5" Type="http://schemas.openxmlformats.org/officeDocument/2006/relationships/slide" Target="slides/slide5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:a16="http://schemas.microsoft.com/office/drawing/2014/main" xmlns="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20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</a:t>
            </a:r>
            <a:r>
              <a:rPr lang="en-US" altLang="ko-KR" sz="2800"/>
              <a:t>AOP </a:t>
            </a:r>
            <a:r>
              <a:rPr lang="ko-KR" altLang="en-US" sz="2800"/>
              <a:t>기능</a:t>
            </a:r>
            <a:endParaRPr lang="ko-KR" altLang="en-US" sz="2800" spc="-89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20.1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관점 지향 프로그래밍의 등장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20.2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스프링에서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AOP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기능 사용하기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165" y="1431882"/>
            <a:ext cx="5019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기존 자바 코드로 메서드 기능 구현</a:t>
            </a:r>
            <a:endParaRPr lang="ko-KR" altLang="en-US" sz="1200" b="1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93913" y="1708881"/>
            <a:ext cx="7357235" cy="497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 rot="0">
            <a:off x="333021" y="1603540"/>
            <a:ext cx="7946955" cy="3915605"/>
            <a:chOff x="362156" y="1636643"/>
            <a:chExt cx="8658225" cy="44158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32766" y="1636643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362156" y="3747468"/>
              <a:ext cx="8658225" cy="230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60443"/>
            <a:ext cx="7494105" cy="14570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주기능인 회원 등급 기능 구현 시 로깅 기능</a:t>
            </a:r>
            <a:r>
              <a:rPr lang="en-US" altLang="ko-KR" sz="1200" b="1">
                <a:latin typeface="+mj-ea"/>
                <a:ea typeface="+mj-ea"/>
              </a:rPr>
              <a:t>, </a:t>
            </a:r>
            <a:r>
              <a:rPr lang="ko-KR" altLang="en-US" sz="1200" b="1">
                <a:latin typeface="+mj-ea"/>
                <a:ea typeface="+mj-ea"/>
              </a:rPr>
              <a:t>보안 기능</a:t>
            </a:r>
            <a:r>
              <a:rPr lang="en-US" altLang="ko-KR" sz="1200" b="1">
                <a:latin typeface="+mj-ea"/>
                <a:ea typeface="+mj-ea"/>
              </a:rPr>
              <a:t>, </a:t>
            </a:r>
            <a:r>
              <a:rPr lang="ko-KR" altLang="en-US" sz="1200" b="1">
                <a:latin typeface="+mj-ea"/>
                <a:ea typeface="+mj-ea"/>
              </a:rPr>
              <a:t>트랜잭션 기능등의 보조 기능을 일일이 구현해야함</a:t>
            </a:r>
            <a:r>
              <a:rPr lang="en-US" altLang="ko-KR" sz="1200" b="1">
                <a:latin typeface="+mj-ea"/>
                <a:ea typeface="+mj-ea"/>
              </a:rPr>
              <a:t>.</a:t>
            </a:r>
            <a:endParaRPr lang="en-US" altLang="ko-KR" sz="1200" b="1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규모가 있는 웹 애플리케이션일 경우 클래스의 메서드마다 이런 작업을 일일이 수작업으로 하기에는 시간도 많이 걸리고 소스 코드도 복잡해짐</a:t>
            </a:r>
            <a:endParaRPr lang="ko-KR" altLang="en-US" sz="1200" b="1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즉</a:t>
            </a:r>
            <a:r>
              <a:rPr lang="en-US" altLang="ko-KR" sz="1200" b="1">
                <a:latin typeface="+mj-ea"/>
                <a:ea typeface="+mj-ea"/>
              </a:rPr>
              <a:t>, </a:t>
            </a:r>
            <a:r>
              <a:rPr lang="ko-KR" altLang="en-US" sz="1200" b="1">
                <a:latin typeface="+mj-ea"/>
                <a:ea typeface="+mj-ea"/>
              </a:rPr>
              <a:t>유지관리에 문제가 생길 수 있음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4" name="아래쪽 화살표 3"/>
          <p:cNvSpPr/>
          <p:nvPr/>
        </p:nvSpPr>
        <p:spPr>
          <a:xfrm>
            <a:off x="3953996" y="3180521"/>
            <a:ext cx="409281" cy="43732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05119" y="3836943"/>
            <a:ext cx="7494105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관점 지향 프로그래밍</a:t>
            </a:r>
            <a:r>
              <a:rPr lang="en-US" altLang="ko-KR" sz="1200" b="1">
                <a:latin typeface="+mj-ea"/>
                <a:ea typeface="+mj-ea"/>
              </a:rPr>
              <a:t>(Aspect Oriented Programming, AOP)</a:t>
            </a:r>
            <a:r>
              <a:rPr lang="ko-KR" altLang="en-US" sz="1200" b="1">
                <a:latin typeface="+mj-ea"/>
                <a:ea typeface="+mj-ea"/>
              </a:rPr>
              <a:t>를 이용해서 주기능과 보조 기능을 분리해서 메서드에 적용함</a:t>
            </a:r>
            <a:endParaRPr lang="ko-KR" altLang="en-US" sz="12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4274" y="1480930"/>
            <a:ext cx="4579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/>
              <a:t>AOP</a:t>
            </a:r>
            <a:r>
              <a:rPr lang="ko-KR" altLang="en-US"/>
              <a:t>를 적용한 쇼핑몰 구조도</a:t>
            </a:r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31433" y="1876425"/>
            <a:ext cx="74485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4274" y="1480930"/>
            <a:ext cx="4579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/>
              <a:t>AOP</a:t>
            </a:r>
            <a:r>
              <a:rPr lang="ko-KR" altLang="en-US"/>
              <a:t>를 적용한 쇼핑몰 구조도</a:t>
            </a:r>
            <a:endParaRPr lang="ko-KR" altLang="en-US"/>
          </a:p>
        </p:txBody>
      </p:sp>
      <p:pic>
        <p:nvPicPr>
          <p:cNvPr id="1029" name="그림 102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81125" y="797160"/>
            <a:ext cx="6381750" cy="51435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65060" y="1495047"/>
            <a:ext cx="1926705" cy="26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여러 가지 </a:t>
            </a:r>
            <a:r>
              <a:rPr lang="en-US" altLang="ko-KR" sz="1200" b="1">
                <a:latin typeface="+mj-ea"/>
                <a:ea typeface="+mj-ea"/>
              </a:rPr>
              <a:t>AOP </a:t>
            </a:r>
            <a:r>
              <a:rPr lang="ko-KR" altLang="en-US" sz="1200" b="1">
                <a:latin typeface="+mj-ea"/>
                <a:ea typeface="+mj-ea"/>
              </a:rPr>
              <a:t>관련 용어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48140" y="1772046"/>
          <a:ext cx="7391400" cy="186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156"/>
                <a:gridCol w="5675244"/>
              </a:tblGrid>
              <a:tr h="185963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용어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9060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aspect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구현하고자 하는 보조 기능을 의미합니다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505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advice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aspect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의 실제 구현체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의미합니다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메서드 호출을 기준으로 여러 지점에서 실행됩니다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3963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joinpoint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advice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적용하는 지점을 의미합니다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method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결합점만 제공합니다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pointcut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advice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가 적용되는 대상을 지정합니다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패키지이름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클래스이름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메서드이름을 정규식으로 지정하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여 사용합니다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05841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target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advice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가 적용되는 클래스를 의미합니다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023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weaving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advice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주기능에 적용하는 것을 의미합니다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74644" y="4013393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프레임워크에서 </a:t>
            </a:r>
            <a:r>
              <a:rPr lang="en-US" altLang="ko-KR" sz="1200" b="1">
                <a:latin typeface="+mj-ea"/>
                <a:ea typeface="+mj-ea"/>
              </a:rPr>
              <a:t>AOP </a:t>
            </a:r>
            <a:r>
              <a:rPr lang="ko-KR" altLang="en-US" sz="1200" b="1">
                <a:latin typeface="+mj-ea"/>
                <a:ea typeface="+mj-ea"/>
              </a:rPr>
              <a:t>기능을 구현하는 방법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4644" y="4305948"/>
            <a:ext cx="7146235" cy="635622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스프링 프레임워크에서 제공하는 </a:t>
            </a:r>
            <a:r>
              <a:rPr lang="en-US" altLang="ko-KR" sz="1200">
                <a:latin typeface="+mj-ea"/>
                <a:ea typeface="+mj-ea"/>
              </a:rPr>
              <a:t>API</a:t>
            </a:r>
            <a:r>
              <a:rPr lang="ko-KR" altLang="en-US" sz="1200">
                <a:latin typeface="+mj-ea"/>
                <a:ea typeface="+mj-ea"/>
              </a:rPr>
              <a:t>를 이용하는 방법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@Aspect </a:t>
            </a:r>
            <a:r>
              <a:rPr lang="ko-KR" altLang="en-US" sz="1200">
                <a:latin typeface="+mj-ea"/>
                <a:ea typeface="+mj-ea"/>
              </a:rPr>
              <a:t>애너테이션을 이용하는 방법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340292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20.2.1 </a:t>
            </a:r>
            <a:r>
              <a:rPr lang="ko-KR" altLang="en-US" b="1"/>
              <a:t>스프링 </a:t>
            </a:r>
            <a:r>
              <a:rPr lang="en-US" altLang="ko-KR" b="1"/>
              <a:t>API</a:t>
            </a:r>
            <a:r>
              <a:rPr lang="ko-KR" altLang="en-US" b="1"/>
              <a:t>를 이용한 </a:t>
            </a:r>
            <a:r>
              <a:rPr lang="en-US" altLang="ko-KR" b="1"/>
              <a:t>AOP </a:t>
            </a:r>
            <a:r>
              <a:rPr lang="ko-KR" altLang="en-US" b="1"/>
              <a:t>기능 구현 과정</a:t>
            </a:r>
            <a:endParaRPr lang="en-US" altLang="ko-KR" b="1" spc="-95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26709" y="2284702"/>
            <a:ext cx="6718852" cy="1732943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타깃</a:t>
            </a:r>
            <a:r>
              <a:rPr lang="en-US" altLang="ko-KR" sz="1200">
                <a:latin typeface="+mj-ea"/>
                <a:ea typeface="+mj-ea"/>
              </a:rPr>
              <a:t>(Target) </a:t>
            </a:r>
            <a:r>
              <a:rPr lang="ko-KR" altLang="en-US" sz="1200">
                <a:latin typeface="+mj-ea"/>
                <a:ea typeface="+mj-ea"/>
              </a:rPr>
              <a:t>클래스를 지정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어드바이스</a:t>
            </a:r>
            <a:r>
              <a:rPr lang="en-US" altLang="ko-KR" sz="1200">
                <a:latin typeface="+mj-ea"/>
                <a:ea typeface="+mj-ea"/>
              </a:rPr>
              <a:t>(Advice) </a:t>
            </a:r>
            <a:r>
              <a:rPr lang="ko-KR" altLang="en-US" sz="1200">
                <a:latin typeface="+mj-ea"/>
                <a:ea typeface="+mj-ea"/>
              </a:rPr>
              <a:t>클래스를 지정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설정 파일에서 포인트컷</a:t>
            </a:r>
            <a:r>
              <a:rPr lang="en-US" altLang="ko-KR" sz="1200">
                <a:latin typeface="+mj-ea"/>
                <a:ea typeface="+mj-ea"/>
              </a:rPr>
              <a:t>(Pointcut)</a:t>
            </a:r>
            <a:r>
              <a:rPr lang="ko-KR" altLang="en-US" sz="1200">
                <a:latin typeface="+mj-ea"/>
                <a:ea typeface="+mj-ea"/>
              </a:rPr>
              <a:t>을 설정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설정 파일에서 어드바이스와 포인트컷을 결합하는 어드바이저를 설정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설정 파일에서 스프링의 </a:t>
            </a:r>
            <a:r>
              <a:rPr lang="en-US" altLang="ko-KR" sz="1200">
                <a:latin typeface="+mj-ea"/>
                <a:ea typeface="+mj-ea"/>
              </a:rPr>
              <a:t>ProxyFactoryBean </a:t>
            </a:r>
            <a:r>
              <a:rPr lang="ko-KR" altLang="en-US" sz="1200">
                <a:latin typeface="+mj-ea"/>
                <a:ea typeface="+mj-ea"/>
              </a:rPr>
              <a:t>클래스를 이용해 타깃에 어드바이스를 설정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getBean() </a:t>
            </a:r>
            <a:r>
              <a:rPr lang="ko-KR" altLang="en-US" sz="1200">
                <a:latin typeface="+mj-ea"/>
                <a:ea typeface="+mj-ea"/>
              </a:rPr>
              <a:t>메서드로 빈 객체에 접근해 사용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6709" y="2007703"/>
            <a:ext cx="3816626" cy="26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AOP </a:t>
            </a:r>
            <a:r>
              <a:rPr lang="ko-KR" altLang="en-US" sz="1200" b="1">
                <a:latin typeface="+mj-ea"/>
                <a:ea typeface="+mj-ea"/>
              </a:rPr>
              <a:t>기능 구현 과정</a:t>
            </a:r>
            <a:endParaRPr lang="ko-KR" altLang="en-US" sz="12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340292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20.2.1 </a:t>
            </a:r>
            <a:r>
              <a:rPr lang="ko-KR" altLang="en-US" b="1"/>
              <a:t>스프링 </a:t>
            </a:r>
            <a:r>
              <a:rPr lang="en-US" altLang="ko-KR" b="1"/>
              <a:t>API</a:t>
            </a:r>
            <a:r>
              <a:rPr lang="ko-KR" altLang="en-US" b="1"/>
              <a:t>를 이용한 </a:t>
            </a:r>
            <a:r>
              <a:rPr lang="en-US" altLang="ko-KR" b="1"/>
              <a:t>AOP </a:t>
            </a:r>
            <a:r>
              <a:rPr lang="ko-KR" altLang="en-US" b="1"/>
              <a:t>기능 구현 과정</a:t>
            </a:r>
            <a:endParaRPr lang="en-US" altLang="ko-KR" b="1" spc="-95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6709" y="2007703"/>
            <a:ext cx="3816626" cy="26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AOP </a:t>
            </a:r>
            <a:r>
              <a:rPr lang="ko-KR" altLang="en-US" sz="1200" b="1">
                <a:latin typeface="+mj-ea"/>
                <a:ea typeface="+mj-ea"/>
              </a:rPr>
              <a:t>기능 구현 과정</a:t>
            </a:r>
            <a:endParaRPr lang="ko-KR" altLang="en-US" sz="1200" b="1">
              <a:latin typeface="+mj-ea"/>
              <a:ea typeface="+mj-ea"/>
            </a:endParaRPr>
          </a:p>
        </p:txBody>
      </p:sp>
      <p:grpSp>
        <p:nvGrpSpPr>
          <p:cNvPr id="29" name="그룹 28"/>
          <p:cNvGrpSpPr/>
          <p:nvPr/>
        </p:nvGrpSpPr>
        <p:grpSpPr>
          <a:xfrm rot="0">
            <a:off x="1745465" y="2284702"/>
            <a:ext cx="5525026" cy="4441927"/>
            <a:chOff x="1705688" y="2433204"/>
            <a:chExt cx="5762210" cy="4838844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1752276" y="2433204"/>
              <a:ext cx="5700089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타깃</a:t>
              </a:r>
              <a:r>
                <a:rPr lang="en-US" altLang="ko-KR" sz="1000" b="1">
                  <a:solidFill>
                    <a:srgbClr val="c00000"/>
                  </a:solidFill>
                  <a:latin typeface="+mj-ea"/>
                  <a:ea typeface="+mj-ea"/>
                </a:rPr>
                <a:t>(Target) </a:t>
              </a: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클래스를 지정</a:t>
              </a:r>
              <a:endParaRPr lang="ko-KR" altLang="en-US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1752277" y="3291948"/>
              <a:ext cx="5700089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어드바이스</a:t>
              </a:r>
              <a:r>
                <a:rPr lang="en-US" altLang="ko-KR" sz="1000" b="1">
                  <a:solidFill>
                    <a:srgbClr val="c00000"/>
                  </a:solidFill>
                  <a:latin typeface="+mj-ea"/>
                  <a:ea typeface="+mj-ea"/>
                </a:rPr>
                <a:t>(Advice) </a:t>
              </a: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클래스를 지정</a:t>
              </a:r>
              <a:endParaRPr lang="en-US" altLang="ko-KR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1721219" y="5043882"/>
              <a:ext cx="5731148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설정 파일에서 어드바이스와 포인트컷을 결합하는 어드바이저를 설정</a:t>
              </a:r>
              <a:endParaRPr lang="en-US" altLang="ko-KR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13" name="아래쪽 화살표 12"/>
            <p:cNvSpPr/>
            <p:nvPr/>
          </p:nvSpPr>
          <p:spPr>
            <a:xfrm>
              <a:off x="4383294" y="3012354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4383294" y="3838142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5" name="아래쪽 화살표 14"/>
            <p:cNvSpPr/>
            <p:nvPr/>
          </p:nvSpPr>
          <p:spPr>
            <a:xfrm>
              <a:off x="4383294" y="4663737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1705688" y="5950855"/>
              <a:ext cx="576221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설정 파일에서 스프링의 </a:t>
              </a:r>
              <a:r>
                <a:rPr lang="en-US" altLang="ko-KR" sz="1000" b="1">
                  <a:solidFill>
                    <a:srgbClr val="c00000"/>
                  </a:solidFill>
                  <a:latin typeface="+mj-ea"/>
                  <a:ea typeface="+mj-ea"/>
                </a:rPr>
                <a:t>ProxyFactoryBean </a:t>
              </a: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클래스를 이용해 타깃에 어드바이스를 설정</a:t>
              </a:r>
              <a:endParaRPr lang="en-US" altLang="ko-KR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1752278" y="4106962"/>
              <a:ext cx="5700089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설정 파일에서 포인트컷</a:t>
              </a:r>
              <a:r>
                <a:rPr lang="en-US" altLang="ko-KR" sz="1000" b="1">
                  <a:solidFill>
                    <a:srgbClr val="c00000"/>
                  </a:solidFill>
                  <a:latin typeface="+mj-ea"/>
                  <a:ea typeface="+mj-ea"/>
                </a:rPr>
                <a:t>(Pointcut)</a:t>
              </a: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을 설정</a:t>
              </a:r>
              <a:endParaRPr lang="ko-KR" altLang="en-US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아래쪽 화살표 24"/>
            <p:cNvSpPr/>
            <p:nvPr/>
          </p:nvSpPr>
          <p:spPr>
            <a:xfrm>
              <a:off x="4383294" y="5648762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1705688" y="6804909"/>
              <a:ext cx="5762210" cy="467139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>
                  <a:solidFill>
                    <a:srgbClr val="c00000"/>
                  </a:solidFill>
                  <a:latin typeface="+mj-ea"/>
                  <a:ea typeface="+mj-ea"/>
                </a:rPr>
                <a:t>getBean() </a:t>
              </a:r>
              <a:r>
                <a:rPr lang="ko-KR" altLang="en-US" sz="1000" b="1">
                  <a:solidFill>
                    <a:srgbClr val="c00000"/>
                  </a:solidFill>
                  <a:latin typeface="+mj-ea"/>
                  <a:ea typeface="+mj-ea"/>
                </a:rPr>
                <a:t>메서드로 빈 객체에 접근해 사용</a:t>
              </a:r>
              <a:endParaRPr lang="ko-KR" altLang="en-US" sz="1000" b="1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아래쪽 화살표 27"/>
            <p:cNvSpPr/>
            <p:nvPr/>
          </p:nvSpPr>
          <p:spPr>
            <a:xfrm>
              <a:off x="4382350" y="6499415"/>
              <a:ext cx="248479" cy="24847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sz="1000"/>
            </a:p>
          </p:txBody>
        </p:sp>
      </p:grp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7" name="그림 1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0987" y="1619250"/>
            <a:ext cx="8582025" cy="36195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45434" y="144088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</a:t>
            </a:r>
            <a:r>
              <a:rPr lang="en-US" altLang="ko-KR" sz="1200" b="1">
                <a:latin typeface="+mj-ea"/>
                <a:ea typeface="+mj-ea"/>
              </a:rPr>
              <a:t>API</a:t>
            </a:r>
            <a:r>
              <a:rPr lang="ko-KR" altLang="en-US" sz="1200" b="1">
                <a:latin typeface="+mj-ea"/>
                <a:ea typeface="+mj-ea"/>
              </a:rPr>
              <a:t>에서 제공하는 여러 가지 </a:t>
            </a:r>
            <a:r>
              <a:rPr lang="en-US" altLang="ko-KR" sz="1200" b="1">
                <a:latin typeface="+mj-ea"/>
                <a:ea typeface="+mj-ea"/>
              </a:rPr>
              <a:t>Advice </a:t>
            </a:r>
            <a:r>
              <a:rPr lang="ko-KR" altLang="en-US" sz="1200" b="1">
                <a:latin typeface="+mj-ea"/>
                <a:ea typeface="+mj-ea"/>
              </a:rPr>
              <a:t>인터페이스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09919" y="1717885"/>
          <a:ext cx="730041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3236411"/>
              </a:tblGrid>
              <a:tr h="20036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인터페이스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추상 메서드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MethodBeforeAdvice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before(Method method,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        Object[] args,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        Object target)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         throws Throwable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해당 메서드가 실행되기 전 실행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 gridSpan="3"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Method method: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대상 객체에서 실행된 메서드를 나타내는 메서드 객체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Object[] args: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메서드 인자 목록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• Object target: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대상 객체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AfterReturningAdvice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afterReturning(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Object returnValue,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Method method,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Object[] args,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Object target)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throws Throwable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해당 메서드가 실행된 후 실행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 gridSpan="3"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Object returnValue 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객체의 메서드가 반환하는 값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Method method: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객체에서 실행된 메서드를 나타내는 메서드 객체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Object[] args: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메서드 인자 목록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Object target: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ThrowsAdvice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afterThrowing(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Method method,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Object[] args,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Object target,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Exception ex)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해당 메서드에서 예외 발생 시 실행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370840">
                <a:tc gridSpan="3"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Method method: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객체에서 메서드를 나타내는 메서드 객체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Object[] args: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메서드 인자 목록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Object target: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Exception ex: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발생한 예외 타입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20467" y="1839402"/>
          <a:ext cx="7300411" cy="1214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3236411"/>
              </a:tblGrid>
              <a:tr h="200367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인터페이스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추상 메서드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MethodInterceptor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Object invoke(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MethodInvocation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invocation)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throws Throwable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해당 메서드의 실행 전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후와 예외</a:t>
                      </a:r>
                      <a:endParaRPr lang="ko-KR" altLang="en-US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발생 시 실행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279">
                <a:tc gridSpan="3">
                  <a:txBody>
                    <a:bodyPr vert="horz" lIns="91440" tIns="45720" rIns="91440" bIns="45720" anchor="t" anchorCtr="0"/>
                    <a:p>
                      <a:pPr lvl="0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MethodInvocation invocation: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대상 객체의 모든 정보를 담고 있는 객체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호출된 메서드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인자 등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>
                  <a:txBody>
                    <a:bodyPr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340292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20.2.2 </a:t>
            </a:r>
            <a:r>
              <a:rPr lang="ko-KR" altLang="en-US" b="1"/>
              <a:t>스프링 </a:t>
            </a:r>
            <a:r>
              <a:rPr lang="en-US" altLang="ko-KR" b="1"/>
              <a:t>API</a:t>
            </a:r>
            <a:r>
              <a:rPr lang="ko-KR" altLang="en-US" b="1"/>
              <a:t>를 이용한 </a:t>
            </a:r>
            <a:r>
              <a:rPr lang="en-US" altLang="ko-KR" b="1"/>
              <a:t>AOP </a:t>
            </a:r>
            <a:r>
              <a:rPr lang="ko-KR" altLang="en-US" b="1"/>
              <a:t>기능 실습</a:t>
            </a:r>
            <a:endParaRPr lang="en-US" altLang="ko-KR" b="1" spc="-95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799" y="1977887"/>
            <a:ext cx="7354957" cy="44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pro20</a:t>
            </a:r>
            <a:r>
              <a:rPr lang="ko-KR" altLang="en-US" sz="1200">
                <a:latin typeface="+mj-ea"/>
                <a:ea typeface="+mj-ea"/>
              </a:rPr>
              <a:t>을 만들고 </a:t>
            </a:r>
            <a:r>
              <a:rPr lang="en-US" altLang="ko-KR" sz="1200">
                <a:latin typeface="+mj-ea"/>
                <a:ea typeface="+mj-ea"/>
              </a:rPr>
              <a:t>lib </a:t>
            </a:r>
            <a:r>
              <a:rPr lang="ko-KR" altLang="en-US" sz="1200">
                <a:latin typeface="+mj-ea"/>
                <a:ea typeface="+mj-ea"/>
              </a:rPr>
              <a:t>폴더를 만들어 라이브러리 클래스 패스를 설정합니다</a:t>
            </a:r>
            <a:r>
              <a:rPr lang="en-US" altLang="ko-KR" sz="1200">
                <a:latin typeface="+mj-ea"/>
                <a:ea typeface="+mj-ea"/>
              </a:rPr>
              <a:t>.(19</a:t>
            </a:r>
            <a:r>
              <a:rPr lang="ko-KR" altLang="en-US" sz="1200">
                <a:latin typeface="+mj-ea"/>
                <a:ea typeface="+mj-ea"/>
              </a:rPr>
              <a:t>장참고</a:t>
            </a:r>
            <a:r>
              <a:rPr lang="en-US" altLang="ko-KR" sz="1200">
                <a:latin typeface="+mj-ea"/>
                <a:ea typeface="+mj-ea"/>
              </a:rPr>
              <a:t>) 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그리고 </a:t>
            </a:r>
            <a:r>
              <a:rPr lang="en-US" altLang="ko-KR" sz="1200">
                <a:latin typeface="+mj-ea"/>
                <a:ea typeface="+mj-ea"/>
              </a:rPr>
              <a:t>AOP </a:t>
            </a:r>
            <a:r>
              <a:rPr lang="ko-KR" altLang="en-US" sz="1200">
                <a:latin typeface="+mj-ea"/>
                <a:ea typeface="+mj-ea"/>
              </a:rPr>
              <a:t>설정 파일인 </a:t>
            </a:r>
            <a:r>
              <a:rPr lang="en-US" altLang="ko-KR" sz="1200">
                <a:latin typeface="+mj-ea"/>
                <a:ea typeface="+mj-ea"/>
              </a:rPr>
              <a:t>AOPTest.xml</a:t>
            </a:r>
            <a:r>
              <a:rPr lang="ko-KR" altLang="en-US" sz="1200">
                <a:latin typeface="+mj-ea"/>
                <a:ea typeface="+mj-ea"/>
              </a:rPr>
              <a:t>를 </a:t>
            </a:r>
            <a:r>
              <a:rPr lang="en-US" altLang="ko-KR" sz="1200">
                <a:latin typeface="+mj-ea"/>
                <a:ea typeface="+mj-ea"/>
              </a:rPr>
              <a:t>src </a:t>
            </a:r>
            <a:r>
              <a:rPr lang="ko-KR" altLang="en-US" sz="1200">
                <a:latin typeface="+mj-ea"/>
                <a:ea typeface="+mj-ea"/>
              </a:rPr>
              <a:t>패키지에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88779" y="2439552"/>
            <a:ext cx="215265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3429000" y="3445889"/>
            <a:ext cx="1023730" cy="1789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7" y="1520687"/>
            <a:ext cx="7444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AOP</a:t>
            </a:r>
            <a:r>
              <a:rPr lang="ko-KR" altLang="en-US" sz="1200">
                <a:latin typeface="+mj-ea"/>
                <a:ea typeface="+mj-ea"/>
              </a:rPr>
              <a:t>를 설정하는 </a:t>
            </a:r>
            <a:r>
              <a:rPr lang="en-US" altLang="ko-KR" sz="1200">
                <a:latin typeface="+mj-ea"/>
                <a:ea typeface="+mj-ea"/>
              </a:rPr>
              <a:t>AOPTest.xml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04460" y="1797686"/>
            <a:ext cx="7001289" cy="4340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6226" y="1253628"/>
            <a:ext cx="7255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이번에는 타깃 클래스인 </a:t>
            </a:r>
            <a:r>
              <a:rPr lang="en-US" altLang="ko-KR" sz="1200">
                <a:latin typeface="+mj-ea"/>
                <a:ea typeface="+mj-ea"/>
              </a:rPr>
              <a:t>Calculator </a:t>
            </a:r>
            <a:r>
              <a:rPr lang="ko-KR" altLang="en-US" sz="1200">
                <a:latin typeface="+mj-ea"/>
                <a:ea typeface="+mj-ea"/>
              </a:rPr>
              <a:t>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567742" y="1530627"/>
            <a:ext cx="5581645" cy="5295406"/>
            <a:chOff x="442913" y="185738"/>
            <a:chExt cx="8258175" cy="839152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42913" y="185738"/>
              <a:ext cx="8258175" cy="6486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42913" y="6672263"/>
              <a:ext cx="8239125" cy="1905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5922" y="1461052"/>
            <a:ext cx="7474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어드바이스 클래스인 </a:t>
            </a:r>
            <a:r>
              <a:rPr lang="en-US" altLang="ko-KR" sz="1200">
                <a:latin typeface="+mj-ea"/>
                <a:ea typeface="+mj-ea"/>
              </a:rPr>
              <a:t>LoggingAdvice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048785" y="1817564"/>
            <a:ext cx="6708499" cy="4864736"/>
            <a:chOff x="189258" y="1738051"/>
            <a:chExt cx="8248650" cy="5876925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89258" y="1738051"/>
              <a:ext cx="8248650" cy="150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89258" y="3243001"/>
              <a:ext cx="8239125" cy="4371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5739" y="1331844"/>
            <a:ext cx="7325138" cy="26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실행 클래스인 </a:t>
            </a:r>
            <a:r>
              <a:rPr lang="en-US" altLang="ko-KR" sz="1200">
                <a:latin typeface="+mj-ea"/>
                <a:ea typeface="+mj-ea"/>
              </a:rPr>
              <a:t>CalcTest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57170" y="1608843"/>
            <a:ext cx="6602275" cy="5085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3" y="1500809"/>
            <a:ext cx="7195930" cy="44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main() </a:t>
            </a:r>
            <a:r>
              <a:rPr lang="ko-KR" altLang="en-US" sz="1200">
                <a:latin typeface="+mj-ea"/>
                <a:ea typeface="+mj-ea"/>
              </a:rPr>
              <a:t>메서드가 있는 실행 클래스</a:t>
            </a:r>
            <a:r>
              <a:rPr lang="en-US" altLang="ko-KR" sz="1200">
                <a:latin typeface="+mj-ea"/>
                <a:ea typeface="+mj-ea"/>
              </a:rPr>
              <a:t>(CalcTest.java)</a:t>
            </a:r>
            <a:r>
              <a:rPr lang="ko-KR" altLang="en-US" sz="1200">
                <a:latin typeface="+mj-ea"/>
                <a:ea typeface="+mj-ea"/>
              </a:rPr>
              <a:t>가 보이는 상태에서 실행 버튼을 클릭해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02635" y="2143276"/>
            <a:ext cx="5943600" cy="20148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사각형 설명선 6"/>
          <p:cNvSpPr/>
          <p:nvPr/>
        </p:nvSpPr>
        <p:spPr>
          <a:xfrm>
            <a:off x="5872456" y="1639309"/>
            <a:ext cx="1979457" cy="487914"/>
          </a:xfrm>
          <a:prstGeom prst="wedgeRectCallout">
            <a:avLst>
              <a:gd name="adj1" fmla="val -46264"/>
              <a:gd name="adj2" fmla="val 8831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noAutofit/>
          </a:bodyPr>
          <a:lstStyle/>
          <a:p>
            <a:pPr algn="l" latinLnBrk="1">
              <a:spcAft>
                <a:spcPct val="3000"/>
              </a:spcAft>
            </a:pPr>
            <a:r>
              <a:rPr lang="en-US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add() </a:t>
            </a:r>
            <a:r>
              <a:rPr lang="ko-KR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메서드로 결과 출력 전</a:t>
            </a:r>
            <a:r>
              <a:rPr lang="en-US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,</a:t>
            </a:r>
            <a:r>
              <a:rPr lang="ko-KR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후</a:t>
            </a:r>
            <a:endParaRPr lang="ko-KR" altLang="en-US" sz="1000" b="1">
              <a:solidFill>
                <a:srgbClr val="000000"/>
              </a:solidFill>
              <a:latin typeface="+mj-ea"/>
              <a:ea typeface="+mj-ea"/>
              <a:cs typeface="Times New Roman"/>
            </a:endParaRPr>
          </a:p>
          <a:p>
            <a:pPr algn="l" latinLnBrk="1">
              <a:spcAft>
                <a:spcPct val="3000"/>
              </a:spcAft>
            </a:pPr>
            <a:r>
              <a:rPr lang="en-US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add </a:t>
            </a:r>
            <a:r>
              <a:rPr lang="ko-KR" altLang="en-US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메서드 정보를 출력합니다</a:t>
            </a:r>
            <a:r>
              <a:rPr lang="en-US" altLang="ko-KR" sz="1000" b="1">
                <a:solidFill>
                  <a:srgbClr val="000000"/>
                </a:solidFill>
                <a:latin typeface="+mj-ea"/>
                <a:ea typeface="+mj-ea"/>
                <a:cs typeface="Times New Roman"/>
              </a:rPr>
              <a:t>.</a:t>
            </a:r>
            <a:endParaRPr lang="ko-KR" altLang="en-US" sz="1100" b="1">
              <a:latin typeface="+mj-ea"/>
              <a:ea typeface="+mj-ea"/>
              <a:cs typeface="Times New Roman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73426" y="2286000"/>
            <a:ext cx="5832492" cy="76531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7" y="1520687"/>
            <a:ext cx="4611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퍼스펙티브 변경하기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38067" y="1852820"/>
            <a:ext cx="3286125" cy="781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832652" y="2322858"/>
            <a:ext cx="793354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6" name="그림 1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68582" y="1679041"/>
            <a:ext cx="3951229" cy="307869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7" name="그림 1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0" y="1546651"/>
            <a:ext cx="9144000" cy="44300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030" name="그림 1029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008112" y="612068"/>
            <a:ext cx="6858000" cy="598923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5" name="그림 14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39079" y="628258"/>
            <a:ext cx="7339315" cy="3749078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8" name="그림 1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864096" y="648072"/>
            <a:ext cx="6962774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7" name="그림 1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84076" y="722287"/>
            <a:ext cx="7286973" cy="399501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스프링에서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기능 사용하기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3" name="그림 12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792088" y="720080"/>
            <a:ext cx="7153274" cy="48006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030" name="그림 1029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84076" y="720080"/>
            <a:ext cx="7296150" cy="51435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20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</a:t>
            </a: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AOP 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20.1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관점 지향 프로그래밍의 등장</a:t>
            </a:r>
            <a:endParaRPr lang="ko-KR" altLang="en-US" sz="2800" spc="-89">
              <a:solidFill>
                <a:srgbClr val="281f3d"/>
              </a:solidFill>
            </a:endParaRPr>
          </a:p>
        </p:txBody>
      </p:sp>
      <p:pic>
        <p:nvPicPr>
          <p:cNvPr id="1031" name="그림 1030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65069" y="658157"/>
            <a:ext cx="7463822" cy="6199842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2020-07-27T14:01:37.683</dcterms:modified>
  <cp:revision>545</cp:revision>
  <dc:subject/>
  <dc:title>PowerPoint 프레젠테이션</dc:title>
</cp:coreProperties>
</file>