
<file path=[Content_Types].xml><?xml version="1.0" encoding="utf-8"?>
<Types xmlns="http://schemas.openxmlformats.org/package/2006/content-types"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eg" ContentType="image/jpeg"/>
  <Default Extension="png" ContentType="image/png"/>
  <Default Extension="rels" ContentType="application/vnd.openxmlformats-package.relationships+xml"/>
  <Default Extension="xml" ContentType="application/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officeDocument/2006/relationships/extended-properties" Target="docProps/app.xml"  /><Relationship Id="rId3" Type="http://schemas.openxmlformats.org/package/2006/relationships/metadata/core-properties" Target="docProps/core.xml"  /><Relationship Id="rId4" Type="http://schemas.openxmlformats.org/package/2006/relationships/metadata/thumbnail" Target="docProps/thumbnail.jpeg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62" r:id="rId33"/>
  </p:sldMasterIdLst>
  <p:notesMasterIdLst>
    <p:notesMasterId r:id="rId35"/>
  </p:notes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SSEN Kim" initials="SK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 horzBarState="maximized">
    <p:restoredLeft sz="13612"/>
    <p:restoredTop sz="94660"/>
  </p:normalViewPr>
  <p:slideViewPr>
    <p:cSldViewPr snapToGrid="0">
      <p:cViewPr varScale="1">
        <p:scale>
          <a:sx n="96" d="100"/>
          <a:sy n="96" d="100"/>
        </p:scale>
        <p:origin x="-906" y="-108"/>
      </p:cViewPr>
      <p:guideLst>
        <p:guide orient="horz" pos="1070"/>
        <p:guide pos="384"/>
        <p:guide pos="5375"/>
        <p:guide pos="54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</p:cSldViewPr>
  </p:notes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" Target="slides/slide1.xml"  /><Relationship Id="rId10" Type="http://schemas.openxmlformats.org/officeDocument/2006/relationships/slide" Target="slides/slide10.xml"  /><Relationship Id="rId11" Type="http://schemas.openxmlformats.org/officeDocument/2006/relationships/slide" Target="slides/slide11.xml"  /><Relationship Id="rId12" Type="http://schemas.openxmlformats.org/officeDocument/2006/relationships/slide" Target="slides/slide12.xml"  /><Relationship Id="rId13" Type="http://schemas.openxmlformats.org/officeDocument/2006/relationships/slide" Target="slides/slide13.xml"  /><Relationship Id="rId14" Type="http://schemas.openxmlformats.org/officeDocument/2006/relationships/slide" Target="slides/slide14.xml"  /><Relationship Id="rId15" Type="http://schemas.openxmlformats.org/officeDocument/2006/relationships/slide" Target="slides/slide15.xml"  /><Relationship Id="rId16" Type="http://schemas.openxmlformats.org/officeDocument/2006/relationships/slide" Target="slides/slide16.xml"  /><Relationship Id="rId17" Type="http://schemas.openxmlformats.org/officeDocument/2006/relationships/slide" Target="slides/slide17.xml"  /><Relationship Id="rId18" Type="http://schemas.openxmlformats.org/officeDocument/2006/relationships/slide" Target="slides/slide18.xml"  /><Relationship Id="rId19" Type="http://schemas.openxmlformats.org/officeDocument/2006/relationships/slide" Target="slides/slide19.xml"  /><Relationship Id="rId2" Type="http://schemas.openxmlformats.org/officeDocument/2006/relationships/slide" Target="slides/slide2.xml"  /><Relationship Id="rId20" Type="http://schemas.openxmlformats.org/officeDocument/2006/relationships/slide" Target="slides/slide20.xml"  /><Relationship Id="rId21" Type="http://schemas.openxmlformats.org/officeDocument/2006/relationships/slide" Target="slides/slide21.xml"  /><Relationship Id="rId22" Type="http://schemas.openxmlformats.org/officeDocument/2006/relationships/slide" Target="slides/slide22.xml"  /><Relationship Id="rId23" Type="http://schemas.openxmlformats.org/officeDocument/2006/relationships/slide" Target="slides/slide23.xml"  /><Relationship Id="rId24" Type="http://schemas.openxmlformats.org/officeDocument/2006/relationships/slide" Target="slides/slide24.xml"  /><Relationship Id="rId25" Type="http://schemas.openxmlformats.org/officeDocument/2006/relationships/slide" Target="slides/slide25.xml"  /><Relationship Id="rId26" Type="http://schemas.openxmlformats.org/officeDocument/2006/relationships/slide" Target="slides/slide26.xml"  /><Relationship Id="rId27" Type="http://schemas.openxmlformats.org/officeDocument/2006/relationships/slide" Target="slides/slide27.xml"  /><Relationship Id="rId28" Type="http://schemas.openxmlformats.org/officeDocument/2006/relationships/slide" Target="slides/slide28.xml"  /><Relationship Id="rId29" Type="http://schemas.openxmlformats.org/officeDocument/2006/relationships/slide" Target="slides/slide29.xml"  /><Relationship Id="rId3" Type="http://schemas.openxmlformats.org/officeDocument/2006/relationships/slide" Target="slides/slide3.xml"  /><Relationship Id="rId30" Type="http://schemas.openxmlformats.org/officeDocument/2006/relationships/slide" Target="slides/slide30.xml"  /><Relationship Id="rId31" Type="http://schemas.openxmlformats.org/officeDocument/2006/relationships/presProps" Target="presProps.xml"  /><Relationship Id="rId32" Type="http://schemas.openxmlformats.org/officeDocument/2006/relationships/viewProps" Target="viewProps.xml"  /><Relationship Id="rId33" Type="http://schemas.openxmlformats.org/officeDocument/2006/relationships/slideMaster" Target="slideMasters/slideMaster1.xml"  /><Relationship Id="rId34" Type="http://schemas.openxmlformats.org/officeDocument/2006/relationships/theme" Target="theme/theme1.xml"  /><Relationship Id="rId35" Type="http://schemas.openxmlformats.org/officeDocument/2006/relationships/notesMaster" Target="notesMasters/notesMaster1.xml"  /><Relationship Id="rId36" Type="http://schemas.openxmlformats.org/officeDocument/2006/relationships/commentAuthors" Target="commentAuthors.xml"  /><Relationship Id="rId37" Type="http://schemas.openxmlformats.org/officeDocument/2006/relationships/tableStyles" Target="tableStyles.xml"  /><Relationship Id="rId4" Type="http://schemas.openxmlformats.org/officeDocument/2006/relationships/slide" Target="slides/slide4.xml"  /><Relationship Id="rId5" Type="http://schemas.openxmlformats.org/officeDocument/2006/relationships/slide" Target="slides/slide5.xml"  /><Relationship Id="rId6" Type="http://schemas.openxmlformats.org/officeDocument/2006/relationships/slide" Target="slides/slide6.xml"  /><Relationship Id="rId7" Type="http://schemas.openxmlformats.org/officeDocument/2006/relationships/slide" Target="slides/slide7.xml"  /><Relationship Id="rId8" Type="http://schemas.openxmlformats.org/officeDocument/2006/relationships/slide" Target="slides/slide8.xml"  /><Relationship Id="rId9" Type="http://schemas.openxmlformats.org/officeDocument/2006/relationships/slide" Target="slides/slide9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/>
            <a:fld id="{0E7094D2-52B1-4A24-9772-F4ABB377CA0B}" type="datetimeFigureOut">
              <a:rPr lang="ko-KR" altLang="en-US"/>
              <a:pPr/>
              <a:t>2020-08-03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rPr lang="ko-KR" altLang="en-US"/>
              <a:t>마스터 텍스트 스타일 편집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/>
            <a:fld id="{303C5F93-DBD8-475E-B5C0-664EF94AA89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이(가) 표시된 사진&#10;&#10;매우 높은 신뢰도로 생성된 설명">
            <a:extLst>
              <a:ext uri="{FF2B5EF4-FFF2-40B4-BE49-F238E27FC236}">
                <a16:creationId xmlns:a16="http://schemas.microsoft.com/office/drawing/2014/main" xmlns="" id="{1F71807D-336E-4FF6-BE4D-1DFB82D18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503"/>
            <a:ext cx="9144000" cy="68750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4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2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1.xml"  /><Relationship Id="rId2" Type="http://schemas.openxmlformats.org/officeDocument/2006/relationships/slideLayout" Target="../slideLayouts/slideLayout1.xml"  /><Relationship Id="rId3" Type="http://schemas.openxmlformats.org/officeDocument/2006/relationships/slideLayout" Target="../slideLayouts/slideLayout2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2"/>
    <p:sldLayoutId id="2147483761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9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1.png"  /><Relationship Id="rId3" Type="http://schemas.openxmlformats.org/officeDocument/2006/relationships/image" Target="../media/image22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3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4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5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7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8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9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0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1.png"  /><Relationship Id="rId3" Type="http://schemas.openxmlformats.org/officeDocument/2006/relationships/image" Target="../media/image32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3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4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5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6.png"  /><Relationship Id="rId3" Type="http://schemas.openxmlformats.org/officeDocument/2006/relationships/image" Target="../media/image3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52004"/>
            <a:ext cx="9144000" cy="80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5000"/>
              </a:lnSpc>
            </a:pPr>
            <a:r>
              <a:rPr lang="en-US" altLang="ko-KR" sz="2800"/>
              <a:t>24</a:t>
            </a:r>
            <a:r>
              <a:rPr lang="ko-KR" altLang="en-US" sz="2800"/>
              <a:t>장</a:t>
            </a:r>
            <a:r>
              <a:rPr lang="en-US" altLang="ko-KR" sz="2800"/>
              <a:t> </a:t>
            </a:r>
            <a:r>
              <a:rPr lang="ko-KR" altLang="en-US" sz="2800"/>
              <a:t>스프링과 마이바티스 연동하기</a:t>
            </a:r>
            <a:endParaRPr lang="ko-KR" altLang="en-US" sz="2800" spc="-88"/>
          </a:p>
        </p:txBody>
      </p:sp>
      <p:cxnSp>
        <p:nvCxnSpPr>
          <p:cNvPr id="5" name="직선 연결선 4"/>
          <p:cNvCxnSpPr/>
          <p:nvPr/>
        </p:nvCxnSpPr>
        <p:spPr>
          <a:xfrm>
            <a:off x="716437" y="1455301"/>
            <a:ext cx="7748833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6887" y="1909244"/>
            <a:ext cx="6400800" cy="160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24.1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스프링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-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마이바티스 연동 관련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XML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파일 설정하기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24.2 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마이바티스 관련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XML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파일 설정하기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24.3 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자바 클래스와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JSP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파일 구현하기</a:t>
            </a:r>
            <a:endParaRPr lang="en-US" altLang="ko-KR" sz="200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54557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연동 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409" y="1520687"/>
            <a:ext cx="74642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새 프로젝트 </a:t>
            </a:r>
            <a:r>
              <a:rPr lang="en-US" altLang="ko-KR" sz="1200">
                <a:latin typeface="+mj-ea"/>
                <a:ea typeface="+mj-ea"/>
              </a:rPr>
              <a:t>pro24</a:t>
            </a:r>
            <a:r>
              <a:rPr lang="ko-KR" altLang="en-US" sz="1200">
                <a:latin typeface="+mj-ea"/>
                <a:ea typeface="+mj-ea"/>
              </a:rPr>
              <a:t>를 만들고 이 책에서 제공하는 스프링 라이브러리를 복사해 </a:t>
            </a:r>
            <a:r>
              <a:rPr lang="en-US" altLang="ko-KR" sz="1200">
                <a:latin typeface="+mj-ea"/>
                <a:ea typeface="+mj-ea"/>
              </a:rPr>
              <a:t>lib </a:t>
            </a:r>
            <a:r>
              <a:rPr lang="ko-KR" altLang="en-US" sz="1200">
                <a:latin typeface="+mj-ea"/>
                <a:ea typeface="+mj-ea"/>
              </a:rPr>
              <a:t>폴더에 붙여 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709821" y="1914636"/>
            <a:ext cx="2670810" cy="41617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설명선 1(강조선) 13"/>
          <p:cNvSpPr/>
          <p:nvPr/>
        </p:nvSpPr>
        <p:spPr>
          <a:xfrm>
            <a:off x="6091176" y="4392488"/>
            <a:ext cx="2839932" cy="471255"/>
          </a:xfrm>
          <a:prstGeom prst="accentCallout1">
            <a:avLst>
              <a:gd name="adj1" fmla="val 12605"/>
              <a:gd name="adj2" fmla="val -4236"/>
              <a:gd name="adj3" fmla="val 85874"/>
              <a:gd name="adj4" fmla="val -23996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/>
            <a:r>
              <a:rPr lang="en-US" altLang="ko-KR" sz="1100"/>
              <a:t>myBatis3.0.5.jar</a:t>
            </a:r>
            <a:r>
              <a:rPr lang="ko-KR" altLang="en-US" sz="1100"/>
              <a:t>와 스프링버전3.0.6라이브러리 파일과 호환</a:t>
            </a: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8" y="1530626"/>
            <a:ext cx="7702827" cy="44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스프링에서 사용할 빈을 생성하는 데 필요한 </a:t>
            </a: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파일을 설정하겠습니다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먼저 </a:t>
            </a: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관련 파일들을 다음과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같이 준비합니다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3110090" y="2099255"/>
            <a:ext cx="1839595" cy="23215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54557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연동 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8" name="설명선 1(강조선) 7"/>
          <p:cNvSpPr/>
          <p:nvPr/>
        </p:nvSpPr>
        <p:spPr>
          <a:xfrm>
            <a:off x="5995858" y="3046116"/>
            <a:ext cx="2740718" cy="446272"/>
          </a:xfrm>
          <a:prstGeom prst="accentCallout1">
            <a:avLst>
              <a:gd name="adj1" fmla="val 18750"/>
              <a:gd name="adj2" fmla="val -8333"/>
              <a:gd name="adj3" fmla="val 120691"/>
              <a:gd name="adj4" fmla="val -43195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/>
            <a:r>
              <a:rPr lang="en-US" altLang="ko-KR" sz="1100"/>
              <a:t>SqlMapConfig.xml(23</a:t>
            </a:r>
            <a:r>
              <a:rPr lang="ko-KR" altLang="en-US" sz="1100"/>
              <a:t>장)의 </a:t>
            </a:r>
            <a:r>
              <a:rPr lang="en-US" altLang="ko-KR" sz="1100"/>
              <a:t> dataSource </a:t>
            </a:r>
            <a:r>
              <a:rPr lang="ko-KR" altLang="en-US" sz="1100"/>
              <a:t>설정</a:t>
            </a:r>
            <a:endParaRPr lang="ko-KR" altLang="en-US" sz="1100"/>
          </a:p>
          <a:p>
            <a:pPr/>
            <a:r>
              <a:rPr lang="en-US" altLang="ko-KR" sz="1100"/>
              <a:t>memberDAO(23</a:t>
            </a:r>
            <a:r>
              <a:rPr lang="ko-KR" altLang="en-US" sz="1100"/>
              <a:t>장)의 sqlSession설정</a:t>
            </a:r>
            <a:endParaRPr lang="ko-KR" altLang="en-US" sz="1100"/>
          </a:p>
        </p:txBody>
      </p:sp>
      <p:sp>
        <p:nvSpPr>
          <p:cNvPr id="10" name="설명선 1 9"/>
          <p:cNvSpPr/>
          <p:nvPr/>
        </p:nvSpPr>
        <p:spPr>
          <a:xfrm>
            <a:off x="6115982" y="3658009"/>
            <a:ext cx="2030609" cy="377020"/>
          </a:xfrm>
          <a:prstGeom prst="borderCallout1">
            <a:avLst>
              <a:gd name="adj1" fmla="val 18750"/>
              <a:gd name="adj2" fmla="val -8333"/>
              <a:gd name="adj3" fmla="val 23443"/>
              <a:gd name="adj4" fmla="val -65454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/>
            <a:r>
              <a:rPr lang="ko-KR" altLang="en-US" sz="1100"/>
              <a:t>MemberServiceImpl 빈설정 및</a:t>
            </a:r>
            <a:endParaRPr lang="ko-KR" altLang="en-US" sz="1100"/>
          </a:p>
          <a:p>
            <a:pPr/>
            <a:r>
              <a:rPr lang="ko-KR" altLang="en-US" sz="1100"/>
              <a:t>memberDAO 의존주입</a:t>
            </a:r>
            <a:endParaRPr lang="ko-KR" altLang="en-US" sz="1100"/>
          </a:p>
        </p:txBody>
      </p:sp>
      <p:sp>
        <p:nvSpPr>
          <p:cNvPr id="18" name="설명선 1(강조선) 7"/>
          <p:cNvSpPr/>
          <p:nvPr/>
        </p:nvSpPr>
        <p:spPr>
          <a:xfrm>
            <a:off x="6321878" y="4227835"/>
            <a:ext cx="1636989" cy="446272"/>
          </a:xfrm>
          <a:prstGeom prst="accentCallout1">
            <a:avLst>
              <a:gd name="adj1" fmla="val 18750"/>
              <a:gd name="adj2" fmla="val -8333"/>
              <a:gd name="adj3" fmla="val -2193"/>
              <a:gd name="adj4" fmla="val -101819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ko-KR" altLang="en-US" sz="1100"/>
              <a:t>HandlerMapping과 ViewResolver 설정</a:t>
            </a:r>
            <a:endParaRPr lang="ko-KR" altLang="en-US" sz="1100"/>
          </a:p>
        </p:txBody>
      </p:sp>
      <p:sp>
        <p:nvSpPr>
          <p:cNvPr id="19" name="설명선 1(강조선) 7"/>
          <p:cNvSpPr/>
          <p:nvPr/>
        </p:nvSpPr>
        <p:spPr>
          <a:xfrm>
            <a:off x="5580620" y="4918324"/>
            <a:ext cx="2988748" cy="508279"/>
          </a:xfrm>
          <a:prstGeom prst="accentCallout1">
            <a:avLst>
              <a:gd name="adj1" fmla="val 18750"/>
              <a:gd name="adj2" fmla="val -4236"/>
              <a:gd name="adj3" fmla="val -112785"/>
              <a:gd name="adj4" fmla="val -46008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/>
            <a:r>
              <a:rPr lang="en-US" altLang="ko-KR" sz="1100"/>
              <a:t>DispatcherServlet</a:t>
            </a:r>
            <a:r>
              <a:rPr lang="ko-KR" altLang="en-US" sz="1100"/>
              <a:t>설정 및 리스너로</a:t>
            </a:r>
            <a:endParaRPr lang="ko-KR" altLang="en-US" sz="1100"/>
          </a:p>
          <a:p>
            <a:pPr/>
            <a:r>
              <a:rPr lang="en-US" altLang="ko-KR" sz="1100"/>
              <a:t>config </a:t>
            </a:r>
            <a:r>
              <a:rPr lang="ko-KR" altLang="en-US" sz="1100"/>
              <a:t>폴더 마이바티스 관련</a:t>
            </a:r>
            <a:r>
              <a:rPr lang="en-US" altLang="ko-KR" sz="1100"/>
              <a:t>xml</a:t>
            </a:r>
            <a:r>
              <a:rPr lang="ko-KR" altLang="en-US" sz="1100"/>
              <a:t>파일 설정</a:t>
            </a:r>
            <a:endParaRPr lang="ko-KR" altLang="en-US" sz="1100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540565"/>
            <a:ext cx="7464287" cy="4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web.xml</a:t>
            </a:r>
            <a:r>
              <a:rPr lang="ko-KR" altLang="en-US" sz="1200">
                <a:latin typeface="+mj-ea"/>
                <a:ea typeface="+mj-ea"/>
              </a:rPr>
              <a:t>을 다음과 같이 작성하여 애플리케이션 실행 시 여러 설정 파일들을 </a:t>
            </a:r>
            <a:r>
              <a:rPr lang="en-US" altLang="ko-KR" sz="1200">
                <a:latin typeface="+mj-ea"/>
                <a:ea typeface="+mj-ea"/>
              </a:rPr>
              <a:t>/WEB-INF/config </a:t>
            </a:r>
            <a:r>
              <a:rPr lang="ko-KR" altLang="en-US" sz="1200">
                <a:latin typeface="+mj-ea"/>
                <a:ea typeface="+mj-ea"/>
              </a:rPr>
              <a:t>폴더에서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읽어 들이도록 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81062" y="2002230"/>
            <a:ext cx="7169634" cy="423922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54557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연동 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449899"/>
            <a:ext cx="7335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에서는 뷰 관련 빈과 각 </a:t>
            </a:r>
            <a:r>
              <a:rPr lang="en-US" altLang="ko-KR" sz="1200">
                <a:latin typeface="+mj-ea"/>
                <a:ea typeface="+mj-ea"/>
              </a:rPr>
              <a:t>URL </a:t>
            </a:r>
            <a:r>
              <a:rPr lang="ko-KR" altLang="en-US" sz="1200">
                <a:latin typeface="+mj-ea"/>
                <a:ea typeface="+mj-ea"/>
              </a:rPr>
              <a:t>요청명에 대해 호출할 메서드들을 설정합니다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06854" y="1726898"/>
            <a:ext cx="6623396" cy="37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54557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연동 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93925" y="1449899"/>
            <a:ext cx="6449253" cy="513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05119" y="711235"/>
            <a:ext cx="754557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연동 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65922" y="1449899"/>
            <a:ext cx="7384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en-US" altLang="ko-KR" sz="1200">
                <a:latin typeface="+mj-ea"/>
                <a:ea typeface="+mj-ea"/>
              </a:rPr>
              <a:t>action-mybatis.xml</a:t>
            </a:r>
            <a:r>
              <a:rPr lang="ko-KR" altLang="en-US" sz="1200">
                <a:latin typeface="+mj-ea"/>
                <a:ea typeface="+mj-ea"/>
              </a:rPr>
              <a:t>을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/>
              <a:t>    (jdbc.properties </a:t>
            </a:r>
            <a:r>
              <a:rPr lang="ko-KR" altLang="en-US" sz="1200"/>
              <a:t>파일은 </a:t>
            </a:r>
            <a:r>
              <a:rPr lang="en-US" altLang="ko-KR" sz="1200"/>
              <a:t>22</a:t>
            </a:r>
            <a:r>
              <a:rPr lang="ko-KR" altLang="en-US" sz="1200"/>
              <a:t>장의 </a:t>
            </a:r>
            <a:r>
              <a:rPr lang="en-US" altLang="ko-KR" sz="1200"/>
              <a:t>jdbc.properties </a:t>
            </a:r>
            <a:r>
              <a:rPr lang="ko-KR" altLang="en-US" sz="1200"/>
              <a:t>파일을 복사해 붙여 넣은 것입니다</a:t>
            </a:r>
            <a:r>
              <a:rPr lang="en-US" altLang="ko-KR" sz="1200"/>
              <a:t>.)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46598" y="2078695"/>
            <a:ext cx="6743908" cy="3711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54557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연동 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6147" name="설명선 1(강조선) 6146"/>
          <p:cNvSpPr/>
          <p:nvPr/>
        </p:nvSpPr>
        <p:spPr>
          <a:xfrm>
            <a:off x="4243362" y="5841081"/>
            <a:ext cx="4427317" cy="880503"/>
          </a:xfrm>
          <a:prstGeom prst="accentCallout1">
            <a:avLst>
              <a:gd name="adj1" fmla="val 23869"/>
              <a:gd name="adj2" fmla="val -2444"/>
              <a:gd name="adj3" fmla="val -8338"/>
              <a:gd name="adj4" fmla="val -48828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/>
            <a:r>
              <a:rPr lang="ko-KR" altLang="en-US" sz="1000"/>
              <a:t>&lt;dataSource  type="POOLED"&gt;</a:t>
            </a:r>
            <a:endParaRPr lang="ko-KR" altLang="en-US" sz="1000"/>
          </a:p>
          <a:p>
            <a:pPr/>
            <a:r>
              <a:rPr lang="ko-KR" altLang="en-US" sz="1000"/>
              <a:t>            &lt;property name="driver"  value="oracle.jdbc.driver.OracleDriver" /&gt;</a:t>
            </a:r>
            <a:endParaRPr lang="ko-KR" altLang="en-US" sz="1000"/>
          </a:p>
          <a:p>
            <a:pPr/>
            <a:r>
              <a:rPr lang="ko-KR" altLang="en-US" sz="1000"/>
              <a:t>            &lt;property  name="url"    value="JDBC:oracle:thin:@localhost:1521:XE" /&gt;</a:t>
            </a:r>
            <a:endParaRPr lang="ko-KR" altLang="en-US" sz="1000"/>
          </a:p>
          <a:p>
            <a:pPr/>
            <a:r>
              <a:rPr lang="ko-KR" altLang="en-US" sz="1000"/>
              <a:t>            &lt;property name="username" value="scott" /&gt;</a:t>
            </a:r>
            <a:endParaRPr lang="ko-KR" altLang="en-US" sz="1000"/>
          </a:p>
          <a:p>
            <a:pPr/>
            <a:r>
              <a:rPr lang="ko-KR" altLang="en-US" sz="1000"/>
              <a:t>            &lt;property name="password"  value="tiger"/&gt;        </a:t>
            </a:r>
            <a:endParaRPr lang="ko-KR" altLang="en-US" sz="1000"/>
          </a:p>
          <a:p>
            <a:pPr/>
            <a:r>
              <a:rPr lang="ko-KR" altLang="en-US" sz="1000"/>
              <a:t>&lt;/dataSource&gt;</a:t>
            </a:r>
            <a:endParaRPr lang="ko-KR" altLang="en-US" sz="1000"/>
          </a:p>
        </p:txBody>
      </p:sp>
      <p:sp>
        <p:nvSpPr>
          <p:cNvPr id="6148" name="직사각형 6147"/>
          <p:cNvSpPr txBox="1"/>
          <p:nvPr/>
        </p:nvSpPr>
        <p:spPr>
          <a:xfrm>
            <a:off x="2254020" y="6112800"/>
            <a:ext cx="1737224" cy="25752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  <p:txBody>
          <a:bodyPr wrap="square">
            <a:spAutoFit/>
          </a:bodyPr>
          <a:p>
            <a:pPr algn="ctr"/>
            <a:r>
              <a:rPr lang="ko-KR" altLang="en-US" sz="1100"/>
              <a:t>23장의 </a:t>
            </a:r>
            <a:r>
              <a:rPr lang="en-US" altLang="ko-KR" sz="1100"/>
              <a:t>SqlMapConfig.xml</a:t>
            </a:r>
            <a:endParaRPr lang="en-US" altLang="ko-KR" sz="110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44217" y="1742838"/>
            <a:ext cx="7017854" cy="38108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05119" y="711235"/>
            <a:ext cx="754557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연동 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7171" name="설명선 1(강조선) 7170"/>
          <p:cNvSpPr/>
          <p:nvPr/>
        </p:nvSpPr>
        <p:spPr>
          <a:xfrm>
            <a:off x="1170712" y="5503805"/>
            <a:ext cx="3329787" cy="1264946"/>
          </a:xfrm>
          <a:prstGeom prst="accentCallout1">
            <a:avLst>
              <a:gd name="adj1" fmla="val 16701"/>
              <a:gd name="adj2" fmla="val -3468"/>
              <a:gd name="adj3" fmla="val -264333"/>
              <a:gd name="adj4" fmla="val 2115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/>
            <a:r>
              <a:rPr lang="en-US" altLang="ko-KR" sz="1000"/>
              <a:t>private static SqlSessionFactory getInstance() {</a:t>
            </a:r>
            <a:endParaRPr lang="en-US" altLang="ko-KR" sz="1000"/>
          </a:p>
          <a:p>
            <a:pPr/>
            <a:r>
              <a:rPr lang="en-US" altLang="ko-KR" sz="1000"/>
              <a:t>if (sqlMapper == null) {</a:t>
            </a:r>
            <a:endParaRPr lang="en-US" altLang="ko-KR" sz="1000"/>
          </a:p>
          <a:p>
            <a:pPr/>
            <a:r>
              <a:rPr lang="en-US" altLang="ko-KR" sz="1000"/>
              <a:t>try {</a:t>
            </a:r>
            <a:endParaRPr lang="en-US" altLang="ko-KR" sz="1000"/>
          </a:p>
          <a:p>
            <a:pPr/>
            <a:r>
              <a:rPr lang="en-US" altLang="ko-KR" sz="1000"/>
              <a:t>String resource = "mybatis/SqlMapConfig.xml";</a:t>
            </a:r>
            <a:endParaRPr lang="en-US" altLang="ko-KR" sz="1000"/>
          </a:p>
          <a:p>
            <a:pPr/>
            <a:r>
              <a:rPr lang="en-US" altLang="ko-KR" sz="1000"/>
              <a:t>Reader reader = Resources.getResourceAsReader(resource);</a:t>
            </a:r>
            <a:endParaRPr lang="en-US" altLang="ko-KR" sz="1000"/>
          </a:p>
          <a:p>
            <a:pPr/>
            <a:r>
              <a:rPr lang="en-US" altLang="ko-KR" sz="1000"/>
              <a:t>sqlMapper = new SqlSessionFactoryBuilder().build(reader);</a:t>
            </a:r>
            <a:endParaRPr lang="en-US" altLang="ko-KR" sz="1000"/>
          </a:p>
          <a:p>
            <a:pPr/>
            <a:r>
              <a:rPr lang="en-US" altLang="ko-KR" sz="1000"/>
              <a:t>reader.close();      ..........   return sqlMapper;</a:t>
            </a:r>
            <a:endParaRPr lang="en-US" altLang="ko-KR" sz="1000"/>
          </a:p>
        </p:txBody>
      </p:sp>
      <p:sp>
        <p:nvSpPr>
          <p:cNvPr id="7173" name="설명선 1(강조선) 7170"/>
          <p:cNvSpPr/>
          <p:nvPr/>
        </p:nvSpPr>
        <p:spPr>
          <a:xfrm>
            <a:off x="5091372" y="5683447"/>
            <a:ext cx="3478606" cy="979713"/>
          </a:xfrm>
          <a:prstGeom prst="accentCallout1">
            <a:avLst>
              <a:gd name="adj1" fmla="val 16701"/>
              <a:gd name="adj2" fmla="val -3468"/>
              <a:gd name="adj3" fmla="val -212100"/>
              <a:gd name="adj4" fmla="val -100795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/>
            <a:r>
              <a:rPr lang="en-US" altLang="ko-KR" sz="1100"/>
              <a:t>sqlMapper = getInstance();</a:t>
            </a:r>
            <a:endParaRPr lang="en-US" altLang="ko-KR" sz="1100"/>
          </a:p>
          <a:p>
            <a:pPr/>
            <a:r>
              <a:rPr lang="en-US" altLang="ko-KR" sz="1100"/>
              <a:t>SqlSession session = sqlMapper.openSession();</a:t>
            </a:r>
            <a:endParaRPr lang="en-US" altLang="ko-KR" sz="1100"/>
          </a:p>
          <a:p>
            <a:pPr/>
            <a:r>
              <a:rPr lang="en-US" altLang="ko-KR" sz="1100"/>
              <a:t>List&lt;MemberVO&gt; memlist = null;</a:t>
            </a:r>
            <a:endParaRPr lang="en-US" altLang="ko-KR" sz="1100"/>
          </a:p>
          <a:p>
            <a:pPr/>
            <a:r>
              <a:rPr lang="en-US" altLang="ko-KR" sz="1100"/>
              <a:t>memlist = session.selectList("mapper.member.selectAllMemberList");</a:t>
            </a:r>
            <a:endParaRPr lang="en-US" altLang="ko-KR" sz="1100"/>
          </a:p>
        </p:txBody>
      </p:sp>
      <p:sp>
        <p:nvSpPr>
          <p:cNvPr id="7174" name="직사각형 7173"/>
          <p:cNvSpPr txBox="1"/>
          <p:nvPr/>
        </p:nvSpPr>
        <p:spPr>
          <a:xfrm>
            <a:off x="72008" y="5796540"/>
            <a:ext cx="956104" cy="39280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  <p:txBody>
          <a:bodyPr wrap="square">
            <a:spAutoFit/>
          </a:bodyPr>
          <a:p>
            <a:pPr/>
            <a:r>
              <a:rPr lang="en-US" altLang="ko-KR" sz="1000"/>
              <a:t>23</a:t>
            </a:r>
            <a:r>
              <a:rPr lang="ko-KR" altLang="en-US" sz="1000"/>
              <a:t>장의</a:t>
            </a:r>
            <a:endParaRPr lang="ko-KR" altLang="en-US" sz="1000"/>
          </a:p>
          <a:p>
            <a:pPr/>
            <a:r>
              <a:rPr lang="en-US" altLang="ko-KR" sz="1000"/>
              <a:t>MemberDAO</a:t>
            </a:r>
            <a:endParaRPr lang="en-US" altLang="ko-KR" sz="1000"/>
          </a:p>
        </p:txBody>
      </p:sp>
      <p:cxnSp>
        <p:nvCxnSpPr>
          <p:cNvPr id="7175" name="직선 연결선 7174"/>
          <p:cNvCxnSpPr/>
          <p:nvPr/>
        </p:nvCxnSpPr>
        <p:spPr>
          <a:xfrm>
            <a:off x="5148667" y="3670828"/>
            <a:ext cx="1649392" cy="12401"/>
          </a:xfrm>
          <a:prstGeom prst="lin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449899"/>
            <a:ext cx="73549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MemberDAO </a:t>
            </a:r>
            <a:r>
              <a:rPr lang="ko-KR" altLang="en-US" sz="1200">
                <a:latin typeface="+mj-ea"/>
                <a:ea typeface="+mj-ea"/>
              </a:rPr>
              <a:t>빈을 사용할 </a:t>
            </a:r>
            <a:r>
              <a:rPr lang="en-US" altLang="ko-KR" sz="1200">
                <a:latin typeface="+mj-ea"/>
                <a:ea typeface="+mj-ea"/>
              </a:rPr>
              <a:t>memberService </a:t>
            </a:r>
            <a:r>
              <a:rPr lang="ko-KR" altLang="en-US" sz="1200">
                <a:latin typeface="+mj-ea"/>
                <a:ea typeface="+mj-ea"/>
              </a:rPr>
              <a:t>빈을 설정합니다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765313" y="1726898"/>
            <a:ext cx="6762543" cy="168090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54557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연동 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관련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10748"/>
            <a:ext cx="8050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src </a:t>
            </a:r>
            <a:r>
              <a:rPr lang="ko-KR" altLang="en-US" sz="1200">
                <a:latin typeface="+mj-ea"/>
                <a:ea typeface="+mj-ea"/>
              </a:rPr>
              <a:t>패키지 아래에 </a:t>
            </a:r>
            <a:r>
              <a:rPr lang="en-US" altLang="ko-KR" sz="1200">
                <a:latin typeface="+mj-ea"/>
                <a:ea typeface="+mj-ea"/>
              </a:rPr>
              <a:t>mybatis.mappers </a:t>
            </a:r>
            <a:r>
              <a:rPr lang="ko-KR" altLang="en-US" sz="1200">
                <a:latin typeface="+mj-ea"/>
                <a:ea typeface="+mj-ea"/>
              </a:rPr>
              <a:t>패키지를 만들고 </a:t>
            </a:r>
            <a:r>
              <a:rPr lang="en-US" altLang="ko-KR" sz="1200">
                <a:latin typeface="+mj-ea"/>
                <a:ea typeface="+mj-ea"/>
              </a:rPr>
              <a:t>23</a:t>
            </a:r>
            <a:r>
              <a:rPr lang="ko-KR" altLang="en-US" sz="1200">
                <a:latin typeface="+mj-ea"/>
                <a:ea typeface="+mj-ea"/>
              </a:rPr>
              <a:t>장에서 실습한 </a:t>
            </a:r>
            <a:r>
              <a:rPr lang="en-US" altLang="ko-KR" sz="1200">
                <a:latin typeface="+mj-ea"/>
                <a:ea typeface="+mj-ea"/>
              </a:rPr>
              <a:t>member.xml</a:t>
            </a:r>
            <a:r>
              <a:rPr lang="ko-KR" altLang="en-US" sz="1200">
                <a:latin typeface="+mj-ea"/>
                <a:ea typeface="+mj-ea"/>
              </a:rPr>
              <a:t>을 복사해 붙여 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980083" y="1859031"/>
            <a:ext cx="2209800" cy="1847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관련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40565"/>
            <a:ext cx="7573617" cy="4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회원 관련 기능 </a:t>
            </a:r>
            <a:r>
              <a:rPr lang="en-US" altLang="ko-KR" sz="1200">
                <a:latin typeface="+mj-ea"/>
                <a:ea typeface="+mj-ea"/>
              </a:rPr>
              <a:t>SQL</a:t>
            </a:r>
            <a:r>
              <a:rPr lang="ko-KR" altLang="en-US" sz="1200">
                <a:latin typeface="+mj-ea"/>
                <a:ea typeface="+mj-ea"/>
              </a:rPr>
              <a:t>문이 있는 매퍼 파일인 </a:t>
            </a:r>
            <a:r>
              <a:rPr lang="en-US" altLang="ko-KR" sz="1200">
                <a:latin typeface="+mj-ea"/>
                <a:ea typeface="+mj-ea"/>
              </a:rPr>
              <a:t>member.xml</a:t>
            </a:r>
            <a:r>
              <a:rPr lang="ko-KR" altLang="en-US" sz="1200">
                <a:latin typeface="+mj-ea"/>
                <a:ea typeface="+mj-ea"/>
              </a:rPr>
              <a:t>입니다</a:t>
            </a:r>
            <a:r>
              <a:rPr lang="en-US" altLang="ko-KR" sz="1200">
                <a:latin typeface="+mj-ea"/>
                <a:ea typeface="+mj-ea"/>
              </a:rPr>
              <a:t>. 23</a:t>
            </a:r>
            <a:r>
              <a:rPr lang="ko-KR" altLang="en-US" sz="1200">
                <a:latin typeface="+mj-ea"/>
                <a:ea typeface="+mj-ea"/>
              </a:rPr>
              <a:t>장에서 실습한 </a:t>
            </a:r>
            <a:r>
              <a:rPr lang="en-US" altLang="ko-KR" sz="1200">
                <a:latin typeface="+mj-ea"/>
                <a:ea typeface="+mj-ea"/>
              </a:rPr>
              <a:t>member.xml</a:t>
            </a:r>
            <a:r>
              <a:rPr lang="ko-KR" altLang="en-US" sz="1200">
                <a:latin typeface="+mj-ea"/>
                <a:ea typeface="+mj-ea"/>
              </a:rPr>
              <a:t>을 그대로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복사해 붙여 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6" name="그룹 5"/>
          <p:cNvGrpSpPr/>
          <p:nvPr/>
        </p:nvGrpSpPr>
        <p:grpSpPr>
          <a:xfrm rot="0">
            <a:off x="1093305" y="2002231"/>
            <a:ext cx="6271591" cy="4865709"/>
            <a:chOff x="1093305" y="2002231"/>
            <a:chExt cx="6271591" cy="4865709"/>
          </a:xfrm>
        </p:grpSpPr>
        <p:grpSp>
          <p:nvGrpSpPr>
            <p:cNvPr id="4" name="그룹 3"/>
            <p:cNvGrpSpPr/>
            <p:nvPr/>
          </p:nvGrpSpPr>
          <p:grpSpPr>
            <a:xfrm rot="0">
              <a:off x="1093305" y="2002231"/>
              <a:ext cx="6271591" cy="4676866"/>
              <a:chOff x="-39756" y="1952625"/>
              <a:chExt cx="8740843" cy="6667500"/>
            </a:xfrm>
          </p:grpSpPr>
          <p:pic>
            <p:nvPicPr>
              <p:cNvPr id="10242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alphaModFix/>
                <a:lum/>
              </a:blip>
              <a:srcRect/>
              <a:stretch>
                <a:fillRect/>
              </a:stretch>
            </p:blipFill>
            <p:spPr>
              <a:xfrm>
                <a:off x="442912" y="1952625"/>
                <a:ext cx="8258175" cy="147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43" name="Picture 3"/>
              <p:cNvPicPr>
                <a:picLocks noChangeAspect="1" noChangeArrowheads="1"/>
              </p:cNvPicPr>
              <p:nvPr/>
            </p:nvPicPr>
            <p:blipFill rotWithShape="1">
              <a:blip r:embed="rId3">
                <a:alphaModFix/>
                <a:lum/>
              </a:blip>
              <a:srcRect/>
              <a:stretch>
                <a:fillRect/>
              </a:stretch>
            </p:blipFill>
            <p:spPr>
              <a:xfrm>
                <a:off x="-39756" y="3429000"/>
                <a:ext cx="6429375" cy="5191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" name="TextBox 4"/>
            <p:cNvSpPr txBox="1"/>
            <p:nvPr/>
          </p:nvSpPr>
          <p:spPr>
            <a:xfrm>
              <a:off x="1689651" y="6590941"/>
              <a:ext cx="1033670" cy="2651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altLang="ko-KR" sz="1200">
                  <a:latin typeface="+mj-ea"/>
                  <a:ea typeface="+mj-ea"/>
                </a:rPr>
                <a:t>...</a:t>
              </a:r>
              <a:endParaRPr lang="ko-KR" altLang="en-US" sz="120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마이바티스 관련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XML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설정하기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5982" y="1530626"/>
            <a:ext cx="7484165" cy="44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modelConfig.xml</a:t>
            </a:r>
            <a:r>
              <a:rPr lang="ko-KR" altLang="en-US" sz="1200">
                <a:latin typeface="+mj-ea"/>
                <a:ea typeface="+mj-ea"/>
              </a:rPr>
              <a:t>에서는 </a:t>
            </a:r>
            <a:r>
              <a:rPr lang="en-US" altLang="ko-KR" sz="1200">
                <a:latin typeface="+mj-ea"/>
                <a:ea typeface="+mj-ea"/>
              </a:rPr>
              <a:t>&lt;typeAlias&gt; </a:t>
            </a:r>
            <a:r>
              <a:rPr lang="ko-KR" altLang="en-US" sz="1200">
                <a:latin typeface="+mj-ea"/>
                <a:ea typeface="+mj-ea"/>
              </a:rPr>
              <a:t>태그를 이용해 매퍼 파일에서 긴 이름의 클래스를 별칭으로 사용할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수 있게 설정합니다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815008" y="2018045"/>
            <a:ext cx="7523922" cy="2152650"/>
            <a:chOff x="457199" y="2962275"/>
            <a:chExt cx="8229601" cy="2619375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57200" y="2962275"/>
              <a:ext cx="8229600" cy="933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6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57199" y="3895725"/>
              <a:ext cx="8201025" cy="1685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68" name="설명선 1(강조선) 11267"/>
          <p:cNvSpPr/>
          <p:nvPr/>
        </p:nvSpPr>
        <p:spPr>
          <a:xfrm>
            <a:off x="3672895" y="4638141"/>
            <a:ext cx="4563732" cy="694481"/>
          </a:xfrm>
          <a:prstGeom prst="accentCallout1">
            <a:avLst>
              <a:gd name="adj1" fmla="val 20797"/>
              <a:gd name="adj2" fmla="val -3212"/>
              <a:gd name="adj3" fmla="val -156826"/>
              <a:gd name="adj4" fmla="val -26812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/>
            <a:r>
              <a:rPr lang="ko-KR" altLang="en-US" sz="1100"/>
              <a:t>&lt;typeAliases&gt;</a:t>
            </a:r>
            <a:endParaRPr lang="ko-KR" altLang="en-US" sz="1100"/>
          </a:p>
          <a:p>
            <a:pPr/>
            <a:r>
              <a:rPr lang="ko-KR" altLang="en-US" sz="1100"/>
              <a:t>      &lt;typeAlias type="com.spring.ex01.MemberVO" alias="memberVO"/&gt;</a:t>
            </a:r>
            <a:endParaRPr lang="ko-KR" altLang="en-US" sz="1100"/>
          </a:p>
          <a:p>
            <a:pPr/>
            <a:r>
              <a:rPr lang="ko-KR" altLang="en-US" sz="1100"/>
              <a:t>   &lt;/typeAliases&gt;</a:t>
            </a:r>
            <a:endParaRPr lang="ko-KR" altLang="en-US" sz="1100"/>
          </a:p>
          <a:p>
            <a:pPr/>
            <a:endParaRPr lang="ko-KR" altLang="en-US" sz="1100"/>
          </a:p>
        </p:txBody>
      </p:sp>
      <p:sp>
        <p:nvSpPr>
          <p:cNvPr id="11269" name="직사각형 11268"/>
          <p:cNvSpPr txBox="1"/>
          <p:nvPr/>
        </p:nvSpPr>
        <p:spPr>
          <a:xfrm>
            <a:off x="2227441" y="4815006"/>
            <a:ext cx="1264947" cy="421839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  <p:txBody>
          <a:bodyPr wrap="square">
            <a:spAutoFit/>
          </a:bodyPr>
          <a:p>
            <a:pPr/>
            <a:r>
              <a:rPr lang="en-US" altLang="ko-KR" sz="1100"/>
              <a:t>23</a:t>
            </a:r>
            <a:r>
              <a:rPr lang="ko-KR" altLang="en-US" sz="1100"/>
              <a:t>장의</a:t>
            </a:r>
            <a:endParaRPr lang="en-US" altLang="ko-KR" sz="1100"/>
          </a:p>
          <a:p>
            <a:pPr/>
            <a:r>
              <a:rPr lang="en-US" altLang="ko-KR" sz="1100"/>
              <a:t>SqlMapConfig.xml</a:t>
            </a:r>
            <a:endParaRPr lang="en-US" altLang="ko-KR" sz="1100"/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490870"/>
            <a:ext cx="7543799" cy="45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/>
              <a:t>1. </a:t>
            </a:r>
            <a:r>
              <a:rPr lang="ko-KR" altLang="en-US" sz="1200"/>
              <a:t>자바 클래스는 다음과 같이 </a:t>
            </a:r>
            <a:r>
              <a:rPr lang="en-US" altLang="ko-KR" sz="1200"/>
              <a:t>com.spring.member </a:t>
            </a:r>
            <a:r>
              <a:rPr lang="ko-KR" altLang="en-US" sz="1200"/>
              <a:t>패키지 아래에 다시 패키지별로 위치시킵니다</a:t>
            </a:r>
            <a:r>
              <a:rPr lang="en-US" altLang="ko-KR" sz="1200"/>
              <a:t>. </a:t>
            </a:r>
            <a:r>
              <a:rPr lang="ko-KR" altLang="en-US" sz="1200"/>
              <a:t>또 </a:t>
            </a:r>
            <a:r>
              <a:rPr lang="en-US" altLang="ko-KR" sz="1200"/>
              <a:t>JSP </a:t>
            </a:r>
            <a:r>
              <a:rPr lang="ko-KR" altLang="en-US" sz="1200"/>
              <a:t>파일은</a:t>
            </a:r>
            <a:endParaRPr lang="ko-KR" altLang="en-US" sz="1200"/>
          </a:p>
          <a:p>
            <a:pPr lvl="0"/>
            <a:r>
              <a:rPr lang="en-US" altLang="ko-KR" sz="1200"/>
              <a:t>    </a:t>
            </a:r>
            <a:r>
              <a:rPr lang="ko-KR" altLang="en-US" sz="1200"/>
              <a:t> </a:t>
            </a:r>
            <a:r>
              <a:rPr lang="en-US" altLang="ko-KR" sz="1200"/>
              <a:t>WEB-INF/views/member </a:t>
            </a:r>
            <a:r>
              <a:rPr lang="ko-KR" altLang="en-US" sz="1200"/>
              <a:t>폴더에 위치하도록 준비합니다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3399183" y="1952535"/>
            <a:ext cx="1978107" cy="49073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00809"/>
            <a:ext cx="7931426" cy="449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컨트롤러 역할을 하는 </a:t>
            </a:r>
            <a:r>
              <a:rPr lang="en-US" altLang="ko-KR" sz="1200">
                <a:latin typeface="+mj-ea"/>
                <a:ea typeface="+mj-ea"/>
              </a:rPr>
              <a:t>MemberControllerImpl </a:t>
            </a:r>
            <a:r>
              <a:rPr lang="ko-KR" altLang="en-US" sz="1200">
                <a:latin typeface="+mj-ea"/>
                <a:ea typeface="+mj-ea"/>
              </a:rPr>
              <a:t>클래스에서는 </a:t>
            </a:r>
            <a:r>
              <a:rPr lang="en-US" altLang="ko-KR" sz="1200">
                <a:latin typeface="+mj-ea"/>
                <a:ea typeface="+mj-ea"/>
              </a:rPr>
              <a:t>memberService </a:t>
            </a:r>
            <a:r>
              <a:rPr lang="ko-KR" altLang="en-US" sz="1200">
                <a:latin typeface="+mj-ea"/>
                <a:ea typeface="+mj-ea"/>
              </a:rPr>
              <a:t>속성에 빈을 주입하기 위해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setter</a:t>
            </a:r>
            <a:r>
              <a:rPr lang="ko-KR" altLang="en-US" sz="1200">
                <a:latin typeface="+mj-ea"/>
                <a:ea typeface="+mj-ea"/>
              </a:rPr>
              <a:t>를 구현합니다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790160" y="1962474"/>
            <a:ext cx="7056783" cy="48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03852" y="1607982"/>
            <a:ext cx="6967331" cy="4286335"/>
          </a:xfrm>
          <a:prstGeom prst="rect">
            <a:avLst/>
          </a:prstGeom>
          <a:noFill/>
          <a:ln>
            <a:noFill/>
          </a:ln>
        </p:spPr>
      </p:pic>
      <p:sp>
        <p:nvSpPr>
          <p:cNvPr id="14340" name="설명선 1(강조선) 14339"/>
          <p:cNvSpPr/>
          <p:nvPr/>
        </p:nvSpPr>
        <p:spPr>
          <a:xfrm>
            <a:off x="4572000" y="4290900"/>
            <a:ext cx="4563732" cy="446453"/>
          </a:xfrm>
          <a:prstGeom prst="accentCallout1">
            <a:avLst>
              <a:gd name="adj1" fmla="val 35133"/>
              <a:gd name="adj2" fmla="val -2572"/>
              <a:gd name="adj3" fmla="val 235373"/>
              <a:gd name="adj4" fmla="val -36028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r>
              <a:rPr lang="ko-KR" altLang="en-US" sz="1100"/>
              <a:t>org.springframework.web.servlet.mvc.multiaction.MultiActionControlle</a:t>
            </a:r>
            <a:r>
              <a:rPr lang="en-US" altLang="ko-KR" sz="1100"/>
              <a:t>r</a:t>
            </a:r>
            <a:endParaRPr lang="en-US" altLang="ko-KR" sz="1100"/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29126" y="1234455"/>
            <a:ext cx="6742665" cy="5625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8" y="1254274"/>
            <a:ext cx="74642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속성 </a:t>
            </a:r>
            <a:r>
              <a:rPr lang="en-US" altLang="ko-KR" sz="1200">
                <a:latin typeface="+mj-ea"/>
                <a:ea typeface="+mj-ea"/>
              </a:rPr>
              <a:t>memberDAO</a:t>
            </a:r>
            <a:r>
              <a:rPr lang="ko-KR" altLang="en-US" sz="1200">
                <a:latin typeface="+mj-ea"/>
                <a:ea typeface="+mj-ea"/>
              </a:rPr>
              <a:t>에 </a:t>
            </a:r>
            <a:r>
              <a:rPr lang="en-US" altLang="ko-KR" sz="1200">
                <a:latin typeface="+mj-ea"/>
                <a:ea typeface="+mj-ea"/>
              </a:rPr>
              <a:t>memberDAO </a:t>
            </a:r>
            <a:r>
              <a:rPr lang="ko-KR" altLang="en-US" sz="1200">
                <a:latin typeface="+mj-ea"/>
                <a:ea typeface="+mj-ea"/>
              </a:rPr>
              <a:t>빈을 주입하기 위해 </a:t>
            </a:r>
            <a:r>
              <a:rPr lang="en-US" altLang="ko-KR" sz="1200">
                <a:latin typeface="+mj-ea"/>
                <a:ea typeface="+mj-ea"/>
              </a:rPr>
              <a:t>setter</a:t>
            </a:r>
            <a:r>
              <a:rPr lang="ko-KR" altLang="en-US" sz="1200">
                <a:latin typeface="+mj-ea"/>
                <a:ea typeface="+mj-ea"/>
              </a:rPr>
              <a:t>를 구현합니다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1240614" y="1600847"/>
            <a:ext cx="5834270" cy="5020297"/>
            <a:chOff x="457200" y="785813"/>
            <a:chExt cx="8229600" cy="7762875"/>
          </a:xfrm>
        </p:grpSpPr>
        <p:pic>
          <p:nvPicPr>
            <p:cNvPr id="1638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57200" y="785813"/>
              <a:ext cx="8229600" cy="528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8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57200" y="6072188"/>
              <a:ext cx="8210550" cy="2476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00809"/>
            <a:ext cx="7754298" cy="449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설정 파일에서 만든 </a:t>
            </a:r>
            <a:r>
              <a:rPr lang="en-US" altLang="ko-KR" sz="1200">
                <a:latin typeface="+mj-ea"/>
                <a:ea typeface="+mj-ea"/>
              </a:rPr>
              <a:t>sqlSession </a:t>
            </a:r>
            <a:r>
              <a:rPr lang="ko-KR" altLang="en-US" sz="1200">
                <a:latin typeface="+mj-ea"/>
                <a:ea typeface="+mj-ea"/>
              </a:rPr>
              <a:t>빈을 속성 </a:t>
            </a:r>
            <a:r>
              <a:rPr lang="en-US" altLang="ko-KR" sz="1200">
                <a:latin typeface="+mj-ea"/>
                <a:ea typeface="+mj-ea"/>
              </a:rPr>
              <a:t>sqlSession</a:t>
            </a:r>
            <a:r>
              <a:rPr lang="ko-KR" altLang="en-US" sz="1200">
                <a:latin typeface="+mj-ea"/>
                <a:ea typeface="+mj-ea"/>
              </a:rPr>
              <a:t>에 주입하기 위해 </a:t>
            </a:r>
            <a:r>
              <a:rPr lang="en-US" altLang="ko-KR" sz="1200">
                <a:latin typeface="+mj-ea"/>
                <a:ea typeface="+mj-ea"/>
              </a:rPr>
              <a:t>setter</a:t>
            </a:r>
            <a:r>
              <a:rPr lang="ko-KR" altLang="en-US" sz="1200">
                <a:latin typeface="+mj-ea"/>
                <a:ea typeface="+mj-ea"/>
              </a:rPr>
              <a:t>를 구현합니다</a:t>
            </a:r>
            <a:r>
              <a:rPr lang="en-US" altLang="ko-KR" sz="1200">
                <a:latin typeface="+mj-ea"/>
                <a:ea typeface="+mj-ea"/>
              </a:rPr>
              <a:t>. sqlSession </a:t>
            </a:r>
            <a:r>
              <a:rPr lang="ko-KR" altLang="en-US" sz="1200">
                <a:latin typeface="+mj-ea"/>
                <a:ea typeface="+mj-ea"/>
              </a:rPr>
              <a:t>빈의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메서드들을 이용해 매퍼 파일에 정의된 </a:t>
            </a:r>
            <a:r>
              <a:rPr lang="en-US" altLang="ko-KR" sz="1200">
                <a:latin typeface="+mj-ea"/>
                <a:ea typeface="+mj-ea"/>
              </a:rPr>
              <a:t>SQL</a:t>
            </a:r>
            <a:r>
              <a:rPr lang="ko-KR" altLang="en-US" sz="1200">
                <a:latin typeface="+mj-ea"/>
                <a:ea typeface="+mj-ea"/>
              </a:rPr>
              <a:t>문을 사용합니다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72817" y="1962474"/>
            <a:ext cx="6213110" cy="4706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665921" y="1490222"/>
            <a:ext cx="6570593" cy="1558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490870"/>
            <a:ext cx="7633252" cy="45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en-US" altLang="ko-KR" sz="1200">
                <a:latin typeface="+mj-ea"/>
                <a:ea typeface="+mj-ea"/>
              </a:rPr>
              <a:t>listMembers.jsp</a:t>
            </a:r>
            <a:r>
              <a:rPr lang="ko-KR" altLang="en-US" sz="1200">
                <a:latin typeface="+mj-ea"/>
                <a:ea typeface="+mj-ea"/>
              </a:rPr>
              <a:t>를 다음과 같이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회원 목록창에서 회원 정보를 표시하면서 삭제하기 링크도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추가합니다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28090" y="1952535"/>
            <a:ext cx="6380923" cy="4028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30626"/>
            <a:ext cx="76730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ko-KR" altLang="en-US" sz="1200">
                <a:latin typeface="+mj-ea"/>
                <a:ea typeface="+mj-ea"/>
              </a:rPr>
              <a:t>회원 가입창에서 회원 정보를 입력한 후 </a:t>
            </a:r>
            <a:r>
              <a:rPr lang="en-US" altLang="ko-KR" sz="1200">
                <a:latin typeface="+mj-ea"/>
                <a:ea typeface="+mj-ea"/>
              </a:rPr>
              <a:t>action </a:t>
            </a:r>
            <a:r>
              <a:rPr lang="ko-KR" altLang="en-US" sz="1200">
                <a:latin typeface="+mj-ea"/>
                <a:ea typeface="+mj-ea"/>
              </a:rPr>
              <a:t>값을 </a:t>
            </a:r>
            <a:r>
              <a:rPr lang="en-US" altLang="ko-KR" sz="1200">
                <a:latin typeface="+mj-ea"/>
                <a:ea typeface="+mj-ea"/>
              </a:rPr>
              <a:t>/member/addMember.do </a:t>
            </a:r>
            <a:r>
              <a:rPr lang="ko-KR" altLang="en-US" sz="1200">
                <a:latin typeface="+mj-ea"/>
                <a:ea typeface="+mj-ea"/>
              </a:rPr>
              <a:t>서블릿으로 전송합니다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64705" y="1807625"/>
            <a:ext cx="6742251" cy="4458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40565"/>
            <a:ext cx="7394712" cy="4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en-US" altLang="ko-KR" sz="1200">
                <a:latin typeface="+mj-ea"/>
                <a:ea typeface="+mj-ea"/>
              </a:rPr>
              <a:t>http://localhost:8090/pro24/member/listMembers.do</a:t>
            </a:r>
            <a:r>
              <a:rPr lang="ko-KR" altLang="en-US" sz="1200">
                <a:latin typeface="+mj-ea"/>
                <a:ea typeface="+mj-ea"/>
              </a:rPr>
              <a:t>로 요청하면 다음과 같이 회원 정보를 표시합니다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하단의 회원가입을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46752" y="2002230"/>
            <a:ext cx="5943600" cy="22688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8" y="1451113"/>
            <a:ext cx="74642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8. </a:t>
            </a:r>
            <a:r>
              <a:rPr lang="ko-KR" altLang="en-US" sz="1200">
                <a:latin typeface="+mj-ea"/>
                <a:ea typeface="+mj-ea"/>
              </a:rPr>
              <a:t>김동준이라는 새 회원 정보를 입력하고 가입하기를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785150" y="1838944"/>
            <a:ext cx="2341245" cy="29813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10748"/>
            <a:ext cx="7712764" cy="449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9. </a:t>
            </a:r>
            <a:r>
              <a:rPr lang="ko-KR" altLang="en-US" sz="1200">
                <a:latin typeface="+mj-ea"/>
                <a:ea typeface="+mj-ea"/>
              </a:rPr>
              <a:t>그러면 컨트롤러에 </a:t>
            </a:r>
            <a:r>
              <a:rPr lang="en-US" altLang="ko-KR" sz="1200">
                <a:latin typeface="+mj-ea"/>
                <a:ea typeface="+mj-ea"/>
              </a:rPr>
              <a:t>http://localhost:8090/pro24/member/addMember.do</a:t>
            </a:r>
            <a:r>
              <a:rPr lang="ko-KR" altLang="en-US" sz="1200">
                <a:latin typeface="+mj-ea"/>
                <a:ea typeface="+mj-ea"/>
              </a:rPr>
              <a:t>로 요청하여 회원을 추가하고 다시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회원 목록을 표시합니다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이번에는 삭제하기를 클릭해 앞에서 추가한 ‘김동준’ 회원을 삭제해 볼까요</a:t>
            </a:r>
            <a:r>
              <a:rPr lang="en-US" altLang="ko-KR" sz="1200">
                <a:latin typeface="+mj-ea"/>
                <a:ea typeface="+mj-ea"/>
              </a:rPr>
              <a:t>?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46752" y="2116136"/>
            <a:ext cx="5943600" cy="26257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20687"/>
            <a:ext cx="7446184" cy="449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10. </a:t>
            </a:r>
            <a:r>
              <a:rPr lang="ko-KR" altLang="en-US" sz="1200">
                <a:latin typeface="+mj-ea"/>
                <a:ea typeface="+mj-ea"/>
              </a:rPr>
              <a:t>삭제하기를 클릭하면 서버의 </a:t>
            </a:r>
            <a:r>
              <a:rPr lang="en-US" altLang="ko-KR" sz="1200">
                <a:latin typeface="+mj-ea"/>
                <a:ea typeface="+mj-ea"/>
              </a:rPr>
              <a:t>http://localhost:8090/pro24/member/removeMember.do</a:t>
            </a:r>
            <a:r>
              <a:rPr lang="ko-KR" altLang="en-US" sz="1200">
                <a:latin typeface="+mj-ea"/>
                <a:ea typeface="+mj-ea"/>
              </a:rPr>
              <a:t>로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 </a:t>
            </a:r>
            <a:r>
              <a:rPr lang="ko-KR" altLang="en-US" sz="1200">
                <a:latin typeface="+mj-ea"/>
                <a:ea typeface="+mj-ea"/>
              </a:rPr>
              <a:t>다음과 같이 ‘김동준’ 회원 정보가 삭제된 것을 볼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256411" y="1982352"/>
            <a:ext cx="5943600" cy="22650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095" y="1520687"/>
            <a:ext cx="7446185" cy="268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11 </a:t>
            </a:r>
            <a:r>
              <a:rPr lang="ko-KR" altLang="en-US" sz="1200">
                <a:latin typeface="+mj-ea"/>
                <a:ea typeface="+mj-ea"/>
              </a:rPr>
              <a:t>회원 정보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수정 기능을 완성하시오</a:t>
            </a:r>
            <a:r>
              <a:rPr lang="en-US" altLang="ko-KR" sz="1200">
                <a:latin typeface="+mj-ea"/>
                <a:ea typeface="+mj-ea"/>
              </a:rPr>
              <a:t>(</a:t>
            </a:r>
            <a:r>
              <a:rPr lang="ko-KR" altLang="en-US" sz="1200">
                <a:latin typeface="+mj-ea"/>
                <a:ea typeface="+mj-ea"/>
              </a:rPr>
              <a:t>과제)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3" name="Picture 2" descr="C:\leebs\JSP\길벗 피드백\종이원고 수정 사항\13-29장\17장\그림17-19.png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20833" y="2071804"/>
            <a:ext cx="7185973" cy="166010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직사각형 13"/>
          <p:cNvSpPr txBox="1"/>
          <p:nvPr/>
        </p:nvSpPr>
        <p:spPr>
          <a:xfrm>
            <a:off x="932175" y="5271655"/>
            <a:ext cx="7453269" cy="59384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  <p:txBody>
          <a:bodyPr wrap="square">
            <a:spAutoFit/>
          </a:bodyPr>
          <a:p>
            <a:pPr/>
            <a:r>
              <a:rPr lang="en-US" altLang="ko-KR" sz="1100"/>
              <a:t> </a:t>
            </a:r>
            <a:r>
              <a:rPr lang="ko-KR" altLang="en-US" sz="1100"/>
              <a:t>.</a:t>
            </a:r>
            <a:r>
              <a:rPr lang="en-US" altLang="ko-KR" sz="1100"/>
              <a:t>  24</a:t>
            </a:r>
            <a:r>
              <a:rPr lang="ko-KR" altLang="en-US" sz="1100"/>
              <a:t>장 </a:t>
            </a:r>
            <a:r>
              <a:rPr lang="en-US" altLang="ko-KR" sz="1100"/>
              <a:t>member.</a:t>
            </a:r>
            <a:r>
              <a:rPr lang="ko-KR" altLang="en-US" sz="1100"/>
              <a:t> </a:t>
            </a:r>
            <a:r>
              <a:rPr lang="en-US" altLang="ko-KR" sz="1100"/>
              <a:t>xml    &lt;update id = ......&gt;</a:t>
            </a:r>
            <a:r>
              <a:rPr lang="ko-KR" altLang="en-US" sz="1100"/>
              <a:t> 활용  /  </a:t>
            </a:r>
            <a:r>
              <a:rPr lang="en-US" altLang="ko-KR" sz="1100"/>
              <a:t>modMember.jsp</a:t>
            </a:r>
            <a:r>
              <a:rPr lang="ko-KR" altLang="en-US" sz="1100"/>
              <a:t> 활용 / </a:t>
            </a:r>
            <a:r>
              <a:rPr lang="en-US" altLang="ko-KR" sz="1100"/>
              <a:t>listMembers.jsp </a:t>
            </a:r>
            <a:r>
              <a:rPr lang="ko-KR" altLang="en-US" sz="1100"/>
              <a:t> 수정항목 추가 (17장 참고)</a:t>
            </a:r>
            <a:endParaRPr lang="ko-KR" altLang="en-US" sz="1100"/>
          </a:p>
          <a:p>
            <a:pPr/>
            <a:endParaRPr lang="en-US" altLang="ko-KR" sz="1100"/>
          </a:p>
          <a:p>
            <a:pPr/>
            <a:r>
              <a:rPr lang="en-US" altLang="ko-KR" sz="1100"/>
              <a:t> </a:t>
            </a:r>
            <a:r>
              <a:rPr lang="ko-KR" altLang="en-US" sz="1100"/>
              <a:t>.</a:t>
            </a:r>
            <a:r>
              <a:rPr lang="en-US" altLang="ko-KR" sz="1100"/>
              <a:t>  </a:t>
            </a:r>
            <a:r>
              <a:rPr lang="ko-KR" altLang="en-US" sz="1100"/>
              <a:t>24장 MemberControllerImpl  /   MemberServiceImpl  /    MemberDAOImpl</a:t>
            </a:r>
            <a:r>
              <a:rPr lang="en-US" altLang="ko-KR" sz="1100"/>
              <a:t>    </a:t>
            </a:r>
            <a:r>
              <a:rPr lang="ko-KR" altLang="en-US" sz="1100"/>
              <a:t>클래스마다 수정항목 관련 매서드 구현</a:t>
            </a:r>
            <a:endParaRPr lang="ko-KR" altLang="en-US" sz="1100"/>
          </a:p>
        </p:txBody>
      </p:sp>
      <p:pic>
        <p:nvPicPr>
          <p:cNvPr id="15" name="Picture 2" descr="C:\leebs\JSP\길벗 피드백\종이원고 수정 사항\13-29장\17장\그림17-16.png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974304" y="3429000"/>
            <a:ext cx="2042463" cy="1704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077" y="1520687"/>
            <a:ext cx="7446186" cy="268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11 </a:t>
            </a:r>
            <a:r>
              <a:rPr lang="ko-KR" altLang="en-US" sz="1200">
                <a:latin typeface="+mj-ea"/>
                <a:ea typeface="+mj-ea"/>
              </a:rPr>
              <a:t>회원 정보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수정 기능을 완성하시오.</a:t>
            </a:r>
            <a:r>
              <a:rPr lang="en-US" altLang="ko-KR" sz="1200">
                <a:latin typeface="+mj-ea"/>
                <a:ea typeface="+mj-ea"/>
              </a:rPr>
              <a:t> (member.xm l)</a:t>
            </a:r>
            <a:endParaRPr lang="en-US" altLang="ko-KR" sz="1200">
              <a:latin typeface="+mj-ea"/>
              <a:ea typeface="+mj-ea"/>
            </a:endParaRPr>
          </a:p>
        </p:txBody>
      </p:sp>
      <p:pic>
        <p:nvPicPr>
          <p:cNvPr id="18" name="그림 1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095745" y="1967851"/>
            <a:ext cx="4943475" cy="165735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083" y="1520687"/>
            <a:ext cx="7446185" cy="268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11 </a:t>
            </a:r>
            <a:r>
              <a:rPr lang="ko-KR" altLang="en-US" sz="1200">
                <a:latin typeface="+mj-ea"/>
                <a:ea typeface="+mj-ea"/>
              </a:rPr>
              <a:t>회원 정보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수정 기능을 완성하시오.</a:t>
            </a:r>
            <a:r>
              <a:rPr lang="en-US" altLang="ko-KR" sz="1200">
                <a:latin typeface="+mj-ea"/>
                <a:ea typeface="+mj-ea"/>
              </a:rPr>
              <a:t> (action-servlet.xm l)</a:t>
            </a:r>
            <a:endParaRPr lang="en-US" altLang="ko-KR" sz="1200">
              <a:latin typeface="+mj-ea"/>
              <a:ea typeface="+mj-ea"/>
            </a:endParaRPr>
          </a:p>
        </p:txBody>
      </p:sp>
      <p:pic>
        <p:nvPicPr>
          <p:cNvPr id="16" name="그림 1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766762" y="1885286"/>
            <a:ext cx="7610475" cy="221932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  <p:sp>
        <p:nvSpPr>
          <p:cNvPr id="17" name="설명선 1(강조선) 16"/>
          <p:cNvSpPr/>
          <p:nvPr/>
        </p:nvSpPr>
        <p:spPr>
          <a:xfrm>
            <a:off x="2271531" y="4241295"/>
            <a:ext cx="6101512" cy="446451"/>
          </a:xfrm>
          <a:prstGeom prst="accentCallout1">
            <a:avLst>
              <a:gd name="adj1" fmla="val 22845"/>
              <a:gd name="adj2" fmla="val -2188"/>
              <a:gd name="adj3" fmla="val -30867"/>
              <a:gd name="adj4" fmla="val -2054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/>
            <a:r>
              <a:rPr lang="ko-KR" altLang="en-US" sz="1200"/>
              <a:t>&lt;prop key="/member/</a:t>
            </a:r>
            <a:r>
              <a:rPr lang="en-US" altLang="ko-KR" sz="1200"/>
              <a:t>mod</a:t>
            </a:r>
            <a:r>
              <a:rPr lang="ko-KR" altLang="en-US" sz="1200"/>
              <a:t>Member.do" &gt;</a:t>
            </a:r>
            <a:r>
              <a:rPr lang="en-US" altLang="ko-KR" sz="1200"/>
              <a:t>mod</a:t>
            </a:r>
            <a:r>
              <a:rPr lang="ko-KR" altLang="en-US" sz="1200"/>
              <a:t>Member&lt;/prop&gt;</a:t>
            </a:r>
            <a:endParaRPr lang="ko-KR" altLang="en-US" sz="1200"/>
          </a:p>
        </p:txBody>
      </p:sp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075" y="1520687"/>
            <a:ext cx="7446185" cy="268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11 </a:t>
            </a:r>
            <a:r>
              <a:rPr lang="ko-KR" altLang="en-US" sz="1200">
                <a:latin typeface="+mj-ea"/>
                <a:ea typeface="+mj-ea"/>
              </a:rPr>
              <a:t>회원 정보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수정 기능을 완성하시오.</a:t>
            </a:r>
            <a:r>
              <a:rPr lang="en-US" altLang="ko-KR" sz="1200">
                <a:latin typeface="+mj-ea"/>
                <a:ea typeface="+mj-ea"/>
              </a:rPr>
              <a:t> (MemberControllerImpl.java)</a:t>
            </a:r>
            <a:endParaRPr lang="en-US" altLang="ko-KR" sz="1200">
              <a:latin typeface="+mj-ea"/>
              <a:ea typeface="+mj-ea"/>
            </a:endParaRPr>
          </a:p>
        </p:txBody>
      </p:sp>
      <p:pic>
        <p:nvPicPr>
          <p:cNvPr id="18" name="그림 1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669678" y="2014143"/>
            <a:ext cx="8288300" cy="2147632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24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스프링과 마이바티스 연동하기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24.3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 클래스와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파일 구현하기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064" y="1520687"/>
            <a:ext cx="7446186" cy="268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11 </a:t>
            </a:r>
            <a:r>
              <a:rPr lang="ko-KR" altLang="en-US" sz="1200">
                <a:latin typeface="+mj-ea"/>
                <a:ea typeface="+mj-ea"/>
              </a:rPr>
              <a:t>회원 정보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수정 기능을 완성하시오.</a:t>
            </a:r>
            <a:r>
              <a:rPr lang="en-US" altLang="ko-KR" sz="1200">
                <a:latin typeface="+mj-ea"/>
                <a:ea typeface="+mj-ea"/>
              </a:rPr>
              <a:t> (MemberServiceImpl.java)</a:t>
            </a:r>
            <a:endParaRPr lang="en-US" altLang="ko-KR" sz="1200">
              <a:latin typeface="+mj-ea"/>
              <a:ea typeface="+mj-ea"/>
            </a:endParaRPr>
          </a:p>
        </p:txBody>
      </p:sp>
      <p:pic>
        <p:nvPicPr>
          <p:cNvPr id="20" name="그림 19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750309" y="1944216"/>
            <a:ext cx="7643424" cy="1114601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  <p:sp>
        <p:nvSpPr>
          <p:cNvPr id="21" name="TextBox 2"/>
          <p:cNvSpPr txBox="1"/>
          <p:nvPr/>
        </p:nvSpPr>
        <p:spPr>
          <a:xfrm>
            <a:off x="576062" y="3472740"/>
            <a:ext cx="7446188" cy="27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11 </a:t>
            </a:r>
            <a:r>
              <a:rPr lang="ko-KR" altLang="en-US" sz="1200">
                <a:latin typeface="+mj-ea"/>
                <a:ea typeface="+mj-ea"/>
              </a:rPr>
              <a:t>회원 정보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수정 기능을 완성하시오.</a:t>
            </a:r>
            <a:r>
              <a:rPr lang="en-US" altLang="ko-KR" sz="1200">
                <a:latin typeface="+mj-ea"/>
                <a:ea typeface="+mj-ea"/>
              </a:rPr>
              <a:t> (MemberDAOImpl.java)</a:t>
            </a:r>
            <a:endParaRPr lang="en-US" altLang="ko-KR" sz="1200">
              <a:latin typeface="+mj-ea"/>
              <a:ea typeface="+mj-ea"/>
            </a:endParaRPr>
          </a:p>
        </p:txBody>
      </p:sp>
      <p:pic>
        <p:nvPicPr>
          <p:cNvPr id="22" name="그림 21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744086" y="3814143"/>
            <a:ext cx="7928658" cy="1118404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TotalTime>0</ep:TotalTime>
  <ep:HyperlinkBase/>
  <ep:Application>Hancom Office Hanshow 2010</ep:Application>
  <ep:AppVersion>8.0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cp:contentStatus/>
  <dcterms:created xsi:type="dcterms:W3CDTF">2018-08-29T04:30:46.000</dcterms:created>
  <dc:creator>SSEN Kim</dc:creator>
  <dc:description/>
  <cp:keywords/>
  <cp:lastModifiedBy>daewo</cp:lastModifiedBy>
  <dcterms:modified xsi:type="dcterms:W3CDTF">2020-08-03T14:05:11.129</dcterms:modified>
  <cp:revision>554</cp:revision>
  <dc:subject/>
  <dc:title>PowerPoint 프레젠테이션</dc:title>
</cp:coreProperties>
</file>