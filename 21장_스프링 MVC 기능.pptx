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57" r:id="rId42"/>
  </p:sldMasterIdLst>
  <p:notesMasterIdLst>
    <p:notesMasterId r:id="rId44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3612"/>
    <p:restoredTop sz="94660"/>
  </p:normalViewPr>
  <p:slideViewPr>
    <p:cSldViewPr snapToGrid="0">
      <p:cViewPr varScale="1">
        <p:scale>
          <a:sx n="96" d="100"/>
          <a:sy n="96" d="100"/>
        </p:scale>
        <p:origin x="-906" y="-108"/>
      </p:cViewPr>
      <p:guideLst>
        <p:guide orient="horz" pos="1069"/>
        <p:guide pos="383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slide" Target="slides/slide29.xml"  /><Relationship Id="rId3" Type="http://schemas.openxmlformats.org/officeDocument/2006/relationships/slide" Target="slides/slide3.xml"  /><Relationship Id="rId30" Type="http://schemas.openxmlformats.org/officeDocument/2006/relationships/slide" Target="slides/slide30.xml"  /><Relationship Id="rId31" Type="http://schemas.openxmlformats.org/officeDocument/2006/relationships/slide" Target="slides/slide31.xml"  /><Relationship Id="rId32" Type="http://schemas.openxmlformats.org/officeDocument/2006/relationships/slide" Target="slides/slide32.xml"  /><Relationship Id="rId33" Type="http://schemas.openxmlformats.org/officeDocument/2006/relationships/slide" Target="slides/slide33.xml"  /><Relationship Id="rId34" Type="http://schemas.openxmlformats.org/officeDocument/2006/relationships/slide" Target="slides/slide34.xml"  /><Relationship Id="rId35" Type="http://schemas.openxmlformats.org/officeDocument/2006/relationships/slide" Target="slides/slide35.xml"  /><Relationship Id="rId36" Type="http://schemas.openxmlformats.org/officeDocument/2006/relationships/slide" Target="slides/slide36.xml"  /><Relationship Id="rId37" Type="http://schemas.openxmlformats.org/officeDocument/2006/relationships/slide" Target="slides/slide37.xml"  /><Relationship Id="rId38" Type="http://schemas.openxmlformats.org/officeDocument/2006/relationships/slide" Target="slides/slide38.xml"  /><Relationship Id="rId39" Type="http://schemas.openxmlformats.org/officeDocument/2006/relationships/slide" Target="slides/slide39.xml"  /><Relationship Id="rId4" Type="http://schemas.openxmlformats.org/officeDocument/2006/relationships/slide" Target="slides/slide4.xml"  /><Relationship Id="rId40" Type="http://schemas.openxmlformats.org/officeDocument/2006/relationships/presProps" Target="presProps.xml"  /><Relationship Id="rId41" Type="http://schemas.openxmlformats.org/officeDocument/2006/relationships/viewProps" Target="viewProps.xml"  /><Relationship Id="rId42" Type="http://schemas.openxmlformats.org/officeDocument/2006/relationships/slideMaster" Target="slideMasters/slideMaster1.xml"  /><Relationship Id="rId43" Type="http://schemas.openxmlformats.org/officeDocument/2006/relationships/theme" Target="theme/theme1.xml"  /><Relationship Id="rId44" Type="http://schemas.openxmlformats.org/officeDocument/2006/relationships/notesMaster" Target="notesMasters/notesMaster1.xml"  /><Relationship Id="rId45" Type="http://schemas.openxmlformats.org/officeDocument/2006/relationships/commentAuthors" Target="commentAuthors.xml"  /><Relationship Id="rId46" Type="http://schemas.openxmlformats.org/officeDocument/2006/relationships/tableStyles" Target="tableStyles.xml"  /><Relationship Id="rId5" Type="http://schemas.openxmlformats.org/officeDocument/2006/relationships/slide" Target="slides/slide5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emf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emf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emf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0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4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5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1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2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3.png"  /><Relationship Id="rId3" Type="http://schemas.openxmlformats.org/officeDocument/2006/relationships/image" Target="../media/image44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5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79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21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</a:t>
            </a:r>
            <a:r>
              <a:rPr lang="en-US" altLang="ko-KR" sz="2800"/>
              <a:t>MVC </a:t>
            </a:r>
            <a:r>
              <a:rPr lang="ko-KR" altLang="en-US" sz="2800"/>
              <a:t>기능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260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21.1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프레임워크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MVC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특징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21.2  SimpleUrlController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이용해 스프링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MVC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실습하기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21.3  MultiActionController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이용해 스프링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MVC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실습하기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21.4 MultiActionController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이용해 회원 정보 표시하기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21.5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요청명과 동일한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JSP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표시하기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프레임워크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 특징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983" y="1540565"/>
            <a:ext cx="7215808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스프링에서 지원하는 </a:t>
            </a:r>
            <a:r>
              <a:rPr lang="en-US" altLang="ko-KR" sz="1200" b="1">
                <a:latin typeface="+mj-ea"/>
                <a:ea typeface="+mj-ea"/>
              </a:rPr>
              <a:t>MVC </a:t>
            </a:r>
            <a:r>
              <a:rPr lang="ko-KR" altLang="en-US" sz="1200" b="1">
                <a:latin typeface="+mj-ea"/>
                <a:ea typeface="+mj-ea"/>
              </a:rPr>
              <a:t>기능의 특징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85191" y="1797686"/>
            <a:ext cx="7295321" cy="118173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모델</a:t>
            </a:r>
            <a:r>
              <a:rPr lang="en-US" altLang="ko-KR" sz="1200">
                <a:latin typeface="+mj-ea"/>
                <a:ea typeface="+mj-ea"/>
              </a:rPr>
              <a:t>2 </a:t>
            </a:r>
            <a:r>
              <a:rPr lang="ko-KR" altLang="en-US" sz="1200">
                <a:latin typeface="+mj-ea"/>
                <a:ea typeface="+mj-ea"/>
              </a:rPr>
              <a:t>아키텍처를 지원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스프링과 다른 모듈과의 연계가 용이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타일즈</a:t>
            </a:r>
            <a:r>
              <a:rPr lang="en-US" altLang="ko-KR" sz="1200">
                <a:latin typeface="+mj-ea"/>
                <a:ea typeface="+mj-ea"/>
              </a:rPr>
              <a:t>(tiles)</a:t>
            </a:r>
            <a:r>
              <a:rPr lang="ko-KR" altLang="en-US" sz="1200">
                <a:latin typeface="+mj-ea"/>
                <a:ea typeface="+mj-ea"/>
              </a:rPr>
              <a:t>나 사이트메시</a:t>
            </a:r>
            <a:r>
              <a:rPr lang="en-US" altLang="ko-KR" sz="1200">
                <a:latin typeface="+mj-ea"/>
                <a:ea typeface="+mj-ea"/>
              </a:rPr>
              <a:t>(sitemesh) </a:t>
            </a:r>
            <a:r>
              <a:rPr lang="ko-KR" altLang="en-US" sz="1200">
                <a:latin typeface="+mj-ea"/>
                <a:ea typeface="+mj-ea"/>
              </a:rPr>
              <a:t>같은 </a:t>
            </a:r>
            <a:r>
              <a:rPr lang="en-US" altLang="ko-KR" sz="1200">
                <a:latin typeface="+mj-ea"/>
                <a:ea typeface="+mj-ea"/>
              </a:rPr>
              <a:t>View </a:t>
            </a:r>
            <a:r>
              <a:rPr lang="ko-KR" altLang="en-US" sz="1200">
                <a:latin typeface="+mj-ea"/>
                <a:ea typeface="+mj-ea"/>
              </a:rPr>
              <a:t>기술과의 연계가 용이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태그 라이브러리를 통해 </a:t>
            </a:r>
            <a:r>
              <a:rPr lang="en-US" altLang="ko-KR" sz="1200">
                <a:latin typeface="+mj-ea"/>
                <a:ea typeface="+mj-ea"/>
              </a:rPr>
              <a:t>message </a:t>
            </a:r>
            <a:r>
              <a:rPr lang="ko-KR" altLang="en-US" sz="1200">
                <a:latin typeface="+mj-ea"/>
                <a:ea typeface="+mj-ea"/>
              </a:rPr>
              <a:t>출력</a:t>
            </a:r>
            <a:r>
              <a:rPr lang="en-US" altLang="ko-KR" sz="1200">
                <a:latin typeface="+mj-ea"/>
                <a:ea typeface="+mj-ea"/>
              </a:rPr>
              <a:t>, theme </a:t>
            </a:r>
            <a:r>
              <a:rPr lang="ko-KR" altLang="en-US" sz="1200">
                <a:latin typeface="+mj-ea"/>
                <a:ea typeface="+mj-ea"/>
              </a:rPr>
              <a:t>적용 그리고 입력 폼을 보다 쉽게 구현할 수 있음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프레임워크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 특징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2635" y="1441174"/>
            <a:ext cx="3637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프레임워크 의 </a:t>
            </a:r>
            <a:r>
              <a:rPr lang="en-US" altLang="ko-KR" sz="1200" b="1">
                <a:latin typeface="+mj-ea"/>
                <a:ea typeface="+mj-ea"/>
              </a:rPr>
              <a:t>MVC </a:t>
            </a:r>
            <a:r>
              <a:rPr lang="ko-KR" altLang="en-US" sz="1200" b="1">
                <a:latin typeface="+mj-ea"/>
                <a:ea typeface="+mj-ea"/>
              </a:rPr>
              <a:t>구조도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097155" y="1718173"/>
            <a:ext cx="4269156" cy="504043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프레임워크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 특징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2635" y="1441174"/>
            <a:ext cx="3637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프레임워크 의 </a:t>
            </a:r>
            <a:r>
              <a:rPr lang="en-US" altLang="ko-KR" sz="1200" b="1">
                <a:latin typeface="+mj-ea"/>
                <a:ea typeface="+mj-ea"/>
              </a:rPr>
              <a:t>MVC </a:t>
            </a:r>
            <a:r>
              <a:rPr lang="ko-KR" altLang="en-US" sz="1200" b="1">
                <a:latin typeface="+mj-ea"/>
                <a:ea typeface="+mj-ea"/>
              </a:rPr>
              <a:t>구조도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1027" name="그림 13"/>
          <p:cNvPicPr/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12068" y="1248694"/>
            <a:ext cx="7433877" cy="535684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프레임워크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 특징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56782" y="1485108"/>
            <a:ext cx="2539808" cy="265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프레임워크 </a:t>
            </a:r>
            <a:r>
              <a:rPr lang="en-US" altLang="ko-KR" sz="1200" b="1">
                <a:latin typeface="+mj-ea"/>
                <a:ea typeface="+mj-ea"/>
              </a:rPr>
              <a:t>MVC </a:t>
            </a:r>
            <a:r>
              <a:rPr lang="ko-KR" altLang="en-US" sz="1200" b="1">
                <a:latin typeface="+mj-ea"/>
                <a:ea typeface="+mj-ea"/>
              </a:rPr>
              <a:t>구성 요소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80102" y="1731628"/>
          <a:ext cx="7181142" cy="2028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524"/>
                <a:gridCol w="5287618"/>
              </a:tblGrid>
              <a:tr h="21578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구성 요소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DispatcherServlet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클라이언트의 요청을 전달받아 해당 요청에 대한 컨트롤러를 선택하여 클라이언트의 요청을전달합니다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또한 컨트롤러가 반환한 값을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View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전달하여 알맞은 응답을 생성합니다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198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HandlerMapping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클라이언트가 요청한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을 처리할 컨트롤러를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632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Controller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클라이언트의 요청을 처리한 후 그 결과를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DispatcherServlet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전달합니다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083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ModelAndView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컨트롤러가 처리한 결과 및 뷰 선택에 필요한 정보를 저장합니다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872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ViewResolver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컨트롤러의 처리 결과를 전달할 뷰를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36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View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컨트롤러의 처리 결과 화면을 생성합니다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프레임워크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 특징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790" y="4184975"/>
            <a:ext cx="7742583" cy="25568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브라우저가 </a:t>
            </a: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에 </a:t>
            </a:r>
            <a:r>
              <a:rPr lang="en-US" altLang="ko-KR" sz="1200">
                <a:latin typeface="+mj-ea"/>
                <a:ea typeface="+mj-ea"/>
              </a:rPr>
              <a:t>URL</a:t>
            </a:r>
            <a:r>
              <a:rPr lang="ko-KR" altLang="en-US" sz="1200">
                <a:latin typeface="+mj-ea"/>
                <a:ea typeface="+mj-ea"/>
              </a:rPr>
              <a:t>로 접근하여 해당 정보를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핸들러 매핑에서 해당 요청에 대해 매핑된 컨트롤러가 있는지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매핑된 컨트롤러에 대해 처리를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컨트롤러가 클라이언트의 요청을 처리한 결과와 </a:t>
            </a:r>
            <a:r>
              <a:rPr lang="en-US" altLang="ko-KR" sz="1200">
                <a:latin typeface="+mj-ea"/>
                <a:ea typeface="+mj-ea"/>
              </a:rPr>
              <a:t>View </a:t>
            </a:r>
            <a:r>
              <a:rPr lang="ko-KR" altLang="en-US" sz="1200">
                <a:latin typeface="+mj-ea"/>
                <a:ea typeface="+mj-ea"/>
              </a:rPr>
              <a:t>이름을 </a:t>
            </a:r>
            <a:r>
              <a:rPr lang="en-US" altLang="ko-KR" sz="1200">
                <a:latin typeface="+mj-ea"/>
                <a:ea typeface="+mj-ea"/>
              </a:rPr>
              <a:t>ModelAndView</a:t>
            </a:r>
            <a:r>
              <a:rPr lang="ko-KR" altLang="en-US" sz="1200">
                <a:latin typeface="+mj-ea"/>
                <a:ea typeface="+mj-ea"/>
              </a:rPr>
              <a:t>에 저장해서 </a:t>
            </a: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으로 반환합니다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에서는 컨트롤러에서 보내온 </a:t>
            </a:r>
            <a:r>
              <a:rPr lang="en-US" altLang="ko-KR" sz="1200">
                <a:latin typeface="+mj-ea"/>
                <a:ea typeface="+mj-ea"/>
              </a:rPr>
              <a:t>View </a:t>
            </a:r>
            <a:r>
              <a:rPr lang="ko-KR" altLang="en-US" sz="1200">
                <a:latin typeface="+mj-ea"/>
                <a:ea typeface="+mj-ea"/>
              </a:rPr>
              <a:t>이름을 </a:t>
            </a:r>
            <a:r>
              <a:rPr lang="en-US" altLang="ko-KR" sz="1200">
                <a:latin typeface="+mj-ea"/>
                <a:ea typeface="+mj-ea"/>
              </a:rPr>
              <a:t>ViewResolver</a:t>
            </a:r>
            <a:r>
              <a:rPr lang="ko-KR" altLang="en-US" sz="1200">
                <a:latin typeface="+mj-ea"/>
                <a:ea typeface="+mj-ea"/>
              </a:rPr>
              <a:t>로 보내 해당 </a:t>
            </a:r>
            <a:r>
              <a:rPr lang="en-US" altLang="ko-KR" sz="1200">
                <a:latin typeface="+mj-ea"/>
                <a:ea typeface="+mj-ea"/>
              </a:rPr>
              <a:t>View</a:t>
            </a:r>
            <a:r>
              <a:rPr lang="ko-KR" altLang="en-US" sz="1200">
                <a:latin typeface="+mj-ea"/>
                <a:ea typeface="+mj-ea"/>
              </a:rPr>
              <a:t>를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ViewResolver</a:t>
            </a:r>
            <a:r>
              <a:rPr lang="ko-KR" altLang="en-US" sz="1200">
                <a:latin typeface="+mj-ea"/>
                <a:ea typeface="+mj-ea"/>
              </a:rPr>
              <a:t>는 요청한 </a:t>
            </a:r>
            <a:r>
              <a:rPr lang="en-US" altLang="ko-KR" sz="1200">
                <a:latin typeface="+mj-ea"/>
                <a:ea typeface="+mj-ea"/>
              </a:rPr>
              <a:t>View</a:t>
            </a:r>
            <a:r>
              <a:rPr lang="ko-KR" altLang="en-US" sz="1200">
                <a:latin typeface="+mj-ea"/>
                <a:ea typeface="+mj-ea"/>
              </a:rPr>
              <a:t>를 보냅니다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View</a:t>
            </a:r>
            <a:r>
              <a:rPr lang="ko-KR" altLang="en-US" sz="1200">
                <a:latin typeface="+mj-ea"/>
                <a:ea typeface="+mj-ea"/>
              </a:rPr>
              <a:t>의 처리 결과를 </a:t>
            </a: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으로 보냅니다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은 최종 결과를 브라우저로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5556" y="1234455"/>
            <a:ext cx="3925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프레임워크 </a:t>
            </a:r>
            <a:r>
              <a:rPr lang="en-US" altLang="ko-KR" sz="1200" b="1">
                <a:latin typeface="+mj-ea"/>
                <a:ea typeface="+mj-ea"/>
              </a:rPr>
              <a:t>MVC </a:t>
            </a:r>
            <a:r>
              <a:rPr lang="ko-KR" altLang="en-US" sz="1200" b="1">
                <a:latin typeface="+mj-ea"/>
                <a:ea typeface="+mj-ea"/>
              </a:rPr>
              <a:t>기능</a:t>
            </a:r>
            <a:r>
              <a:rPr lang="en-US" altLang="ko-KR" sz="1200" b="1">
                <a:latin typeface="+mj-ea"/>
                <a:ea typeface="+mj-ea"/>
              </a:rPr>
              <a:t> </a:t>
            </a:r>
            <a:r>
              <a:rPr lang="ko-KR" altLang="en-US" sz="1200" b="1">
                <a:latin typeface="+mj-ea"/>
                <a:ea typeface="+mj-ea"/>
              </a:rPr>
              <a:t>수행 과정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26404" y="1234455"/>
            <a:ext cx="5873750" cy="3017837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3304" y="5039139"/>
            <a:ext cx="7345018" cy="9025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브라우저에서 </a:t>
            </a:r>
            <a:r>
              <a:rPr lang="en-US" altLang="ko-KR" sz="1200">
                <a:latin typeface="+mj-ea"/>
                <a:ea typeface="+mj-ea"/>
              </a:rPr>
              <a:t>http://locahost:8090/pro21/test/index.do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은 요청에 대해 미리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에 매핑된 </a:t>
            </a:r>
            <a:r>
              <a:rPr lang="en-US" altLang="ko-KR" sz="1200">
                <a:latin typeface="+mj-ea"/>
                <a:ea typeface="+mj-ea"/>
              </a:rPr>
              <a:t>SimpleUrlController</a:t>
            </a:r>
            <a:r>
              <a:rPr lang="ko-KR" altLang="en-US" sz="1200">
                <a:latin typeface="+mj-ea"/>
                <a:ea typeface="+mj-ea"/>
              </a:rPr>
              <a:t>를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컨트롤러는 요청에 대해 </a:t>
            </a:r>
            <a:r>
              <a:rPr lang="en-US" altLang="ko-KR" sz="1200">
                <a:latin typeface="+mj-ea"/>
                <a:ea typeface="+mj-ea"/>
              </a:rPr>
              <a:t>test </a:t>
            </a:r>
            <a:r>
              <a:rPr lang="ko-KR" altLang="en-US" sz="1200">
                <a:latin typeface="+mj-ea"/>
                <a:ea typeface="+mj-ea"/>
              </a:rPr>
              <a:t>폴더에 있는 </a:t>
            </a:r>
            <a:r>
              <a:rPr lang="en-US" altLang="ko-KR" sz="1200">
                <a:latin typeface="+mj-ea"/>
                <a:ea typeface="+mj-ea"/>
              </a:rPr>
              <a:t>index.jsp</a:t>
            </a:r>
            <a:r>
              <a:rPr lang="ko-KR" altLang="en-US" sz="1200">
                <a:latin typeface="+mj-ea"/>
                <a:ea typeface="+mj-ea"/>
              </a:rPr>
              <a:t>를 브라우저로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4217" y="152068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SimpleUrlController </a:t>
            </a:r>
            <a:r>
              <a:rPr lang="ko-KR" altLang="en-US" sz="1200" b="1">
                <a:latin typeface="+mj-ea"/>
                <a:ea typeface="+mj-ea"/>
              </a:rPr>
              <a:t>실행 과정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587005" y="1797686"/>
            <a:ext cx="5875337" cy="3017837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80930"/>
            <a:ext cx="8241316" cy="45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pro21</a:t>
            </a:r>
            <a:r>
              <a:rPr lang="ko-KR" altLang="en-US" sz="1200">
                <a:latin typeface="+mj-ea"/>
                <a:ea typeface="+mj-ea"/>
              </a:rPr>
              <a:t>을 만들고 이 책과 함께 제공하는 스프링 </a:t>
            </a:r>
            <a:r>
              <a:rPr lang="en-US" altLang="ko-KR" sz="1200">
                <a:latin typeface="+mj-ea"/>
                <a:ea typeface="+mj-ea"/>
              </a:rPr>
              <a:t>3.0 </a:t>
            </a:r>
            <a:r>
              <a:rPr lang="ko-KR" altLang="en-US" sz="1200">
                <a:latin typeface="+mj-ea"/>
                <a:ea typeface="+mj-ea"/>
              </a:rPr>
              <a:t>라이브러리 파일들을 복사해 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/WebContent/WEB-INF/lib </a:t>
            </a:r>
            <a:r>
              <a:rPr lang="ko-KR" altLang="en-US" sz="1200">
                <a:latin typeface="+mj-ea"/>
                <a:ea typeface="+mj-ea"/>
              </a:rPr>
              <a:t>폴더에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21545" y="1942595"/>
            <a:ext cx="2576218" cy="4820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6043" y="1530626"/>
            <a:ext cx="7792279" cy="44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com.spring.ex01 </a:t>
            </a:r>
            <a:r>
              <a:rPr lang="ko-KR" altLang="en-US" sz="1200">
                <a:latin typeface="+mj-ea"/>
                <a:ea typeface="+mj-ea"/>
              </a:rPr>
              <a:t>패키지와 </a:t>
            </a:r>
            <a:r>
              <a:rPr lang="en-US" altLang="ko-KR" sz="1200">
                <a:latin typeface="+mj-ea"/>
                <a:ea typeface="+mj-ea"/>
              </a:rPr>
              <a:t>test </a:t>
            </a:r>
            <a:r>
              <a:rPr lang="ko-KR" altLang="en-US" sz="1200">
                <a:latin typeface="+mj-ea"/>
                <a:ea typeface="+mj-ea"/>
              </a:rPr>
              <a:t>폴더를 만들고 요청 처리에 사용할 파일인 </a:t>
            </a:r>
            <a:r>
              <a:rPr lang="en-US" altLang="ko-KR" sz="1200">
                <a:latin typeface="+mj-ea"/>
                <a:ea typeface="+mj-ea"/>
              </a:rPr>
              <a:t>web.xml, actionservlet.xml,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SimpleUrlController.java, index.jsp</a:t>
            </a:r>
            <a:r>
              <a:rPr lang="ko-KR" altLang="en-US" sz="1200">
                <a:latin typeface="+mj-ea"/>
                <a:ea typeface="+mj-ea"/>
              </a:rPr>
              <a:t>를 각각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888697" y="2041193"/>
            <a:ext cx="2273300" cy="3084513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4" name="직사각형 3"/>
          <p:cNvSpPr/>
          <p:nvPr/>
        </p:nvSpPr>
        <p:spPr>
          <a:xfrm>
            <a:off x="689119" y="1426120"/>
            <a:ext cx="2964671" cy="2674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/>
              <a:t>실습에 필요한 여러 가지 파일에 관한 설명</a:t>
            </a:r>
            <a:endParaRPr lang="ko-KR" altLang="en-US" sz="1200" b="1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09919" y="1717883"/>
          <a:ext cx="73302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924"/>
                <a:gridCol w="5665305"/>
              </a:tblGrid>
              <a:tr h="19043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파일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web.xml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브라우저에서 *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.do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로 요청 시 스프링의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DispatcherServlet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클래스가 요청을 받을 수 있게 서블릿 매핑을 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621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action-servlet.xml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프레임워크에서 필요한 빈들을 설정합니다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6127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SimpleUrlController.java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매핑된 요청에 대해 컨트롤러의 기능을 수행합니다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index.jsp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요청에 대해 컨트롤러가 브라우저로 전송하는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JSP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95739" y="1540565"/>
            <a:ext cx="6599583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922627" y="1817564"/>
            <a:ext cx="7204093" cy="4344436"/>
            <a:chOff x="505119" y="1922187"/>
            <a:chExt cx="8229600" cy="486727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505119" y="1922187"/>
              <a:ext cx="8229600" cy="1781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514644" y="3703362"/>
              <a:ext cx="8220075" cy="308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직사각형 2"/>
          <p:cNvSpPr/>
          <p:nvPr/>
        </p:nvSpPr>
        <p:spPr>
          <a:xfrm>
            <a:off x="685799" y="1449898"/>
            <a:ext cx="67784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프로젝트의 </a:t>
            </a:r>
            <a:r>
              <a:rPr lang="en-US" altLang="ko-KR" sz="1200">
                <a:latin typeface="+mj-ea"/>
                <a:ea typeface="+mj-ea"/>
              </a:rPr>
              <a:t>WEB-INF </a:t>
            </a:r>
            <a:r>
              <a:rPr lang="ko-KR" altLang="en-US" sz="1200">
                <a:latin typeface="+mj-ea"/>
                <a:ea typeface="+mj-ea"/>
              </a:rPr>
              <a:t>아래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783233" y="1813477"/>
            <a:ext cx="2146300" cy="2036763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16226" y="1550504"/>
            <a:ext cx="7404652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열고 이 책에서 제공하는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>
                <a:latin typeface="+mj-ea"/>
                <a:ea typeface="+mj-ea"/>
              </a:rPr>
              <a:t>&lt;beans&gt; </a:t>
            </a:r>
            <a:r>
              <a:rPr lang="ko-KR" altLang="en-US" sz="1200">
                <a:latin typeface="+mj-ea"/>
                <a:ea typeface="+mj-ea"/>
              </a:rPr>
              <a:t>태그 부분을 복사해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91242" y="2067684"/>
            <a:ext cx="6633832" cy="2047116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sp>
        <p:nvSpPr>
          <p:cNvPr id="4" name="직사각형 3"/>
          <p:cNvSpPr/>
          <p:nvPr/>
        </p:nvSpPr>
        <p:spPr>
          <a:xfrm>
            <a:off x="1240472" y="2256183"/>
            <a:ext cx="5581645" cy="170953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95739" y="1448685"/>
            <a:ext cx="7404652" cy="263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에 필요한 빈들을 다음과 같이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922298" y="1809934"/>
            <a:ext cx="6951533" cy="4780722"/>
            <a:chOff x="292790" y="1860274"/>
            <a:chExt cx="8380021" cy="6151007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292790" y="1860274"/>
              <a:ext cx="8210550" cy="236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TextBox 3"/>
            <p:cNvSpPr txBox="1"/>
            <p:nvPr/>
          </p:nvSpPr>
          <p:spPr>
            <a:xfrm>
              <a:off x="505117" y="4222474"/>
              <a:ext cx="819155" cy="343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altLang="ko-KR" sz="1200"/>
                <a:t>...</a:t>
              </a:r>
              <a:endParaRPr lang="ko-KR" altLang="en-US" sz="1200"/>
            </a:p>
          </p:txBody>
        </p:sp>
        <p:pic>
          <p:nvPicPr>
            <p:cNvPr id="921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376536" y="4591806"/>
              <a:ext cx="8296275" cy="3419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직사각형 2"/>
          <p:cNvSpPr/>
          <p:nvPr/>
        </p:nvSpPr>
        <p:spPr>
          <a:xfrm>
            <a:off x="782014" y="1941373"/>
            <a:ext cx="7444410" cy="646331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200">
                <a:latin typeface="+mj-ea"/>
                <a:ea typeface="+mj-ea"/>
              </a:rPr>
              <a:t>설정 파일 이름은 반드시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의 서블릿 매핑 시 사용했던 </a:t>
            </a:r>
            <a:r>
              <a:rPr lang="en-US" altLang="ko-KR" sz="1200">
                <a:latin typeface="+mj-ea"/>
                <a:ea typeface="+mj-ea"/>
              </a:rPr>
              <a:t>&lt;servlet-name&gt; </a:t>
            </a:r>
            <a:r>
              <a:rPr lang="ko-KR" altLang="en-US" sz="1200">
                <a:latin typeface="+mj-ea"/>
                <a:ea typeface="+mj-ea"/>
              </a:rPr>
              <a:t>태그 값인 </a:t>
            </a:r>
            <a:r>
              <a:rPr lang="en-US" altLang="ko-KR" sz="1200">
                <a:latin typeface="+mj-ea"/>
                <a:ea typeface="+mj-ea"/>
              </a:rPr>
              <a:t>action</a:t>
            </a:r>
            <a:r>
              <a:rPr lang="ko-KR" altLang="en-US" sz="1200">
                <a:latin typeface="+mj-ea"/>
                <a:ea typeface="+mj-ea"/>
              </a:rPr>
              <a:t>으로 시작해야 합니다</a:t>
            </a:r>
            <a:r>
              <a:rPr lang="en-US" altLang="ko-KR" sz="1200">
                <a:latin typeface="+mj-ea"/>
                <a:ea typeface="+mj-ea"/>
              </a:rPr>
              <a:t>(pro21</a:t>
            </a:r>
            <a:r>
              <a:rPr lang="ko-KR" altLang="en-US" sz="1200">
                <a:latin typeface="+mj-ea"/>
                <a:ea typeface="+mj-ea"/>
              </a:rPr>
              <a:t>에서는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에서 태그 값을 </a:t>
            </a:r>
            <a:r>
              <a:rPr lang="en-US" altLang="ko-KR" sz="1200">
                <a:latin typeface="+mj-ea"/>
                <a:ea typeface="+mj-ea"/>
              </a:rPr>
              <a:t>action</a:t>
            </a:r>
            <a:r>
              <a:rPr lang="ko-KR" altLang="en-US" sz="1200">
                <a:latin typeface="+mj-ea"/>
                <a:ea typeface="+mj-ea"/>
              </a:rPr>
              <a:t>으로 설정했으므로 </a:t>
            </a:r>
            <a:r>
              <a:rPr lang="en-US" altLang="ko-KR" sz="1200">
                <a:latin typeface="+mj-ea"/>
                <a:ea typeface="+mj-ea"/>
              </a:rPr>
              <a:t>action1-servlet.xml</a:t>
            </a:r>
            <a:r>
              <a:rPr lang="ko-KR" altLang="en-US" sz="1200">
                <a:latin typeface="+mj-ea"/>
                <a:ea typeface="+mj-ea"/>
              </a:rPr>
              <a:t>로 지정하면 톰캣 실행 시 오류가 발생합니다</a:t>
            </a:r>
            <a:r>
              <a:rPr lang="en-US" altLang="ko-KR" sz="1200">
                <a:latin typeface="+mj-ea"/>
                <a:ea typeface="+mj-ea"/>
              </a:rPr>
              <a:t>).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6103" y="1679713"/>
            <a:ext cx="1421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v"/>
            </a:pPr>
            <a:r>
              <a:rPr lang="ko-KR" altLang="en-US" sz="1200" b="1"/>
              <a:t>주의</a:t>
            </a:r>
            <a:endParaRPr lang="ko-KR" altLang="en-US" sz="1200" b="1"/>
          </a:p>
        </p:txBody>
      </p:sp>
      <p:sp>
        <p:nvSpPr>
          <p:cNvPr id="5" name="직사각형 4"/>
          <p:cNvSpPr/>
          <p:nvPr/>
        </p:nvSpPr>
        <p:spPr>
          <a:xfrm>
            <a:off x="636103" y="298656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en-US" altLang="ko-KR" sz="1200">
                <a:latin typeface="+mj-ea"/>
                <a:ea typeface="+mj-ea"/>
              </a:rPr>
              <a:t>SimpleUrlContoller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6" name="그룹 5"/>
          <p:cNvGrpSpPr/>
          <p:nvPr/>
        </p:nvGrpSpPr>
        <p:grpSpPr>
          <a:xfrm rot="0">
            <a:off x="822923" y="3389243"/>
            <a:ext cx="7403501" cy="2604054"/>
            <a:chOff x="433686" y="3429000"/>
            <a:chExt cx="8172450" cy="3071193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43211" y="3429000"/>
              <a:ext cx="8162925" cy="62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33686" y="4099893"/>
              <a:ext cx="8172450" cy="2400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6043" y="1590260"/>
            <a:ext cx="7434470" cy="26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ko-KR" altLang="en-US" sz="1200">
                <a:latin typeface="+mj-ea"/>
                <a:ea typeface="+mj-ea"/>
              </a:rPr>
              <a:t>컨트롤러에서 </a:t>
            </a:r>
            <a:r>
              <a:rPr lang="en-US" altLang="ko-KR" sz="1200">
                <a:latin typeface="+mj-ea"/>
                <a:ea typeface="+mj-ea"/>
              </a:rPr>
              <a:t>ModelAndView</a:t>
            </a:r>
            <a:r>
              <a:rPr lang="ko-KR" altLang="en-US" sz="1200">
                <a:latin typeface="+mj-ea"/>
                <a:ea typeface="+mj-ea"/>
              </a:rPr>
              <a:t>의 인자로 설정된 </a:t>
            </a:r>
            <a:r>
              <a:rPr lang="en-US" altLang="ko-KR" sz="1200">
                <a:latin typeface="+mj-ea"/>
                <a:ea typeface="+mj-ea"/>
              </a:rPr>
              <a:t>index.jsp</a:t>
            </a:r>
            <a:r>
              <a:rPr lang="ko-KR" altLang="en-US" sz="1200">
                <a:latin typeface="+mj-ea"/>
                <a:ea typeface="+mj-ea"/>
              </a:rPr>
              <a:t>를 화면에 출력하도록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46043" y="1867259"/>
            <a:ext cx="7228854" cy="40739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26165" y="1620078"/>
            <a:ext cx="7215809" cy="26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en-US" altLang="ko-KR" sz="1200">
                <a:latin typeface="+mj-ea"/>
                <a:ea typeface="+mj-ea"/>
              </a:rPr>
              <a:t>http:localhost:8090/pro21/test/index.do</a:t>
            </a:r>
            <a:r>
              <a:rPr lang="ko-KR" altLang="en-US" sz="1200">
                <a:latin typeface="+mj-ea"/>
                <a:ea typeface="+mj-ea"/>
              </a:rPr>
              <a:t>로 요청하여 실행 결과를 확인합니다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201172" y="2036225"/>
            <a:ext cx="3487737" cy="18954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5119" y="497205"/>
            <a:ext cx="7605211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21.2 SimpleUrlController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630017"/>
            <a:ext cx="7712765" cy="44452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altLang="ko-KR" sz="1200">
                <a:latin typeface="+mj-ea"/>
                <a:ea typeface="+mj-ea"/>
              </a:rPr>
              <a:t>MultiActionController</a:t>
            </a:r>
            <a:r>
              <a:rPr lang="ko-KR" altLang="en-US" sz="1200">
                <a:latin typeface="+mj-ea"/>
                <a:ea typeface="+mj-ea"/>
              </a:rPr>
              <a:t>를 이용하면 여러 요청명에 대해 한 개의 컨트롤러에 구현된 각 메서드로 처리할 수 있음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86410" y="2170907"/>
            <a:ext cx="2410155" cy="2655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/>
              <a:t>실습에 사용되는 스프링 클래스들</a:t>
            </a:r>
            <a:endParaRPr lang="ko-KR" altLang="en-US" sz="1200" b="1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75861" y="2437968"/>
          <a:ext cx="747422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461"/>
                <a:gridCol w="5426765"/>
              </a:tblGrid>
              <a:tr h="19590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클래스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005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MultiActionController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요청명으로 바로 컨트롤러를 지정해서 사용할 수 있습니다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PropertiesMethodNameResolver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URL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요청명으로 컨트롤러의 설정 파일에서 미리 설정된 메서드를 바로 호출해서 사용할 수 있습니다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InternalResourceViewResolver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JSP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HTML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파일과 같이 웹 애플리케이션의 내부 자원을 이용해 뷰를 생성하는 기능을 제공합니다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기본적으로 사용하는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View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클래스이며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prefix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suffix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프로퍼티를 이용해 경로를 지정할 수 있습니다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75861" y="4199140"/>
            <a:ext cx="4572000" cy="26618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MultiActionController </a:t>
            </a:r>
            <a:r>
              <a:rPr lang="ko-KR" altLang="en-US" sz="1200" b="1">
                <a:latin typeface="+mj-ea"/>
                <a:ea typeface="+mj-ea"/>
              </a:rPr>
              <a:t>실습에 사용되는 파일들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75861" y="4497125"/>
          <a:ext cx="7474226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461"/>
                <a:gridCol w="5426765"/>
              </a:tblGrid>
              <a:tr h="195902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파일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005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web.xml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브라우저에서 *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.do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로 요청하면 스프링의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DispatcherServlet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클래스가 요청을 받을 수 있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게 서블릿 매핑을 설정합니다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815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action-servlet.xml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스프링에서 필요한 빈들을 설정합니다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7315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UserController.java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매핑된 요청에 대해 컨트롤러의 기능을 수행합니다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77795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loginForm.jsp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로그인창입니다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7249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result.jsp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로그인 결과를 보여주는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JSP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497205"/>
            <a:ext cx="6400800" cy="9526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7" y="1540565"/>
            <a:ext cx="7643190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com.spring.ex02 </a:t>
            </a:r>
            <a:r>
              <a:rPr lang="ko-KR" altLang="en-US" sz="1200">
                <a:latin typeface="+mj-ea"/>
                <a:ea typeface="+mj-ea"/>
              </a:rPr>
              <a:t>패키지를 만들고 </a:t>
            </a:r>
            <a:r>
              <a:rPr lang="en-US" altLang="ko-KR" sz="1200">
                <a:latin typeface="+mj-ea"/>
                <a:ea typeface="+mj-ea"/>
              </a:rPr>
              <a:t>UserController </a:t>
            </a:r>
            <a:r>
              <a:rPr lang="ko-KR" altLang="en-US" sz="1200">
                <a:latin typeface="+mj-ea"/>
                <a:ea typeface="+mj-ea"/>
              </a:rPr>
              <a:t>클래스를 추가합니다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그리고 </a:t>
            </a:r>
            <a:r>
              <a:rPr lang="en-US" altLang="ko-KR" sz="1200">
                <a:latin typeface="+mj-ea"/>
                <a:ea typeface="+mj-ea"/>
              </a:rPr>
              <a:t>loginForm.jsp, result.jsp </a:t>
            </a:r>
            <a:r>
              <a:rPr lang="ko-KR" altLang="en-US" sz="1200">
                <a:latin typeface="+mj-ea"/>
                <a:ea typeface="+mj-ea"/>
              </a:rPr>
              <a:t>등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필요한 파일을 준비합니다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753623" y="2147750"/>
            <a:ext cx="2156307" cy="3710482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497205"/>
            <a:ext cx="6400800" cy="9526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8195" name="직사각형 8194"/>
          <p:cNvSpPr txBox="1"/>
          <p:nvPr/>
        </p:nvSpPr>
        <p:spPr>
          <a:xfrm>
            <a:off x="612068" y="1612787"/>
            <a:ext cx="7377950" cy="191908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 latinLnBrk="1"/>
            <a:r>
              <a:rPr lang="en-US" altLang="ko-KR" sz="1500" b="1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web.xml</a:t>
            </a:r>
            <a:endParaRPr lang="en-US" altLang="ko-KR" sz="1500" b="1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en-US" altLang="ko-KR" sz="10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  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.DispatcherServlet</a:t>
            </a:r>
            <a:endParaRPr lang="en-US" altLang="ko-KR" sz="12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endParaRPr lang="en-US" altLang="ko-KR" sz="10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endParaRPr lang="en-US" altLang="ko-KR" sz="10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en-US" altLang="ko-KR" sz="1500" b="1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action-servlet.xml</a:t>
            </a:r>
            <a:endParaRPr lang="en-US" altLang="ko-KR" sz="1500" b="1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 .HandlerMapping</a:t>
            </a:r>
            <a:endParaRPr lang="en-US" altLang="ko-KR" sz="12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     -&gt; .Controller  -&gt; .(</a:t>
            </a:r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클래스: 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ModelAndView </a:t>
            </a:r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생성)</a:t>
            </a:r>
            <a:endParaRPr lang="ko-KR" altLang="en-US" sz="12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         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(</a:t>
            </a:r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주입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ref </a:t>
            </a:r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.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MethodNameResolver)</a:t>
            </a:r>
            <a:endParaRPr lang="en-US" altLang="ko-KR" sz="12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r>
              <a:rPr lang="en-US" altLang="ko-KR" sz="10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 </a:t>
            </a:r>
            <a:r>
              <a:rPr lang="ko-KR" altLang="en-US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 </a:t>
            </a:r>
            <a:r>
              <a:rPr lang="en-US" altLang="ko-KR" sz="1200" b="0" i="0">
                <a:solidFill>
                  <a:schemeClr val="dk1"/>
                </a:solidFill>
                <a:latin typeface="+mj-ea"/>
                <a:ea typeface="+mj-ea"/>
                <a:cs typeface="+mn-cs"/>
              </a:rPr>
              <a:t>.ViewResolver</a:t>
            </a:r>
            <a:endParaRPr lang="en-US" altLang="ko-KR" sz="12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  <a:p>
            <a:pPr latinLnBrk="1"/>
            <a:endParaRPr lang="en-US" altLang="ko-KR" sz="1000" b="0" i="0">
              <a:solidFill>
                <a:schemeClr val="dk1"/>
              </a:solidFill>
              <a:latin typeface="+mj-ea"/>
              <a:ea typeface="+mj-ea"/>
              <a:cs typeface="+mn-cs"/>
            </a:endParaRP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778161" y="3606899"/>
            <a:ext cx="5873750" cy="3017837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6043" y="1449899"/>
            <a:ext cx="71859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78670" y="1726898"/>
            <a:ext cx="6846404" cy="36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214030" y="1367458"/>
            <a:ext cx="6309052" cy="54905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96348" y="1449899"/>
            <a:ext cx="7335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UserController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596348" y="1798982"/>
            <a:ext cx="7550518" cy="4705973"/>
            <a:chOff x="395586" y="1709532"/>
            <a:chExt cx="8258175" cy="5471284"/>
          </a:xfrm>
        </p:grpSpPr>
        <p:pic>
          <p:nvPicPr>
            <p:cNvPr id="1638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00349" y="1709532"/>
              <a:ext cx="8248650" cy="18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8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395586" y="3513691"/>
              <a:ext cx="8258175" cy="3667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16226" y="1449899"/>
            <a:ext cx="7484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loginForm.jsp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입력하고 로그인을 클릭하면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/test/login.do</a:t>
            </a:r>
            <a:r>
              <a:rPr lang="ko-KR" altLang="en-US" sz="1200">
                <a:latin typeface="+mj-ea"/>
                <a:ea typeface="+mj-ea"/>
              </a:rPr>
              <a:t>로 </a:t>
            </a:r>
            <a:r>
              <a:rPr lang="en-US" altLang="ko-KR" sz="1200">
                <a:latin typeface="+mj-ea"/>
                <a:ea typeface="+mj-ea"/>
              </a:rPr>
              <a:t>DispatcherServlet</a:t>
            </a:r>
            <a:r>
              <a:rPr lang="ko-KR" altLang="en-US" sz="1200">
                <a:latin typeface="+mj-ea"/>
                <a:ea typeface="+mj-ea"/>
              </a:rPr>
              <a:t>에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86344" y="1911564"/>
            <a:ext cx="7306412" cy="46556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75861" y="1449899"/>
            <a:ext cx="6768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result.jsp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93371" y="1726898"/>
            <a:ext cx="6831703" cy="33334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6043" y="1418868"/>
            <a:ext cx="7404653" cy="44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http://localhost:8090/pro21/test/loginForm.jsp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입력하고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로그인을 클릭하면 </a:t>
            </a:r>
            <a:r>
              <a:rPr lang="en-US" altLang="ko-KR" sz="1200">
                <a:latin typeface="+mj-ea"/>
                <a:ea typeface="+mj-ea"/>
              </a:rPr>
              <a:t>/test/login.do</a:t>
            </a:r>
            <a:r>
              <a:rPr lang="ko-KR" altLang="en-US" sz="1200">
                <a:latin typeface="+mj-ea"/>
                <a:ea typeface="+mj-ea"/>
              </a:rPr>
              <a:t>로 요청하여 결과를 출력합니다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23122" y="2160904"/>
            <a:ext cx="5943600" cy="1268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172818" y="3938380"/>
            <a:ext cx="5276850" cy="1485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497205"/>
            <a:ext cx="7625090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21.3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스프링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549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654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회원 정보 입력창에서 회원 정보를 입력한 후 요청 시 전송된 회원 정보를 표시하기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683962" y="1925431"/>
            <a:ext cx="2404873" cy="4335124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95739" y="1449899"/>
            <a:ext cx="7454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회원 정보를 표시하기 위해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695739" y="1808921"/>
            <a:ext cx="7362526" cy="3390484"/>
            <a:chOff x="457200" y="2043113"/>
            <a:chExt cx="8229600" cy="4040875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2043113"/>
              <a:ext cx="8229600" cy="2771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0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4798113"/>
              <a:ext cx="8162925" cy="1285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/>
          <p:cNvSpPr txBox="1"/>
          <p:nvPr/>
        </p:nvSpPr>
        <p:spPr>
          <a:xfrm>
            <a:off x="505119" y="711235"/>
            <a:ext cx="76549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55983" y="1449899"/>
            <a:ext cx="7474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UserController </a:t>
            </a:r>
            <a:r>
              <a:rPr lang="ko-KR" altLang="en-US" sz="1200">
                <a:latin typeface="+mj-ea"/>
                <a:ea typeface="+mj-ea"/>
              </a:rPr>
              <a:t>클래스를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46185" y="1726898"/>
            <a:ext cx="6956977" cy="46915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549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6052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회원 가입창에서 회원 정보를 입력한 후 </a:t>
            </a:r>
            <a:r>
              <a:rPr lang="en-US" altLang="ko-KR" sz="1200">
                <a:latin typeface="+mj-ea"/>
                <a:ea typeface="+mj-ea"/>
              </a:rPr>
              <a:t>/test/memberInfo.do</a:t>
            </a:r>
            <a:r>
              <a:rPr lang="ko-KR" altLang="en-US" sz="1200">
                <a:latin typeface="+mj-ea"/>
                <a:ea typeface="+mj-ea"/>
              </a:rPr>
              <a:t>로 요청하도록 </a:t>
            </a:r>
            <a:r>
              <a:rPr lang="en-US" altLang="ko-KR" sz="1200">
                <a:latin typeface="+mj-ea"/>
                <a:ea typeface="+mj-ea"/>
              </a:rPr>
              <a:t>action </a:t>
            </a:r>
            <a:r>
              <a:rPr lang="ko-KR" altLang="en-US" sz="1200">
                <a:latin typeface="+mj-ea"/>
                <a:ea typeface="+mj-ea"/>
              </a:rPr>
              <a:t>속성을 설정합니다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24874" y="1726898"/>
            <a:ext cx="7165699" cy="27554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549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724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memberInfo.jsp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 UserController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memberInfo() </a:t>
            </a:r>
            <a:r>
              <a:rPr lang="ko-KR" altLang="en-US" sz="1200">
                <a:latin typeface="+mj-ea"/>
                <a:ea typeface="+mj-ea"/>
              </a:rPr>
              <a:t>메서드에서 바인딩해 전달된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회원 정보를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01666" y="1911564"/>
            <a:ext cx="7046015" cy="44484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5490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03687" y="1448685"/>
            <a:ext cx="7841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http://localhost:8090/pro21/test/memberForm.jsp</a:t>
            </a:r>
            <a:r>
              <a:rPr lang="ko-KR" altLang="en-US" sz="1200">
                <a:latin typeface="+mj-ea"/>
                <a:ea typeface="+mj-ea"/>
              </a:rPr>
              <a:t>로 요청하여 새 회원 정보를 입력하고 가입하기를 클릭하면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/test/memberInfo.do</a:t>
            </a:r>
            <a:r>
              <a:rPr lang="ko-KR" altLang="en-US" sz="1200">
                <a:latin typeface="+mj-ea"/>
                <a:ea typeface="+mj-ea"/>
              </a:rPr>
              <a:t>로 요청한 후 전송된 회원 정보를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585278" y="1910350"/>
            <a:ext cx="2640013" cy="34321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103244" y="5650823"/>
            <a:ext cx="5943600" cy="9036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65490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715616" y="1580322"/>
            <a:ext cx="7098909" cy="26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>
                <a:latin typeface="+mj-ea"/>
                <a:ea typeface="+mj-ea"/>
              </a:rPr>
              <a:t>MutliActionController</a:t>
            </a:r>
            <a:r>
              <a:rPr lang="ko-KR" altLang="en-US" sz="1200">
                <a:latin typeface="+mj-ea"/>
                <a:ea typeface="+mj-ea"/>
              </a:rPr>
              <a:t>와 </a:t>
            </a:r>
            <a:r>
              <a:rPr lang="en-US" altLang="ko-KR" sz="1200">
                <a:latin typeface="+mj-ea"/>
                <a:ea typeface="+mj-ea"/>
              </a:rPr>
              <a:t>PropertiesMethodNameResolver</a:t>
            </a:r>
            <a:r>
              <a:rPr lang="ko-KR" altLang="en-US" sz="1200">
                <a:latin typeface="+mj-ea"/>
                <a:ea typeface="+mj-ea"/>
              </a:rPr>
              <a:t>를 이용한 메서드 이름 설정 방법</a:t>
            </a:r>
            <a:endParaRPr lang="ko-KR" altLang="en-US" sz="1200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24945" y="1847382"/>
          <a:ext cx="723083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4182838"/>
              </a:tblGrid>
              <a:tr h="22989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요청명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호출 메서드 이름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1465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/test/login.do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login()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8947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/test/memberInfo.do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memberInfo()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3906077" y="2812774"/>
            <a:ext cx="358993" cy="3776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5616" y="3329609"/>
            <a:ext cx="7384774" cy="64041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 b="1">
                <a:latin typeface="+mj-ea"/>
                <a:ea typeface="+mj-ea"/>
              </a:rPr>
              <a:t>MutliActionController</a:t>
            </a:r>
            <a:r>
              <a:rPr lang="ko-KR" altLang="en-US" sz="1200" b="1">
                <a:latin typeface="+mj-ea"/>
                <a:ea typeface="+mj-ea"/>
              </a:rPr>
              <a:t>와 </a:t>
            </a:r>
            <a:r>
              <a:rPr lang="en-US" altLang="ko-KR" sz="1200" b="1">
                <a:latin typeface="+mj-ea"/>
                <a:ea typeface="+mj-ea"/>
              </a:rPr>
              <a:t>PropertiesMethodNameResolver</a:t>
            </a:r>
            <a:r>
              <a:rPr lang="ko-KR" altLang="en-US" sz="1200" b="1">
                <a:latin typeface="+mj-ea"/>
                <a:ea typeface="+mj-ea"/>
              </a:rPr>
              <a:t>를 이용하면 요청명과 같은 이름으로 메서드를 설정할 수 있어 코드 가독성이 좋아짐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6549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21.4 MultiActionController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표시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540565"/>
            <a:ext cx="7305261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21.3</a:t>
            </a:r>
            <a:r>
              <a:rPr lang="ko-KR" altLang="en-US" sz="1200">
                <a:latin typeface="+mj-ea"/>
                <a:ea typeface="+mj-ea"/>
              </a:rPr>
              <a:t>절에서 사용했던 </a:t>
            </a:r>
            <a:r>
              <a:rPr lang="en-US" altLang="ko-KR" sz="1200">
                <a:latin typeface="+mj-ea"/>
                <a:ea typeface="+mj-ea"/>
              </a:rPr>
              <a:t>UserController </a:t>
            </a:r>
            <a:r>
              <a:rPr lang="ko-KR" altLang="en-US" sz="1200">
                <a:latin typeface="+mj-ea"/>
                <a:ea typeface="+mj-ea"/>
              </a:rPr>
              <a:t>클래스를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820599" y="1915216"/>
            <a:ext cx="7160523" cy="4381081"/>
            <a:chOff x="1150804" y="2074465"/>
            <a:chExt cx="7160523" cy="4381081"/>
          </a:xfrm>
        </p:grpSpPr>
        <p:pic>
          <p:nvPicPr>
            <p:cNvPr id="266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209490" y="2074465"/>
              <a:ext cx="7101837" cy="22961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2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150804" y="4347418"/>
              <a:ext cx="6381005" cy="1777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28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lum/>
            </a:blip>
            <a:srcRect/>
            <a:stretch>
              <a:fillRect/>
            </a:stretch>
          </p:blipFill>
          <p:spPr>
            <a:xfrm>
              <a:off x="1447575" y="6137049"/>
              <a:ext cx="483285" cy="3184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57574" y="1305547"/>
            <a:ext cx="6667500" cy="5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79160" y="1431234"/>
            <a:ext cx="7194072" cy="2967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6164" y="1560443"/>
            <a:ext cx="8110331" cy="447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http://localhost:8090/pro21/test/loginForm.jsp</a:t>
            </a:r>
            <a:r>
              <a:rPr lang="ko-KR" altLang="en-US" sz="1200">
                <a:latin typeface="+mj-ea"/>
                <a:ea typeface="+mj-ea"/>
              </a:rPr>
              <a:t>로 요청한 후 아이디와 비밀번호를 입력하고로그인을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그러면 </a:t>
            </a:r>
            <a:r>
              <a:rPr lang="en-US" altLang="ko-KR" sz="1200">
                <a:latin typeface="+mj-ea"/>
                <a:ea typeface="+mj-ea"/>
              </a:rPr>
              <a:t>/test/login.do</a:t>
            </a:r>
            <a:r>
              <a:rPr lang="ko-KR" altLang="en-US" sz="1200">
                <a:latin typeface="+mj-ea"/>
                <a:ea typeface="+mj-ea"/>
              </a:rPr>
              <a:t>로 요청하므로 </a:t>
            </a:r>
            <a:r>
              <a:rPr lang="en-US" altLang="ko-KR" sz="1200">
                <a:latin typeface="+mj-ea"/>
                <a:ea typeface="+mj-ea"/>
              </a:rPr>
              <a:t>login.jsp</a:t>
            </a:r>
            <a:r>
              <a:rPr lang="ko-KR" altLang="en-US" sz="1200">
                <a:latin typeface="+mj-ea"/>
                <a:ea typeface="+mj-ea"/>
              </a:rPr>
              <a:t>에 결과를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2230755"/>
            <a:ext cx="5943600" cy="798830"/>
          </a:xfrm>
          <a:prstGeom prst="rect">
            <a:avLst/>
          </a:prstGeom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324274" y="3428999"/>
            <a:ext cx="5162550" cy="7715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755214" y="2703444"/>
            <a:ext cx="458977" cy="1789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3" name="그림 12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57325" y="1476164"/>
            <a:ext cx="6229350" cy="250507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21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MVC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21.5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요청명과 동일한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JSP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표시하기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4" name="직사각형 13"/>
          <p:cNvSpPr txBox="1"/>
          <p:nvPr/>
        </p:nvSpPr>
        <p:spPr>
          <a:xfrm>
            <a:off x="1784985" y="1735455"/>
            <a:ext cx="5707380" cy="372046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ko-KR" altLang="ko-KR" sz="1400" b="1">
                <a:latin typeface="함초롬바탕"/>
                <a:ea typeface="함초롬바탕"/>
              </a:rPr>
              <a:t>http://localhost:8080/project/list.jsp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request.getContextPath()  = 프로젝트 Path만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[return]        /project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request.getRequestURI()  = 프로젝트/ 파일경로까지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[return]        /project/list.jsp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request.getRequestURL()  = 전체 경로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[return]   http://localhost:8080/project/list.jsp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request.ServletPath()  = 파일명만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[return]          /list.jsp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request.getRealPath("")  = 서버 or 로컬 웹 애플리케이션 절대경로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[return]         c:\project\webapps\project\</a:t>
            </a:r>
            <a:endParaRPr lang="ko-KR" altLang="ko-KR" sz="1400" b="1">
              <a:latin typeface="함초롬바탕"/>
              <a:ea typeface="함초롬바탕"/>
            </a:endParaRPr>
          </a:p>
          <a:p>
            <a:pPr/>
            <a:r>
              <a:rPr lang="ko-KR" altLang="ko-KR" sz="1400" b="1">
                <a:latin typeface="함초롬바탕"/>
                <a:ea typeface="함초롬바탕"/>
              </a:rPr>
              <a:t>  </a:t>
            </a:r>
            <a:endParaRPr lang="ko-KR" altLang="ko-KR" sz="1400" b="1">
              <a:latin typeface="함초롬바탕"/>
              <a:ea typeface="함초롬바탕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2020-07-28T10:46:51.505</dcterms:modified>
  <cp:revision>605</cp:revision>
  <dc:subject/>
  <dc:title>PowerPoint 프레젠테이션</dc:title>
</cp:coreProperties>
</file>