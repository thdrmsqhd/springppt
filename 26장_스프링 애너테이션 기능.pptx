
<file path=[Content_Types].xml><?xml version="1.0" encoding="utf-8"?>
<Types xmlns="http://schemas.openxmlformats.org/package/2006/content-types"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officeDocument/2006/relationships/extended-properties" Target="docProps/app.xml"  /><Relationship Id="rId3" Type="http://schemas.openxmlformats.org/package/2006/relationships/metadata/core-properties" Target="docProps/core.xml"  /><Relationship Id="rId4" Type="http://schemas.openxmlformats.org/package/2006/relationships/metadata/thumbnail" Target="docProps/thumbnail.jpeg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96" r:id="rId56"/>
  </p:sldMasterIdLst>
  <p:notesMasterIdLst>
    <p:notesMasterId r:id="rId58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mAuthor id="1" name="SSEN Kim" initials="SK" lastIdx="1" clrIdx="0"/>
</p:cmAuthorLst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5C22544A-7EE6-4342-B048-85BDC9FD1C3A}" styleName="보통 스타일 2 - 강조 1">
    <a:wholeTbl>
      <a:tcTxStyle>
        <a:fontRef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horzBarState="maximized">
    <p:restoredLeft sz="13612"/>
    <p:restoredTop sz="94660"/>
  </p:normalViewPr>
  <p:slideViewPr>
    <p:cSldViewPr snapToGrid="0">
      <p:cViewPr varScale="1">
        <p:scale>
          <a:sx n="96" d="100"/>
          <a:sy n="96" d="100"/>
        </p:scale>
        <p:origin x="-906" y="-108"/>
      </p:cViewPr>
      <p:guideLst>
        <p:guide orient="horz" pos="1069"/>
        <p:guide pos="383"/>
        <p:guide pos="5375"/>
        <p:guide pos="54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" Target="slides/slide1.xml"  /><Relationship Id="rId10" Type="http://schemas.openxmlformats.org/officeDocument/2006/relationships/slide" Target="slides/slide10.xml"  /><Relationship Id="rId11" Type="http://schemas.openxmlformats.org/officeDocument/2006/relationships/slide" Target="slides/slide11.xml"  /><Relationship Id="rId12" Type="http://schemas.openxmlformats.org/officeDocument/2006/relationships/slide" Target="slides/slide12.xml"  /><Relationship Id="rId13" Type="http://schemas.openxmlformats.org/officeDocument/2006/relationships/slide" Target="slides/slide13.xml"  /><Relationship Id="rId14" Type="http://schemas.openxmlformats.org/officeDocument/2006/relationships/slide" Target="slides/slide14.xml"  /><Relationship Id="rId15" Type="http://schemas.openxmlformats.org/officeDocument/2006/relationships/slide" Target="slides/slide15.xml"  /><Relationship Id="rId16" Type="http://schemas.openxmlformats.org/officeDocument/2006/relationships/slide" Target="slides/slide16.xml"  /><Relationship Id="rId17" Type="http://schemas.openxmlformats.org/officeDocument/2006/relationships/slide" Target="slides/slide17.xml"  /><Relationship Id="rId18" Type="http://schemas.openxmlformats.org/officeDocument/2006/relationships/slide" Target="slides/slide18.xml"  /><Relationship Id="rId19" Type="http://schemas.openxmlformats.org/officeDocument/2006/relationships/slide" Target="slides/slide19.xml"  /><Relationship Id="rId2" Type="http://schemas.openxmlformats.org/officeDocument/2006/relationships/slide" Target="slides/slide2.xml"  /><Relationship Id="rId20" Type="http://schemas.openxmlformats.org/officeDocument/2006/relationships/slide" Target="slides/slide20.xml"  /><Relationship Id="rId21" Type="http://schemas.openxmlformats.org/officeDocument/2006/relationships/slide" Target="slides/slide21.xml"  /><Relationship Id="rId22" Type="http://schemas.openxmlformats.org/officeDocument/2006/relationships/slide" Target="slides/slide22.xml"  /><Relationship Id="rId23" Type="http://schemas.openxmlformats.org/officeDocument/2006/relationships/slide" Target="slides/slide23.xml"  /><Relationship Id="rId24" Type="http://schemas.openxmlformats.org/officeDocument/2006/relationships/slide" Target="slides/slide24.xml"  /><Relationship Id="rId25" Type="http://schemas.openxmlformats.org/officeDocument/2006/relationships/slide" Target="slides/slide25.xml"  /><Relationship Id="rId26" Type="http://schemas.openxmlformats.org/officeDocument/2006/relationships/slide" Target="slides/slide26.xml"  /><Relationship Id="rId27" Type="http://schemas.openxmlformats.org/officeDocument/2006/relationships/slide" Target="slides/slide27.xml"  /><Relationship Id="rId28" Type="http://schemas.openxmlformats.org/officeDocument/2006/relationships/slide" Target="slides/slide28.xml"  /><Relationship Id="rId29" Type="http://schemas.openxmlformats.org/officeDocument/2006/relationships/slide" Target="slides/slide29.xml"  /><Relationship Id="rId3" Type="http://schemas.openxmlformats.org/officeDocument/2006/relationships/slide" Target="slides/slide3.xml"  /><Relationship Id="rId30" Type="http://schemas.openxmlformats.org/officeDocument/2006/relationships/slide" Target="slides/slide30.xml"  /><Relationship Id="rId31" Type="http://schemas.openxmlformats.org/officeDocument/2006/relationships/slide" Target="slides/slide31.xml"  /><Relationship Id="rId32" Type="http://schemas.openxmlformats.org/officeDocument/2006/relationships/slide" Target="slides/slide32.xml"  /><Relationship Id="rId33" Type="http://schemas.openxmlformats.org/officeDocument/2006/relationships/slide" Target="slides/slide33.xml"  /><Relationship Id="rId34" Type="http://schemas.openxmlformats.org/officeDocument/2006/relationships/slide" Target="slides/slide34.xml"  /><Relationship Id="rId35" Type="http://schemas.openxmlformats.org/officeDocument/2006/relationships/slide" Target="slides/slide35.xml"  /><Relationship Id="rId36" Type="http://schemas.openxmlformats.org/officeDocument/2006/relationships/slide" Target="slides/slide36.xml"  /><Relationship Id="rId37" Type="http://schemas.openxmlformats.org/officeDocument/2006/relationships/slide" Target="slides/slide37.xml"  /><Relationship Id="rId38" Type="http://schemas.openxmlformats.org/officeDocument/2006/relationships/slide" Target="slides/slide38.xml"  /><Relationship Id="rId39" Type="http://schemas.openxmlformats.org/officeDocument/2006/relationships/slide" Target="slides/slide39.xml"  /><Relationship Id="rId4" Type="http://schemas.openxmlformats.org/officeDocument/2006/relationships/slide" Target="slides/slide4.xml"  /><Relationship Id="rId40" Type="http://schemas.openxmlformats.org/officeDocument/2006/relationships/slide" Target="slides/slide40.xml"  /><Relationship Id="rId41" Type="http://schemas.openxmlformats.org/officeDocument/2006/relationships/slide" Target="slides/slide41.xml"  /><Relationship Id="rId42" Type="http://schemas.openxmlformats.org/officeDocument/2006/relationships/slide" Target="slides/slide42.xml"  /><Relationship Id="rId43" Type="http://schemas.openxmlformats.org/officeDocument/2006/relationships/slide" Target="slides/slide43.xml"  /><Relationship Id="rId44" Type="http://schemas.openxmlformats.org/officeDocument/2006/relationships/slide" Target="slides/slide44.xml"  /><Relationship Id="rId45" Type="http://schemas.openxmlformats.org/officeDocument/2006/relationships/slide" Target="slides/slide45.xml"  /><Relationship Id="rId46" Type="http://schemas.openxmlformats.org/officeDocument/2006/relationships/slide" Target="slides/slide46.xml"  /><Relationship Id="rId47" Type="http://schemas.openxmlformats.org/officeDocument/2006/relationships/slide" Target="slides/slide47.xml"  /><Relationship Id="rId48" Type="http://schemas.openxmlformats.org/officeDocument/2006/relationships/slide" Target="slides/slide48.xml"  /><Relationship Id="rId49" Type="http://schemas.openxmlformats.org/officeDocument/2006/relationships/slide" Target="slides/slide49.xml"  /><Relationship Id="rId5" Type="http://schemas.openxmlformats.org/officeDocument/2006/relationships/slide" Target="slides/slide5.xml"  /><Relationship Id="rId50" Type="http://schemas.openxmlformats.org/officeDocument/2006/relationships/slide" Target="slides/slide50.xml"  /><Relationship Id="rId51" Type="http://schemas.openxmlformats.org/officeDocument/2006/relationships/slide" Target="slides/slide51.xml"  /><Relationship Id="rId52" Type="http://schemas.openxmlformats.org/officeDocument/2006/relationships/slide" Target="slides/slide52.xml"  /><Relationship Id="rId53" Type="http://schemas.openxmlformats.org/officeDocument/2006/relationships/slide" Target="slides/slide53.xml"  /><Relationship Id="rId54" Type="http://schemas.openxmlformats.org/officeDocument/2006/relationships/presProps" Target="presProps.xml"  /><Relationship Id="rId55" Type="http://schemas.openxmlformats.org/officeDocument/2006/relationships/viewProps" Target="viewProps.xml"  /><Relationship Id="rId56" Type="http://schemas.openxmlformats.org/officeDocument/2006/relationships/slideMaster" Target="slideMasters/slideMaster1.xml"  /><Relationship Id="rId57" Type="http://schemas.openxmlformats.org/officeDocument/2006/relationships/theme" Target="theme/theme1.xml"  /><Relationship Id="rId58" Type="http://schemas.openxmlformats.org/officeDocument/2006/relationships/notesMaster" Target="notesMasters/notesMaster1.xml"  /><Relationship Id="rId59" Type="http://schemas.openxmlformats.org/officeDocument/2006/relationships/commentAuthors" Target="commentAuthors.xml"  /><Relationship Id="rId6" Type="http://schemas.openxmlformats.org/officeDocument/2006/relationships/slide" Target="slides/slide6.xml"  /><Relationship Id="rId60" Type="http://schemas.openxmlformats.org/officeDocument/2006/relationships/tableStyles" Target="tableStyles.xml"  /><Relationship Id="rId7" Type="http://schemas.openxmlformats.org/officeDocument/2006/relationships/slide" Target="slides/slide7.xml"  /><Relationship Id="rId8" Type="http://schemas.openxmlformats.org/officeDocument/2006/relationships/slide" Target="slides/slide8.xml"  /><Relationship Id="rId9" Type="http://schemas.openxmlformats.org/officeDocument/2006/relationships/slide" Target="slides/slide9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/>
            <a:fld id="{0E7094D2-52B1-4A24-9772-F4ABB377CA0B}" type="datetimeFigureOut">
              <a:rPr lang="ko-KR" altLang="en-US"/>
              <a:pPr/>
              <a:t>2020-08-05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/>
            <a:r>
              <a:rPr lang="ko-KR" altLang="en-US"/>
              <a:t>마스터 텍스트 스타일 편집</a:t>
            </a:r>
            <a:endParaRPr lang="ko-KR" altLang="en-US"/>
          </a:p>
          <a:p>
            <a:pPr lvl="1"/>
            <a:r>
              <a:rPr lang="ko-KR" altLang="en-US"/>
              <a:t>둘째 수준</a:t>
            </a:r>
            <a:endParaRPr lang="ko-KR" altLang="en-US"/>
          </a:p>
          <a:p>
            <a:pPr lvl="2"/>
            <a:r>
              <a:rPr lang="ko-KR" altLang="en-US"/>
              <a:t>셋째 수준</a:t>
            </a:r>
            <a:endParaRPr lang="ko-KR" altLang="en-US"/>
          </a:p>
          <a:p>
            <a:pPr lvl="3"/>
            <a:r>
              <a:rPr lang="ko-KR" altLang="en-US"/>
              <a:t>넷째 수준</a:t>
            </a:r>
            <a:endParaRPr lang="ko-KR" altLang="en-US"/>
          </a:p>
          <a:p>
            <a:pPr lvl="4"/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/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/>
            <a:fld id="{303C5F93-DBD8-475E-B5C0-664EF94AA89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3.jpe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이(가) 표시된 사진&#10;&#10;매우 높은 신뢰도로 생성된 설명">
            <a:extLst>
              <a:ext uri="{FF2B5EF4-FFF2-40B4-BE49-F238E27FC236}">
                <a16:creationId xmlns:a16="http://schemas.microsoft.com/office/drawing/2014/main" xmlns="" id="{1F71807D-336E-4FF6-BE4D-1DFB82D18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503"/>
            <a:ext cx="9144000" cy="687500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4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" y="0"/>
            <a:ext cx="9121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52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1.xml"  /><Relationship Id="rId2" Type="http://schemas.openxmlformats.org/officeDocument/2006/relationships/slideLayout" Target="../slideLayouts/slideLayout1.xml"  /><Relationship Id="rId3" Type="http://schemas.openxmlformats.org/officeDocument/2006/relationships/slideLayout" Target="../slideLayouts/slideLayout2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  <p:sldLayoutId id="2147483695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9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3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4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7.png"  /><Relationship Id="rId3" Type="http://schemas.openxmlformats.org/officeDocument/2006/relationships/image" Target="../media/image28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1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4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5.png"  /><Relationship Id="rId3" Type="http://schemas.openxmlformats.org/officeDocument/2006/relationships/image" Target="../media/image36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7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2.png"  /><Relationship Id="rId3" Type="http://schemas.openxmlformats.org/officeDocument/2006/relationships/image" Target="../media/image4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6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7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8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9.png"  /><Relationship Id="rId3" Type="http://schemas.openxmlformats.org/officeDocument/2006/relationships/image" Target="../media/image50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1.png"  /><Relationship Id="rId3" Type="http://schemas.openxmlformats.org/officeDocument/2006/relationships/image" Target="../media/image52.png"  /><Relationship Id="rId4" Type="http://schemas.openxmlformats.org/officeDocument/2006/relationships/image" Target="../media/image53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4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5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6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7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8.png"  /><Relationship Id="rId3" Type="http://schemas.openxmlformats.org/officeDocument/2006/relationships/image" Target="../media/image59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0.png"  /><Relationship Id="rId3" Type="http://schemas.openxmlformats.org/officeDocument/2006/relationships/image" Target="../media/image61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2.png"  /><Relationship Id="rId3" Type="http://schemas.openxmlformats.org/officeDocument/2006/relationships/image" Target="../media/image63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4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5.emf"  /><Relationship Id="rId3" Type="http://schemas.openxmlformats.org/officeDocument/2006/relationships/image" Target="../media/image66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7.png"  /><Relationship Id="rId3" Type="http://schemas.openxmlformats.org/officeDocument/2006/relationships/image" Target="../media/image68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9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0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652004"/>
            <a:ext cx="9144000" cy="80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5000"/>
              </a:lnSpc>
            </a:pPr>
            <a:r>
              <a:rPr lang="en-US" altLang="ko-KR" sz="2800"/>
              <a:t>26</a:t>
            </a:r>
            <a:r>
              <a:rPr lang="ko-KR" altLang="en-US" sz="2800"/>
              <a:t>장</a:t>
            </a:r>
            <a:r>
              <a:rPr lang="en-US" altLang="ko-KR" sz="2800"/>
              <a:t> </a:t>
            </a:r>
            <a:r>
              <a:rPr lang="ko-KR" altLang="en-US" sz="2800"/>
              <a:t>스프링 애너테이션 기능</a:t>
            </a:r>
            <a:endParaRPr lang="ko-KR" altLang="en-US" sz="2800" spc="-88"/>
          </a:p>
        </p:txBody>
      </p:sp>
      <p:cxnSp>
        <p:nvCxnSpPr>
          <p:cNvPr id="5" name="직선 연결선 4"/>
          <p:cNvCxnSpPr/>
          <p:nvPr/>
        </p:nvCxnSpPr>
        <p:spPr>
          <a:xfrm>
            <a:off x="716437" y="1455301"/>
            <a:ext cx="7748833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6887" y="1909244"/>
            <a:ext cx="6400800" cy="2098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26.1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 애너테이션이란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?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26.2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 애너테이션 이용해 </a:t>
            </a: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URL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요청 실습하기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26.3 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스프링 애너테이션 이용해 로그인 기능 구현하기</a:t>
            </a:r>
            <a:endParaRPr lang="ko-KR" altLang="en-US" sz="2000">
              <a:solidFill>
                <a:schemeClr val="bg2">
                  <a:lumMod val="90000"/>
                </a:schemeClr>
              </a:solidFill>
            </a:endParaRPr>
          </a:p>
          <a:p>
            <a:pPr>
              <a:lnSpc>
                <a:spcPct val="165000"/>
              </a:lnSpc>
            </a:pPr>
            <a:r>
              <a:rPr lang="en-US" altLang="ko-KR" sz="2000">
                <a:solidFill>
                  <a:schemeClr val="bg2">
                    <a:lumMod val="90000"/>
                  </a:schemeClr>
                </a:solidFill>
              </a:rPr>
              <a:t>26.4 @Autowired </a:t>
            </a:r>
            <a:r>
              <a:rPr lang="ko-KR" altLang="en-US" sz="2000">
                <a:solidFill>
                  <a:schemeClr val="bg2">
                    <a:lumMod val="90000"/>
                  </a:schemeClr>
                </a:solidFill>
              </a:rPr>
              <a:t> 이용해 빈 주입하기</a:t>
            </a:r>
            <a:endParaRPr lang="en-US" altLang="ko-KR" sz="200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애너테이션이란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?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1435412"/>
            <a:ext cx="36377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스프링 애너테이션</a:t>
            </a:r>
            <a:r>
              <a:rPr lang="en-US" altLang="ko-KR" sz="1200" b="1">
                <a:latin typeface="+mj-ea"/>
                <a:ea typeface="+mj-ea"/>
              </a:rPr>
              <a:t>(Annotation)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5557" y="1692533"/>
            <a:ext cx="7504043" cy="90588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기존에 </a:t>
            </a:r>
            <a:r>
              <a:rPr lang="en-US" altLang="ko-KR" sz="1200">
                <a:latin typeface="+mj-ea"/>
                <a:ea typeface="+mj-ea"/>
              </a:rPr>
              <a:t>XML</a:t>
            </a:r>
            <a:r>
              <a:rPr lang="ko-KR" altLang="en-US" sz="1200">
                <a:latin typeface="+mj-ea"/>
                <a:ea typeface="+mj-ea"/>
              </a:rPr>
              <a:t>에서 빈 설정을 애너테이션을 이용해서 자바 코드에서 설정하는 방법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기능이 복잡해짐에 따라 </a:t>
            </a:r>
            <a:r>
              <a:rPr lang="en-US" altLang="ko-KR" sz="1200">
                <a:latin typeface="+mj-ea"/>
                <a:ea typeface="+mj-ea"/>
              </a:rPr>
              <a:t>XML</a:t>
            </a:r>
            <a:r>
              <a:rPr lang="ko-KR" altLang="en-US" sz="1200">
                <a:latin typeface="+mj-ea"/>
                <a:ea typeface="+mj-ea"/>
              </a:rPr>
              <a:t>에서 설정하는 것보다 유지 보수에 유리함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Ø"/>
            </a:pPr>
            <a:r>
              <a:rPr lang="ko-KR" altLang="en-US" sz="1200">
                <a:latin typeface="+mj-ea"/>
                <a:ea typeface="+mj-ea"/>
              </a:rPr>
              <a:t>현재 애플리케이션 개발 시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설정 방법과 애너테이션 방법을 혼합해서 사용함</a:t>
            </a:r>
            <a:endParaRPr lang="en-US" altLang="ko-KR" sz="120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6409" y="3445356"/>
            <a:ext cx="8039111" cy="496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26.1.1 </a:t>
            </a:r>
            <a:r>
              <a:rPr lang="ko-KR" altLang="en-US" b="1"/>
              <a:t>스프링 애너테이션 제공 클래스</a:t>
            </a:r>
            <a:endParaRPr lang="en-US" altLang="ko-KR" b="1" spc="-94"/>
          </a:p>
        </p:txBody>
      </p:sp>
      <p:sp>
        <p:nvSpPr>
          <p:cNvPr id="11" name="직사각형 10"/>
          <p:cNvSpPr/>
          <p:nvPr/>
        </p:nvSpPr>
        <p:spPr>
          <a:xfrm>
            <a:off x="906239" y="3953187"/>
            <a:ext cx="4572000" cy="26448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브라우저 </a:t>
            </a:r>
            <a:r>
              <a:rPr lang="en-US" altLang="ko-KR" sz="1200" b="1">
                <a:latin typeface="+mj-ea"/>
                <a:ea typeface="+mj-ea"/>
              </a:rPr>
              <a:t>URL </a:t>
            </a:r>
            <a:r>
              <a:rPr lang="ko-KR" altLang="en-US" sz="1200" b="1">
                <a:latin typeface="+mj-ea"/>
                <a:ea typeface="+mj-ea"/>
              </a:rPr>
              <a:t>요청 처리 애너테이션 관련 클래스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18883" y="4200369"/>
          <a:ext cx="7152861" cy="742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556"/>
                <a:gridCol w="4522305"/>
              </a:tblGrid>
              <a:tr h="185996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클래스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4033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DefaultAnnotationHandlerMapping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클래스 레벨에서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@RequestMapping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을 처리합니다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54908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AnnotationMethodHandlerAdapter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메서드 레벨에서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@RequestMapping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을 처리합니다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26.1.2 </a:t>
            </a:r>
            <a:r>
              <a:rPr lang="ko-KR" altLang="en-US" b="1"/>
              <a:t> </a:t>
            </a:r>
            <a:r>
              <a:rPr lang="en-US" altLang="ko-KR" b="1"/>
              <a:t>&lt;context:component-scan&gt; </a:t>
            </a:r>
            <a:r>
              <a:rPr lang="ko-KR" altLang="en-US" b="1"/>
              <a:t>태그 기능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26.1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애너테이션이란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?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5397" y="1842883"/>
            <a:ext cx="7445298" cy="6463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&lt;context:component-scan&gt; </a:t>
            </a:r>
            <a:r>
              <a:rPr lang="ko-KR" altLang="en-US" sz="1200">
                <a:latin typeface="+mj-ea"/>
                <a:ea typeface="+mj-ea"/>
              </a:rPr>
              <a:t>태그를 사용해 패키지 이름을 지정하면 애플리케이션 실행 시 해당 </a:t>
            </a:r>
            <a:br>
              <a:rPr lang="en-US" altLang="ko-KR" sz="1200">
                <a:latin typeface="+mj-ea"/>
                <a:ea typeface="+mj-ea"/>
              </a:rPr>
            </a:br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패키지에서 애너테이션으로 지정된 클래스를 빈으로 만들어 줌</a:t>
            </a:r>
            <a:endParaRPr lang="en-US" altLang="ko-KR" sz="1200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05397" y="4519425"/>
            <a:ext cx="26769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1200" b="1">
                <a:latin typeface="+mj-ea"/>
                <a:ea typeface="+mj-ea"/>
              </a:rPr>
              <a:t>여러 가지 스테레오 타입 애너테이션</a:t>
            </a:r>
            <a:endParaRPr lang="ko-KR" altLang="en-US" sz="1200" b="1">
              <a:latin typeface="+mj-ea"/>
              <a:ea typeface="+mj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676507" y="4769815"/>
          <a:ext cx="7413055" cy="123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8542"/>
                <a:gridCol w="5794513"/>
              </a:tblGrid>
              <a:tr h="150054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애너테이션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기능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34205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@Controller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 컨테이너가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component-scan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 의해 지정한 클래스를 컨트롤러 빈으로 자동 변환합니다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38844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@Service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 컨테이너가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component-scan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 의해 지정한 클래스를 서비스 빈으로 자동 변환합니다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6336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@Repository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 컨테이너가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component-scan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 의해 지정한 클래스를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DAO 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빈으로 자동 변환합니다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  <a:tr h="228600"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@Component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atinLnBrk="1"/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스프링 컨테이너가 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component-scan</a:t>
                      </a:r>
                      <a:r>
                        <a:rPr lang="ko-KR" altLang="en-US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에 의해 지정한 클래스를 빈으로 자동 변환합니다</a:t>
                      </a:r>
                      <a:r>
                        <a:rPr lang="en-US" altLang="ko-KR" sz="1000" b="0" i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5397" y="3298494"/>
            <a:ext cx="7445298" cy="5000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>
                <a:latin typeface="+mj-ea"/>
              </a:rPr>
              <a:t>&lt;context:component-scan base-package="</a:t>
            </a:r>
            <a:r>
              <a:rPr lang="ko-KR" altLang="en-US" b="1">
                <a:solidFill>
                  <a:srgbClr val="c00000"/>
                </a:solidFill>
                <a:latin typeface="+mj-ea"/>
              </a:rPr>
              <a:t>패키지이름</a:t>
            </a:r>
            <a:r>
              <a:rPr lang="en-US" altLang="ko-KR" b="1">
                <a:latin typeface="+mj-ea"/>
              </a:rPr>
              <a:t>" /&gt;</a:t>
            </a:r>
            <a:endParaRPr lang="ko-KR" altLang="en-US" b="1">
              <a:latin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3021495"/>
            <a:ext cx="23573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1200" b="1">
                <a:latin typeface="+mj-ea"/>
                <a:ea typeface="+mj-ea"/>
              </a:rPr>
              <a:t>사용 형식</a:t>
            </a:r>
            <a:endParaRPr lang="en-US" altLang="ko-KR" sz="1200" b="1">
              <a:latin typeface="+mj-ea"/>
              <a:ea typeface="+mj-ea"/>
            </a:endParaRPr>
          </a:p>
        </p:txBody>
      </p:sp>
      <p:sp>
        <p:nvSpPr>
          <p:cNvPr id="13" name="직사각형 2052"/>
          <p:cNvSpPr/>
          <p:nvPr/>
        </p:nvSpPr>
        <p:spPr>
          <a:xfrm>
            <a:off x="3963692" y="2214272"/>
            <a:ext cx="320783" cy="2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URL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 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6409" y="1490870"/>
            <a:ext cx="7991059" cy="4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새 프로젝트 </a:t>
            </a:r>
            <a:r>
              <a:rPr lang="en-US" altLang="ko-KR" sz="1200">
                <a:latin typeface="+mj-ea"/>
                <a:ea typeface="+mj-ea"/>
              </a:rPr>
              <a:t>pro26</a:t>
            </a:r>
            <a:r>
              <a:rPr lang="ko-KR" altLang="en-US" sz="1200">
                <a:latin typeface="+mj-ea"/>
                <a:ea typeface="+mj-ea"/>
              </a:rPr>
              <a:t>을 만들고 스프링 애너테이션 기능을 실습하기 위한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설정 파일인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 다음과 같이 추가합니다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7" name="그림 6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30777" y="1952535"/>
            <a:ext cx="2171700" cy="20288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URL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 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5312" y="1529976"/>
            <a:ext cx="70766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action-servlet.xml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24960" y="1806975"/>
            <a:ext cx="6787184" cy="3058133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직사각형 2052"/>
          <p:cNvSpPr/>
          <p:nvPr/>
        </p:nvSpPr>
        <p:spPr>
          <a:xfrm>
            <a:off x="5644800" y="2772308"/>
            <a:ext cx="457200" cy="2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4" name="직사각형 2052"/>
          <p:cNvSpPr/>
          <p:nvPr/>
        </p:nvSpPr>
        <p:spPr>
          <a:xfrm>
            <a:off x="6231250" y="4246153"/>
            <a:ext cx="457200" cy="2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5" name="직사각형 2052"/>
          <p:cNvSpPr/>
          <p:nvPr/>
        </p:nvSpPr>
        <p:spPr>
          <a:xfrm>
            <a:off x="2601209" y="3034394"/>
            <a:ext cx="457200" cy="2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URL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 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5861" y="1540565"/>
            <a:ext cx="7573617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애너테이션 기능을 수행하는 자바 클래스와 </a:t>
            </a:r>
            <a:r>
              <a:rPr lang="en-US" altLang="ko-KR" sz="1200">
                <a:latin typeface="+mj-ea"/>
                <a:ea typeface="+mj-ea"/>
              </a:rPr>
              <a:t>JSP </a:t>
            </a:r>
            <a:r>
              <a:rPr lang="ko-KR" altLang="en-US" sz="1200">
                <a:latin typeface="+mj-ea"/>
                <a:ea typeface="+mj-ea"/>
              </a:rPr>
              <a:t>파일을 추가합니다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94757" y="1944135"/>
            <a:ext cx="2143125" cy="32480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URL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 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600199"/>
            <a:ext cx="7563678" cy="264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en-US" altLang="ko-KR" sz="1200">
                <a:latin typeface="+mj-ea"/>
                <a:ea typeface="+mj-ea"/>
              </a:rPr>
              <a:t>MainController </a:t>
            </a:r>
            <a:r>
              <a:rPr lang="ko-KR" altLang="en-US" sz="1200">
                <a:latin typeface="+mj-ea"/>
                <a:ea typeface="+mj-ea"/>
              </a:rPr>
              <a:t>클래스가 하는 일은 다음과 같습니다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37361" y="1926881"/>
            <a:ext cx="6787184" cy="337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099" name="직사각형 2052"/>
          <p:cNvSpPr/>
          <p:nvPr/>
        </p:nvSpPr>
        <p:spPr>
          <a:xfrm>
            <a:off x="6723726" y="3384376"/>
            <a:ext cx="333185" cy="2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00" name="직사각형 2052"/>
          <p:cNvSpPr/>
          <p:nvPr/>
        </p:nvSpPr>
        <p:spPr>
          <a:xfrm>
            <a:off x="5177127" y="4548713"/>
            <a:ext cx="457200" cy="2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URL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 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47425" y="1767214"/>
            <a:ext cx="6742251" cy="2329986"/>
          </a:xfrm>
          <a:prstGeom prst="rect">
            <a:avLst/>
          </a:prstGeom>
          <a:noFill/>
          <a:ln>
            <a:noFill/>
          </a:ln>
        </p:spPr>
      </p:pic>
      <p:sp>
        <p:nvSpPr>
          <p:cNvPr id="5123" name="직사각형 2052"/>
          <p:cNvSpPr/>
          <p:nvPr/>
        </p:nvSpPr>
        <p:spPr>
          <a:xfrm>
            <a:off x="5619996" y="2920540"/>
            <a:ext cx="457200" cy="2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URL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 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983" y="1530626"/>
            <a:ext cx="7464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다음은 컨트롤러에서 </a:t>
            </a:r>
            <a:r>
              <a:rPr lang="en-US" altLang="ko-KR" sz="1200">
                <a:latin typeface="+mj-ea"/>
                <a:ea typeface="+mj-ea"/>
              </a:rPr>
              <a:t>ModelAndView</a:t>
            </a:r>
            <a:r>
              <a:rPr lang="ko-KR" altLang="en-US" sz="1200">
                <a:latin typeface="+mj-ea"/>
                <a:ea typeface="+mj-ea"/>
              </a:rPr>
              <a:t>에 뷰이름으로 설정한 </a:t>
            </a:r>
            <a:r>
              <a:rPr lang="en-US" altLang="ko-KR" sz="1200">
                <a:latin typeface="+mj-ea"/>
                <a:ea typeface="+mj-ea"/>
              </a:rPr>
              <a:t>main.jsp</a:t>
            </a:r>
            <a:r>
              <a:rPr lang="ko-KR" altLang="en-US" sz="1200">
                <a:latin typeface="+mj-ea"/>
                <a:ea typeface="+mj-ea"/>
              </a:rPr>
              <a:t>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755374" y="1837443"/>
            <a:ext cx="6748670" cy="4195608"/>
            <a:chOff x="457200" y="2085975"/>
            <a:chExt cx="8229600" cy="545782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57200" y="2085975"/>
              <a:ext cx="8229600" cy="268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57200" y="4772025"/>
              <a:ext cx="8162925" cy="2771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26.2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</a:t>
            </a:r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URL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요청 실습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983" y="1590261"/>
            <a:ext cx="7762459" cy="4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http://localhost:8090/pro26/test/main1.do, http://localhost:8090/pro26/test/main2.do</a:t>
            </a:r>
            <a:r>
              <a:rPr lang="ko-KR" altLang="en-US" sz="1200">
                <a:latin typeface="+mj-ea"/>
                <a:ea typeface="+mj-ea"/>
              </a:rPr>
              <a:t>로 각각 요청하여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결과를 확인합니다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182770" y="2246285"/>
            <a:ext cx="2941955" cy="1522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4537213" y="2242059"/>
            <a:ext cx="2910205" cy="15106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40566"/>
            <a:ext cx="7722704" cy="26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다음은 로그인 기능과 관련된 자바 파일과 </a:t>
            </a:r>
            <a:r>
              <a:rPr lang="en-US" altLang="ko-KR" sz="1200">
                <a:latin typeface="+mj-ea"/>
                <a:ea typeface="+mj-ea"/>
              </a:rPr>
              <a:t>JSP </a:t>
            </a:r>
            <a:r>
              <a:rPr lang="ko-KR" altLang="en-US" sz="1200">
                <a:latin typeface="+mj-ea"/>
                <a:ea typeface="+mj-ea"/>
              </a:rPr>
              <a:t>위치입니다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944761" y="1907017"/>
            <a:ext cx="2266950" cy="4457700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5921" y="1550505"/>
            <a:ext cx="7573617" cy="26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실습 시 한글 깨짐 현상을 방지하기 위해 </a:t>
            </a:r>
            <a:r>
              <a:rPr lang="en-US" altLang="ko-KR" sz="1200">
                <a:latin typeface="+mj-ea"/>
                <a:ea typeface="+mj-ea"/>
              </a:rPr>
              <a:t>web.xml</a:t>
            </a:r>
            <a:r>
              <a:rPr lang="ko-KR" altLang="en-US" sz="1200">
                <a:latin typeface="+mj-ea"/>
                <a:ea typeface="+mj-ea"/>
              </a:rPr>
              <a:t>에 한글 필터 기능을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837266" y="1898700"/>
            <a:ext cx="7230925" cy="3835062"/>
            <a:chOff x="461963" y="1962150"/>
            <a:chExt cx="8220075" cy="4596234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61963" y="1962150"/>
              <a:ext cx="8220075" cy="293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19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61963" y="4891509"/>
              <a:ext cx="8181975" cy="166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20" name="직사각형 2052"/>
          <p:cNvSpPr/>
          <p:nvPr/>
        </p:nvSpPr>
        <p:spPr>
          <a:xfrm>
            <a:off x="1242286" y="2436884"/>
            <a:ext cx="792039" cy="258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052" y="1550505"/>
            <a:ext cx="7573617" cy="26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>
                <a:latin typeface="+mj-ea"/>
                <a:ea typeface="+mj-ea"/>
              </a:rPr>
              <a:t>action-servlet.xml</a:t>
            </a:r>
            <a:endParaRPr lang="en-US" altLang="ko-KR" sz="1200">
              <a:latin typeface="+mj-ea"/>
              <a:ea typeface="+mj-ea"/>
            </a:endParaRPr>
          </a:p>
        </p:txBody>
      </p:sp>
      <p:pic>
        <p:nvPicPr>
          <p:cNvPr id="9221" name="그림 9220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342900" y="1980220"/>
            <a:ext cx="8458200" cy="2076450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pic>
        <p:nvPicPr>
          <p:cNvPr id="9222" name="그림 9221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605853" y="4176464"/>
            <a:ext cx="1781175" cy="199072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cxnSp>
        <p:nvCxnSpPr>
          <p:cNvPr id="9224" name="직선 화살표 연결선 9223"/>
          <p:cNvCxnSpPr/>
          <p:nvPr/>
        </p:nvCxnSpPr>
        <p:spPr>
          <a:xfrm flipV="1">
            <a:off x="1465436" y="2412268"/>
            <a:ext cx="3522012" cy="29763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6" name="직선 화살표 연결선 9225"/>
          <p:cNvCxnSpPr/>
          <p:nvPr/>
        </p:nvCxnSpPr>
        <p:spPr>
          <a:xfrm flipV="1">
            <a:off x="1713467" y="2579476"/>
            <a:ext cx="3832046" cy="18850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7" name="설명선 1(강조선) 9226"/>
          <p:cNvSpPr/>
          <p:nvPr/>
        </p:nvSpPr>
        <p:spPr>
          <a:xfrm>
            <a:off x="4069741" y="4563732"/>
            <a:ext cx="2554697" cy="421648"/>
          </a:xfrm>
          <a:prstGeom prst="accentCallout1">
            <a:avLst>
              <a:gd name="adj1" fmla="val 18750"/>
              <a:gd name="adj2" fmla="val -8333"/>
              <a:gd name="adj3" fmla="val -114839"/>
              <a:gd name="adj4" fmla="val -30652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/>
            <a:r>
              <a:rPr lang="ko-KR" altLang="en-US" sz="1200"/>
              <a:t>주석처리를 교차하면서 실습하기</a:t>
            </a:r>
            <a:endParaRPr lang="ko-KR" altLang="en-US" sz="1200"/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451113"/>
            <a:ext cx="8001000" cy="451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스프링 애너테이션 기능을 이용해 로그인 시 전송된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이름을 </a:t>
            </a:r>
            <a:r>
              <a:rPr lang="en-US" altLang="ko-KR" sz="1200">
                <a:latin typeface="+mj-ea"/>
                <a:ea typeface="+mj-ea"/>
              </a:rPr>
              <a:t>JSP</a:t>
            </a:r>
            <a:r>
              <a:rPr lang="ko-KR" altLang="en-US" sz="1200">
                <a:latin typeface="+mj-ea"/>
                <a:ea typeface="+mj-ea"/>
              </a:rPr>
              <a:t>에 출력하도록 </a:t>
            </a:r>
            <a:r>
              <a:rPr lang="en-US" altLang="ko-KR" sz="1200">
                <a:latin typeface="+mj-ea"/>
                <a:ea typeface="+mj-ea"/>
              </a:rPr>
              <a:t>LoginController </a:t>
            </a:r>
            <a:r>
              <a:rPr lang="ko-KR" altLang="en-US" sz="1200">
                <a:latin typeface="+mj-ea"/>
                <a:ea typeface="+mj-ea"/>
              </a:rPr>
              <a:t>클래스를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083364" y="1912778"/>
            <a:ext cx="6733761" cy="4816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64704" y="1521626"/>
            <a:ext cx="7185992" cy="1931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20687"/>
            <a:ext cx="76531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로그인창에서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이름을 전송하도록 </a:t>
            </a:r>
            <a:r>
              <a:rPr lang="en-US" altLang="ko-KR" sz="1200">
                <a:latin typeface="+mj-ea"/>
                <a:ea typeface="+mj-ea"/>
              </a:rPr>
              <a:t>loginForm.jsp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64705" y="1797686"/>
            <a:ext cx="7284968" cy="307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1560443"/>
            <a:ext cx="7911548" cy="26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로그인창에서 전송된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이름이 결과창에 나타나도록 </a:t>
            </a:r>
            <a:r>
              <a:rPr lang="en-US" altLang="ko-KR" sz="1200">
                <a:latin typeface="+mj-ea"/>
                <a:ea typeface="+mj-ea"/>
              </a:rPr>
              <a:t>result.jsp</a:t>
            </a:r>
            <a:r>
              <a:rPr lang="ko-KR" altLang="en-US" sz="1200">
                <a:latin typeface="+mj-ea"/>
                <a:ea typeface="+mj-ea"/>
              </a:rPr>
              <a:t>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54765" y="1837442"/>
            <a:ext cx="6399143" cy="13576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86409" y="3409122"/>
            <a:ext cx="7742580" cy="44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en-US" altLang="ko-KR" sz="1200">
                <a:latin typeface="+mj-ea"/>
                <a:ea typeface="+mj-ea"/>
              </a:rPr>
              <a:t>http://localhost:8090/pro26/test/loginForm.do</a:t>
            </a:r>
            <a:r>
              <a:rPr lang="ko-KR" altLang="en-US" sz="1200">
                <a:latin typeface="+mj-ea"/>
                <a:ea typeface="+mj-ea"/>
              </a:rPr>
              <a:t>로 요청하여 로그인창에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이름을 입력한 후 로그인을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253905" y="3981450"/>
            <a:ext cx="3781425" cy="1638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70383"/>
            <a:ext cx="7394711" cy="26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en-US" altLang="ko-KR" sz="1200">
                <a:latin typeface="+mj-ea"/>
                <a:ea typeface="+mj-ea"/>
              </a:rPr>
              <a:t>http://localhost:8090/test/login.do</a:t>
            </a:r>
            <a:r>
              <a:rPr lang="ko-KR" altLang="en-US" sz="1200">
                <a:latin typeface="+mj-ea"/>
                <a:ea typeface="+mj-ea"/>
              </a:rPr>
              <a:t>로 요청을 보냅니다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233405" y="1956710"/>
            <a:ext cx="3524250" cy="1876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26.3.1 </a:t>
            </a:r>
            <a:r>
              <a:rPr lang="ko-KR" altLang="en-US" b="1"/>
              <a:t>메서드에 </a:t>
            </a:r>
            <a:r>
              <a:rPr lang="en-US" altLang="ko-KR" b="1"/>
              <a:t>@RequestParam </a:t>
            </a:r>
            <a:r>
              <a:rPr lang="ko-KR" altLang="en-US" b="1"/>
              <a:t>적용하기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246244"/>
            <a:ext cx="7364896" cy="63792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매개변수의 수가 많아지면 일일이 </a:t>
            </a:r>
            <a:r>
              <a:rPr lang="en-US" altLang="ko-KR" sz="1200">
                <a:latin typeface="+mj-ea"/>
                <a:ea typeface="+mj-ea"/>
              </a:rPr>
              <a:t>getParameter() </a:t>
            </a:r>
            <a:r>
              <a:rPr lang="ko-KR" altLang="en-US" sz="1200">
                <a:latin typeface="+mj-ea"/>
                <a:ea typeface="+mj-ea"/>
              </a:rPr>
              <a:t>메서드를 이용하는 방법은 불편함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@RequestParam</a:t>
            </a:r>
            <a:r>
              <a:rPr lang="ko-KR" altLang="en-US" sz="1200">
                <a:latin typeface="+mj-ea"/>
                <a:ea typeface="+mj-ea"/>
              </a:rPr>
              <a:t>을 메서드에 적용해 쉽게 값을 얻을 수 있음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6166" y="1958009"/>
            <a:ext cx="4244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@RequestParam</a:t>
            </a:r>
            <a:endParaRPr lang="ko-KR" altLang="en-US" sz="1200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5921" y="1332148"/>
            <a:ext cx="7146235" cy="270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spring.ex02 </a:t>
            </a:r>
            <a:r>
              <a:rPr lang="ko-KR" altLang="en-US" sz="1200">
                <a:latin typeface="+mj-ea"/>
                <a:ea typeface="+mj-ea"/>
              </a:rPr>
              <a:t>패키지를 만들고 </a:t>
            </a:r>
            <a:r>
              <a:rPr lang="en-US" altLang="ko-KR" sz="1200">
                <a:latin typeface="+mj-ea"/>
                <a:ea typeface="+mj-ea"/>
              </a:rPr>
              <a:t>LoginController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03113" y="1692188"/>
            <a:ext cx="6830875" cy="46371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40" name="직선 화살표 연결선 14339"/>
          <p:cNvCxnSpPr/>
          <p:nvPr/>
        </p:nvCxnSpPr>
        <p:spPr>
          <a:xfrm rot="5400000" flipH="1" flipV="1">
            <a:off x="2234325" y="4253695"/>
            <a:ext cx="1277349" cy="781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23122" y="1627862"/>
            <a:ext cx="6530009" cy="17352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55983" y="3737113"/>
            <a:ext cx="73947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로그인창에서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이름을 컨트롤러로 전송하도록 </a:t>
            </a:r>
            <a:r>
              <a:rPr lang="en-US" altLang="ko-KR" sz="1200">
                <a:latin typeface="+mj-ea"/>
                <a:ea typeface="+mj-ea"/>
              </a:rPr>
              <a:t>loginForm.jsp</a:t>
            </a:r>
            <a:r>
              <a:rPr lang="ko-KR" altLang="en-US" sz="1200">
                <a:latin typeface="+mj-ea"/>
                <a:ea typeface="+mj-ea"/>
              </a:rPr>
              <a:t>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 rotWithShape="1">
          <a:blip r:embed="rId3">
            <a:alphaModFix/>
            <a:lum/>
          </a:blip>
          <a:srcRect/>
          <a:stretch>
            <a:fillRect/>
          </a:stretch>
        </p:blipFill>
        <p:spPr>
          <a:xfrm>
            <a:off x="1123122" y="4030909"/>
            <a:ext cx="6299752" cy="2665835"/>
          </a:xfrm>
          <a:prstGeom prst="rect">
            <a:avLst/>
          </a:prstGeom>
          <a:noFill/>
          <a:ln>
            <a:noFill/>
          </a:ln>
        </p:spPr>
      </p:pic>
      <p:sp>
        <p:nvSpPr>
          <p:cNvPr id="15364" name="직사각형 15363"/>
          <p:cNvSpPr/>
          <p:nvPr/>
        </p:nvSpPr>
        <p:spPr>
          <a:xfrm>
            <a:off x="4802400" y="4860000"/>
            <a:ext cx="2469600" cy="24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65" name="직사각형 15364"/>
          <p:cNvSpPr/>
          <p:nvPr/>
        </p:nvSpPr>
        <p:spPr>
          <a:xfrm>
            <a:off x="4818384" y="5533260"/>
            <a:ext cx="2469600" cy="24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10748"/>
            <a:ext cx="80606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http://localhost:8090/pro26/test/loginForm.do</a:t>
            </a:r>
            <a:r>
              <a:rPr lang="ko-KR" altLang="en-US" sz="1200">
                <a:latin typeface="+mj-ea"/>
                <a:ea typeface="+mj-ea"/>
              </a:rPr>
              <a:t>로 요청하여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이름을 입력하고 로그인을 클릭합니다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409" y="4144617"/>
            <a:ext cx="7384774" cy="263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그러면 </a:t>
            </a:r>
            <a:r>
              <a:rPr lang="en-US" altLang="ko-KR" sz="1200">
                <a:latin typeface="+mj-ea"/>
                <a:ea typeface="+mj-ea"/>
              </a:rPr>
              <a:t>/test/login2.do</a:t>
            </a:r>
            <a:r>
              <a:rPr lang="ko-KR" altLang="en-US" sz="1200">
                <a:latin typeface="+mj-ea"/>
                <a:ea typeface="+mj-ea"/>
              </a:rPr>
              <a:t>로 요청을 보내어 다음과 같은 결과 화면을 출력합니다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119934" y="1859030"/>
            <a:ext cx="3790950" cy="1609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119934" y="4593121"/>
            <a:ext cx="3609975" cy="1885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26.3.2 @RequestParam</a:t>
            </a:r>
            <a:r>
              <a:rPr lang="ko-KR" altLang="en-US" b="1"/>
              <a:t>의 </a:t>
            </a:r>
            <a:r>
              <a:rPr lang="en-US" altLang="ko-KR" b="1"/>
              <a:t>required </a:t>
            </a:r>
            <a:r>
              <a:rPr lang="ko-KR" altLang="en-US" b="1"/>
              <a:t>속성 사용하기</a:t>
            </a:r>
            <a:r>
              <a:rPr lang="en-US" altLang="ko-KR" b="1"/>
              <a:t> 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85191" y="1946774"/>
            <a:ext cx="5277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@RequestParam</a:t>
            </a:r>
            <a:r>
              <a:rPr lang="ko-KR" altLang="en-US" sz="1200" b="1">
                <a:latin typeface="+mj-ea"/>
                <a:ea typeface="+mj-ea"/>
              </a:rPr>
              <a:t>의 </a:t>
            </a:r>
            <a:r>
              <a:rPr lang="en-US" altLang="ko-KR" sz="1200" b="1">
                <a:latin typeface="+mj-ea"/>
                <a:ea typeface="+mj-ea"/>
              </a:rPr>
              <a:t>required </a:t>
            </a:r>
            <a:r>
              <a:rPr lang="ko-KR" altLang="en-US" sz="1200" b="1">
                <a:latin typeface="+mj-ea"/>
                <a:ea typeface="+mj-ea"/>
              </a:rPr>
              <a:t>속성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5190" y="2223773"/>
            <a:ext cx="7759041" cy="146049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@RequestParam </a:t>
            </a:r>
            <a:r>
              <a:rPr lang="ko-KR" altLang="en-US" sz="1200">
                <a:latin typeface="+mj-ea"/>
                <a:ea typeface="+mj-ea"/>
              </a:rPr>
              <a:t>적용 시 </a:t>
            </a:r>
            <a:r>
              <a:rPr lang="en-US" altLang="ko-KR" sz="1200">
                <a:latin typeface="+mj-ea"/>
                <a:ea typeface="+mj-ea"/>
              </a:rPr>
              <a:t>required </a:t>
            </a:r>
            <a:r>
              <a:rPr lang="ko-KR" altLang="en-US" sz="1200">
                <a:latin typeface="+mj-ea"/>
                <a:ea typeface="+mj-ea"/>
              </a:rPr>
              <a:t>속성을 생략하면 기본값은 </a:t>
            </a:r>
            <a:r>
              <a:rPr lang="en-US" altLang="ko-KR" sz="1200">
                <a:latin typeface="+mj-ea"/>
                <a:ea typeface="+mj-ea"/>
              </a:rPr>
              <a:t>true</a:t>
            </a:r>
            <a:r>
              <a:rPr lang="ko-KR" altLang="en-US" sz="1200">
                <a:latin typeface="+mj-ea"/>
                <a:ea typeface="+mj-ea"/>
              </a:rPr>
              <a:t>임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required </a:t>
            </a:r>
            <a:r>
              <a:rPr lang="ko-KR" altLang="en-US" sz="1200">
                <a:latin typeface="+mj-ea"/>
                <a:ea typeface="+mj-ea"/>
              </a:rPr>
              <a:t>속성을 </a:t>
            </a:r>
            <a:r>
              <a:rPr lang="en-US" altLang="ko-KR" sz="1200">
                <a:latin typeface="+mj-ea"/>
                <a:ea typeface="+mj-ea"/>
              </a:rPr>
              <a:t>true</a:t>
            </a:r>
            <a:r>
              <a:rPr lang="ko-KR" altLang="en-US" sz="1200">
                <a:latin typeface="+mj-ea"/>
                <a:ea typeface="+mj-ea"/>
              </a:rPr>
              <a:t>로 설정하면 메서드 호출 시 반드시 지정한 이름의 매개변수를전달해야함</a:t>
            </a:r>
            <a:br>
              <a:rPr lang="en-US" altLang="ko-KR" sz="1200">
                <a:latin typeface="+mj-ea"/>
                <a:ea typeface="+mj-ea"/>
              </a:rPr>
            </a:br>
            <a:r>
              <a:rPr lang="en-US" altLang="ko-KR" sz="1200">
                <a:latin typeface="+mj-ea"/>
                <a:ea typeface="+mj-ea"/>
              </a:rPr>
              <a:t>(</a:t>
            </a:r>
            <a:r>
              <a:rPr lang="ko-KR" altLang="en-US" sz="1200">
                <a:latin typeface="+mj-ea"/>
                <a:ea typeface="+mj-ea"/>
              </a:rPr>
              <a:t>매개변수가 없으면 예외가 발생</a:t>
            </a:r>
            <a:r>
              <a:rPr lang="en-US" altLang="ko-KR" sz="1200">
                <a:latin typeface="+mj-ea"/>
                <a:ea typeface="+mj-ea"/>
              </a:rPr>
              <a:t>)</a:t>
            </a:r>
            <a:endParaRPr lang="en-US" altLang="ko-KR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 </a:t>
            </a:r>
            <a:r>
              <a:rPr lang="en-US" altLang="ko-KR" sz="1200">
                <a:latin typeface="+mj-ea"/>
                <a:ea typeface="+mj-ea"/>
              </a:rPr>
              <a:t>required </a:t>
            </a:r>
            <a:r>
              <a:rPr lang="ko-KR" altLang="en-US" sz="1200">
                <a:latin typeface="+mj-ea"/>
                <a:ea typeface="+mj-ea"/>
              </a:rPr>
              <a:t>속성을 </a:t>
            </a:r>
            <a:r>
              <a:rPr lang="en-US" altLang="ko-KR" sz="1200">
                <a:latin typeface="+mj-ea"/>
                <a:ea typeface="+mj-ea"/>
              </a:rPr>
              <a:t>false</a:t>
            </a:r>
            <a:r>
              <a:rPr lang="ko-KR" altLang="en-US" sz="1200">
                <a:latin typeface="+mj-ea"/>
                <a:ea typeface="+mj-ea"/>
              </a:rPr>
              <a:t>로 설정하면 메서드 호출 시 지정한 이름의 매개변수가 전달되면 값을 저장하고 없으면 </a:t>
            </a:r>
            <a:r>
              <a:rPr lang="en-US" altLang="ko-KR" sz="1200">
                <a:latin typeface="+mj-ea"/>
                <a:ea typeface="+mj-ea"/>
              </a:rPr>
              <a:t>null</a:t>
            </a:r>
            <a:r>
              <a:rPr lang="ko-KR" altLang="en-US" sz="1200">
                <a:latin typeface="+mj-ea"/>
                <a:ea typeface="+mj-ea"/>
              </a:rPr>
              <a:t>을 할당함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768562" y="2330105"/>
            <a:ext cx="2940855" cy="24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5861" y="1282147"/>
            <a:ext cx="7384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LoginController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941467" y="1579079"/>
            <a:ext cx="6961326" cy="5278921"/>
            <a:chOff x="433388" y="47625"/>
            <a:chExt cx="8277225" cy="7239000"/>
          </a:xfrm>
        </p:grpSpPr>
        <p:pic>
          <p:nvPicPr>
            <p:cNvPr id="1741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33388" y="47625"/>
              <a:ext cx="8277225" cy="6762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1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33388" y="6810375"/>
              <a:ext cx="8191500" cy="476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490870"/>
            <a:ext cx="77244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로그인창에서 </a:t>
            </a:r>
            <a:r>
              <a:rPr lang="en-US" altLang="ko-KR" sz="1200">
                <a:latin typeface="+mj-ea"/>
                <a:ea typeface="+mj-ea"/>
              </a:rPr>
              <a:t>&lt;hidden&gt; </a:t>
            </a:r>
            <a:r>
              <a:rPr lang="ko-KR" altLang="en-US" sz="1200">
                <a:latin typeface="+mj-ea"/>
                <a:ea typeface="+mj-ea"/>
              </a:rPr>
              <a:t>태그를 이용해 이메일 정보를 컨트롤러로 전송합니다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44972" y="1767869"/>
            <a:ext cx="7044773" cy="319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40565"/>
            <a:ext cx="7971182" cy="44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브라우저에 요청하여 로그인창이 나타나면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이름을 입력하고 로그인을 클릭하면 콘솔에 이메일 정보를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3756991"/>
            <a:ext cx="8140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로그인창에서 이메일 관련 </a:t>
            </a:r>
            <a:r>
              <a:rPr lang="en-US" altLang="ko-KR" sz="1200">
                <a:latin typeface="+mj-ea"/>
                <a:ea typeface="+mj-ea"/>
              </a:rPr>
              <a:t>&lt;hidden&gt; </a:t>
            </a:r>
            <a:r>
              <a:rPr lang="ko-KR" altLang="en-US" sz="1200">
                <a:latin typeface="+mj-ea"/>
                <a:ea typeface="+mj-ea"/>
              </a:rPr>
              <a:t>태그를 주석 처리한 후 요청하면 이메일 정보를 </a:t>
            </a:r>
            <a:r>
              <a:rPr lang="en-US" altLang="ko-KR" sz="1200">
                <a:latin typeface="+mj-ea"/>
                <a:ea typeface="+mj-ea"/>
              </a:rPr>
              <a:t>null</a:t>
            </a:r>
            <a:r>
              <a:rPr lang="ko-KR" altLang="en-US" sz="1200">
                <a:latin typeface="+mj-ea"/>
                <a:ea typeface="+mj-ea"/>
              </a:rPr>
              <a:t>로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777986" y="2155342"/>
            <a:ext cx="2057400" cy="619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2693504" y="2554357"/>
            <a:ext cx="2141882" cy="2002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693504" y="4143996"/>
            <a:ext cx="1885950" cy="657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/>
          <p:cNvSpPr/>
          <p:nvPr/>
        </p:nvSpPr>
        <p:spPr>
          <a:xfrm>
            <a:off x="2656949" y="3768673"/>
            <a:ext cx="2916052" cy="223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직사각형 13"/>
          <p:cNvSpPr/>
          <p:nvPr/>
        </p:nvSpPr>
        <p:spPr>
          <a:xfrm>
            <a:off x="2580712" y="4574766"/>
            <a:ext cx="1991288" cy="198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26. 3.3 @RequestParam </a:t>
            </a:r>
            <a:r>
              <a:rPr lang="ko-KR" altLang="en-US" b="1"/>
              <a:t>이용해 </a:t>
            </a:r>
            <a:r>
              <a:rPr lang="en-US" altLang="ko-KR" b="1"/>
              <a:t>Map</a:t>
            </a:r>
            <a:r>
              <a:rPr lang="ko-KR" altLang="en-US" b="1"/>
              <a:t>에 매개변수 값 설정하기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1842883"/>
            <a:ext cx="7464285" cy="2769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전송되는 매개변수의 수가 많을 경우 </a:t>
            </a:r>
            <a:r>
              <a:rPr lang="en-US" altLang="ko-KR" sz="1200">
                <a:latin typeface="+mj-ea"/>
                <a:ea typeface="+mj-ea"/>
              </a:rPr>
              <a:t>Map</a:t>
            </a:r>
            <a:r>
              <a:rPr lang="ko-KR" altLang="en-US" sz="1200">
                <a:latin typeface="+mj-ea"/>
                <a:ea typeface="+mj-ea"/>
              </a:rPr>
              <a:t>에 바로 저장해서 사용하면 편리</a:t>
            </a:r>
            <a:endParaRPr lang="ko-KR" altLang="en-US" sz="12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4825" y="1234455"/>
            <a:ext cx="63195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LoginController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03241" y="1511454"/>
            <a:ext cx="6460021" cy="524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00809"/>
            <a:ext cx="7543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결과창에서 바인딩한 속성 이름으로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874643" y="1850418"/>
            <a:ext cx="6506611" cy="13286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86409" y="3517156"/>
            <a:ext cx="82711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로그인창에서 아이디와 이름을 입력한 후 로그인을 클릭하면 </a:t>
            </a:r>
            <a:r>
              <a:rPr lang="en-US" altLang="ko-KR" sz="1200">
                <a:latin typeface="+mj-ea"/>
                <a:ea typeface="+mj-ea"/>
              </a:rPr>
              <a:t>/test/login3.do</a:t>
            </a:r>
            <a:r>
              <a:rPr lang="ko-KR" altLang="en-US" sz="1200">
                <a:latin typeface="+mj-ea"/>
                <a:ea typeface="+mj-ea"/>
              </a:rPr>
              <a:t>로 요청하여 결과를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380110" y="3897797"/>
            <a:ext cx="3495675" cy="1905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26.3.4 @ModelAttribute </a:t>
            </a:r>
            <a:r>
              <a:rPr lang="ko-KR" altLang="en-US" b="1"/>
              <a:t>이용해 </a:t>
            </a:r>
            <a:r>
              <a:rPr lang="en-US" altLang="ko-KR" b="1"/>
              <a:t>VO</a:t>
            </a:r>
            <a:r>
              <a:rPr lang="ko-KR" altLang="en-US" b="1"/>
              <a:t>에 매개변수 값 설정하기</a:t>
            </a:r>
            <a:r>
              <a:rPr lang="en-US" altLang="ko-KR" b="1"/>
              <a:t> 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5313" y="1750939"/>
            <a:ext cx="7285383" cy="266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LoginController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50222" y="2015523"/>
            <a:ext cx="6915564" cy="4842477"/>
          </a:xfrm>
          <a:prstGeom prst="rect">
            <a:avLst/>
          </a:prstGeom>
          <a:noFill/>
          <a:ln>
            <a:noFill/>
          </a:ln>
        </p:spPr>
      </p:pic>
      <p:sp>
        <p:nvSpPr>
          <p:cNvPr id="22531" name="직사각형 22530"/>
          <p:cNvSpPr txBox="1"/>
          <p:nvPr/>
        </p:nvSpPr>
        <p:spPr>
          <a:xfrm>
            <a:off x="6623685" y="4050030"/>
            <a:ext cx="2287905" cy="1739265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</a:ln>
        </p:spPr>
        <p:txBody>
          <a:bodyPr wrap="square">
            <a:spAutoFit/>
          </a:bodyPr>
          <a:p>
            <a:pPr/>
            <a:r>
              <a:rPr lang="en-US" altLang="ko-KR" sz="1200">
                <a:latin typeface="맑은 고딕"/>
                <a:ea typeface="맑은 고딕"/>
                <a:cs typeface="맑은 고딕"/>
              </a:rPr>
              <a:t>Request객체로 전달되는 매개변수명과 저장할 객체의 속성명과 동일할때, loginVO에 자동으로 설정되면서ModelAndView 클래스에"info" 속성명으로 저장된다. 결과적으로 @RequestParam( )과 mav.addObject( ) 생략된 셈.</a:t>
            </a:r>
            <a:endParaRPr lang="en-US" altLang="ko-KR" sz="1200"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22532" name="직선 화살표 연결선 22531"/>
          <p:cNvCxnSpPr/>
          <p:nvPr/>
        </p:nvCxnSpPr>
        <p:spPr>
          <a:xfrm rot="16200000" flipV="1">
            <a:off x="7461535" y="3168571"/>
            <a:ext cx="1066524" cy="6572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470991"/>
            <a:ext cx="74642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LoginVO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로그인창에서 입력한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비밀번호를 속성에 저장합니다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926869" y="1828800"/>
            <a:ext cx="6883312" cy="2143850"/>
            <a:chOff x="466725" y="2681288"/>
            <a:chExt cx="8248650" cy="2828925"/>
          </a:xfrm>
        </p:grpSpPr>
        <p:pic>
          <p:nvPicPr>
            <p:cNvPr id="2355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66725" y="2681288"/>
              <a:ext cx="8210550" cy="1495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55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66725" y="4176713"/>
              <a:ext cx="8248650" cy="133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/>
          <p:cNvSpPr txBox="1"/>
          <p:nvPr/>
        </p:nvSpPr>
        <p:spPr>
          <a:xfrm>
            <a:off x="586409" y="4293704"/>
            <a:ext cx="7573617" cy="26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로그인창에 입력한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비밀번호가 출력되도록 </a:t>
            </a:r>
            <a:r>
              <a:rPr lang="en-US" altLang="ko-KR" sz="1200">
                <a:latin typeface="+mj-ea"/>
                <a:ea typeface="+mj-ea"/>
              </a:rPr>
              <a:t>result.jsp</a:t>
            </a:r>
            <a:r>
              <a:rPr lang="ko-KR" altLang="en-US" sz="1200">
                <a:latin typeface="+mj-ea"/>
                <a:ea typeface="+mj-ea"/>
              </a:rPr>
              <a:t>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 rotWithShape="1">
          <a:blip r:embed="rId4">
            <a:alphaModFix/>
            <a:lum/>
          </a:blip>
          <a:srcRect/>
          <a:stretch>
            <a:fillRect/>
          </a:stretch>
        </p:blipFill>
        <p:spPr>
          <a:xfrm>
            <a:off x="962119" y="4739690"/>
            <a:ext cx="6781017" cy="144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20687"/>
            <a:ext cx="70170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로그인창에서 로그인을 하면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이름을 출력합니다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063491" y="1797686"/>
            <a:ext cx="3562350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3" name="TextBox 2"/>
          <p:cNvSpPr txBox="1"/>
          <p:nvPr/>
        </p:nvSpPr>
        <p:spPr>
          <a:xfrm>
            <a:off x="505118" y="1335052"/>
            <a:ext cx="8039113" cy="49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2160270">
              <a:lnSpc>
                <a:spcPct val="150000"/>
              </a:lnSpc>
              <a:spcBef>
                <a:spcPct val="16000"/>
              </a:spcBef>
              <a:buClr>
                <a:srgbClr val="7c68ad"/>
              </a:buClr>
              <a:buFont typeface="Arial"/>
              <a:buChar char="•"/>
            </a:pPr>
            <a:r>
              <a:rPr lang="en-US" altLang="ko-KR" b="1"/>
              <a:t>26.3.5 Model </a:t>
            </a:r>
            <a:r>
              <a:rPr lang="ko-KR" altLang="en-US" b="1"/>
              <a:t>클래스 이용해 값 전달하기</a:t>
            </a:r>
            <a:r>
              <a:rPr lang="en-US" altLang="ko-KR" b="1"/>
              <a:t> </a:t>
            </a:r>
            <a:endParaRPr lang="en-US" altLang="ko-KR" b="1" spc="-94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6226" y="2122077"/>
            <a:ext cx="7434470" cy="90496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Model </a:t>
            </a:r>
            <a:r>
              <a:rPr lang="ko-KR" altLang="en-US" sz="1200">
                <a:latin typeface="+mj-ea"/>
                <a:ea typeface="+mj-ea"/>
              </a:rPr>
              <a:t>클래스를 이용하면 메서드 호출 시 </a:t>
            </a:r>
            <a:r>
              <a:rPr lang="en-US" altLang="ko-KR" sz="1200">
                <a:latin typeface="+mj-ea"/>
                <a:ea typeface="+mj-ea"/>
              </a:rPr>
              <a:t>JSP</a:t>
            </a:r>
            <a:r>
              <a:rPr lang="ko-KR" altLang="en-US" sz="1200">
                <a:latin typeface="+mj-ea"/>
                <a:ea typeface="+mj-ea"/>
              </a:rPr>
              <a:t>로 값을 바로 바인딩하여 전달할 수 있음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Model </a:t>
            </a:r>
            <a:r>
              <a:rPr lang="ko-KR" altLang="en-US" sz="1200">
                <a:latin typeface="+mj-ea"/>
                <a:ea typeface="+mj-ea"/>
              </a:rPr>
              <a:t>클래스의 </a:t>
            </a:r>
            <a:r>
              <a:rPr lang="en-US" altLang="ko-KR" sz="1200">
                <a:latin typeface="+mj-ea"/>
                <a:ea typeface="+mj-ea"/>
              </a:rPr>
              <a:t>addAttribute() </a:t>
            </a:r>
            <a:r>
              <a:rPr lang="ko-KR" altLang="en-US" sz="1200">
                <a:latin typeface="+mj-ea"/>
                <a:ea typeface="+mj-ea"/>
              </a:rPr>
              <a:t>메서드는 </a:t>
            </a:r>
            <a:r>
              <a:rPr lang="en-US" altLang="ko-KR" sz="1200">
                <a:latin typeface="+mj-ea"/>
                <a:ea typeface="+mj-ea"/>
              </a:rPr>
              <a:t>ModelAndView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addObject() </a:t>
            </a:r>
            <a:r>
              <a:rPr lang="ko-KR" altLang="en-US" sz="1200">
                <a:latin typeface="+mj-ea"/>
                <a:ea typeface="+mj-ea"/>
              </a:rPr>
              <a:t>메서드와 같은 기능 수행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Model </a:t>
            </a:r>
            <a:r>
              <a:rPr lang="ko-KR" altLang="en-US" sz="1200">
                <a:latin typeface="+mj-ea"/>
                <a:ea typeface="+mj-ea"/>
              </a:rPr>
              <a:t>클래스는 따로 뷰 정보를 전달할 필요가 없을 때 사용하면 편리함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409" y="1868557"/>
            <a:ext cx="2663686" cy="26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Model </a:t>
            </a:r>
            <a:r>
              <a:rPr lang="ko-KR" altLang="en-US" sz="1200" b="1">
                <a:latin typeface="+mj-ea"/>
                <a:ea typeface="+mj-ea"/>
              </a:rPr>
              <a:t>클래스</a:t>
            </a:r>
            <a:endParaRPr lang="ko-KR" altLang="en-US" sz="1200" b="1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9" y="1510748"/>
            <a:ext cx="72853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en-US" altLang="ko-KR" sz="1200">
                <a:latin typeface="+mj-ea"/>
                <a:ea typeface="+mj-ea"/>
              </a:rPr>
              <a:t>LoginController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842900" y="1973223"/>
            <a:ext cx="7185992" cy="4651513"/>
            <a:chOff x="471488" y="2238375"/>
            <a:chExt cx="8201025" cy="5417863"/>
          </a:xfrm>
        </p:grpSpPr>
        <p:pic>
          <p:nvPicPr>
            <p:cNvPr id="2560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71488" y="2238375"/>
              <a:ext cx="8201025" cy="238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0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71488" y="4579663"/>
              <a:ext cx="8172450" cy="3076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04" name="직사각형 25603"/>
          <p:cNvSpPr/>
          <p:nvPr/>
        </p:nvSpPr>
        <p:spPr>
          <a:xfrm>
            <a:off x="1924291" y="5729468"/>
            <a:ext cx="657276" cy="310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5605" name="직선 화살표 연결선 25604"/>
          <p:cNvCxnSpPr/>
          <p:nvPr/>
        </p:nvCxnSpPr>
        <p:spPr>
          <a:xfrm>
            <a:off x="2569166" y="6002300"/>
            <a:ext cx="359642" cy="2356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직사각형 25605"/>
          <p:cNvSpPr txBox="1"/>
          <p:nvPr/>
        </p:nvSpPr>
        <p:spPr>
          <a:xfrm>
            <a:off x="2994660" y="6155055"/>
            <a:ext cx="1350872" cy="291465"/>
          </a:xfrm>
          <a:prstGeom prst="rect">
            <a:avLst/>
          </a:prstGeom>
        </p:spPr>
        <p:txBody>
          <a:bodyPr wrap="square">
            <a:spAutoFit/>
          </a:bodyPr>
          <a:p>
            <a:pPr/>
            <a:r>
              <a:rPr lang="en-US" altLang="ko-KR" sz="1300">
                <a:latin typeface="함초롬돋움"/>
                <a:ea typeface="함초롬돋움"/>
              </a:rPr>
              <a:t>view</a:t>
            </a:r>
            <a:r>
              <a:rPr lang="en-US" altLang="ko-KR" sz="1300"/>
              <a:t>(result.jsp)</a:t>
            </a:r>
            <a:endParaRPr lang="en-US" altLang="ko-KR" sz="1300"/>
          </a:p>
        </p:txBody>
      </p:sp>
    </p:spTree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26.3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스프링 애너테이션 이용해 로그인 기능 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5763" y="1451113"/>
            <a:ext cx="75455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ko-KR" altLang="en-US" sz="1200">
                <a:latin typeface="+mj-ea"/>
                <a:ea typeface="+mj-ea"/>
              </a:rPr>
              <a:t>로그인창에서 입력한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와 비밀번호가 출력되도록 </a:t>
            </a:r>
            <a:r>
              <a:rPr lang="en-US" altLang="ko-KR" sz="1200">
                <a:latin typeface="+mj-ea"/>
                <a:ea typeface="+mj-ea"/>
              </a:rPr>
              <a:t>result.jsp</a:t>
            </a:r>
            <a:r>
              <a:rPr lang="ko-KR" altLang="en-US" sz="1200">
                <a:latin typeface="+mj-ea"/>
                <a:ea typeface="+mj-ea"/>
              </a:rPr>
              <a:t>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97225" y="1728112"/>
            <a:ext cx="6642652" cy="14245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86409" y="3646364"/>
            <a:ext cx="7305261" cy="266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ko-KR" altLang="en-US" sz="1200">
                <a:latin typeface="+mj-ea"/>
                <a:ea typeface="+mj-ea"/>
              </a:rPr>
              <a:t>다음은 로그인창에서 요청한 실행 결과입니다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2149542" y="3923363"/>
            <a:ext cx="3552825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610139"/>
            <a:ext cx="7553738" cy="44535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XML</a:t>
            </a:r>
            <a:r>
              <a:rPr lang="ko-KR" altLang="en-US" sz="1200">
                <a:latin typeface="+mj-ea"/>
                <a:ea typeface="+mj-ea"/>
              </a:rPr>
              <a:t>에서 빈을 설정한 후 애플리케이션이 실행될 때 빈을 주입해서 사용하면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파일이 복잡해지면서 사용 및 관리가 불편함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14364" y="4347578"/>
            <a:ext cx="15773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@Autowired</a:t>
            </a:r>
            <a:r>
              <a:rPr lang="ko-KR" altLang="en-US" sz="1200" b="1">
                <a:latin typeface="+mj-ea"/>
                <a:ea typeface="+mj-ea"/>
              </a:rPr>
              <a:t>의 특징</a:t>
            </a:r>
            <a:endParaRPr lang="ko-KR" altLang="en-US" sz="1200" b="1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4418" y="4624577"/>
            <a:ext cx="7525728" cy="64633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200">
                <a:latin typeface="+mj-ea"/>
                <a:ea typeface="+mj-ea"/>
              </a:rPr>
              <a:t>기존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파일에서 각각의 빈을 </a:t>
            </a:r>
            <a:r>
              <a:rPr lang="en-US" altLang="ko-KR" sz="1200">
                <a:latin typeface="+mj-ea"/>
                <a:ea typeface="+mj-ea"/>
              </a:rPr>
              <a:t>DI</a:t>
            </a:r>
            <a:r>
              <a:rPr lang="ko-KR" altLang="en-US" sz="1200">
                <a:latin typeface="+mj-ea"/>
                <a:ea typeface="+mj-ea"/>
              </a:rPr>
              <a:t>로 주입했던 기능을 코드에서 애너테이션으로 자동으로 수행함</a:t>
            </a:r>
            <a:endParaRPr lang="ko-KR" altLang="en-US" sz="120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200">
                <a:latin typeface="+mj-ea"/>
                <a:ea typeface="+mj-ea"/>
              </a:rPr>
              <a:t>@Autowired</a:t>
            </a:r>
            <a:r>
              <a:rPr lang="ko-KR" altLang="en-US" sz="1200">
                <a:latin typeface="+mj-ea"/>
                <a:ea typeface="+mj-ea"/>
              </a:rPr>
              <a:t>를 사용하면 별도의 </a:t>
            </a:r>
            <a:r>
              <a:rPr lang="en-US" altLang="ko-KR" sz="1200">
                <a:latin typeface="+mj-ea"/>
                <a:ea typeface="+mj-ea"/>
              </a:rPr>
              <a:t>setter</a:t>
            </a:r>
            <a:r>
              <a:rPr lang="ko-KR" altLang="en-US" sz="1200">
                <a:latin typeface="+mj-ea"/>
                <a:ea typeface="+mj-ea"/>
              </a:rPr>
              <a:t>나 생성자 없이 속성에 빈을 주입할 수 있음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8" name="그림 7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46752" y="2224323"/>
            <a:ext cx="5943600" cy="16738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600200" y="2971800"/>
            <a:ext cx="3816626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480931" y="3508513"/>
            <a:ext cx="3289852" cy="19878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421296"/>
            <a:ext cx="73847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1. </a:t>
            </a:r>
            <a:r>
              <a:rPr lang="ko-KR" altLang="en-US" sz="1200">
                <a:latin typeface="+mj-ea"/>
                <a:ea typeface="+mj-ea"/>
              </a:rPr>
              <a:t>먼저 회원 관리 기능과 관련된 </a:t>
            </a:r>
            <a:r>
              <a:rPr lang="en-US" altLang="ko-KR" sz="1200">
                <a:latin typeface="+mj-ea"/>
                <a:ea typeface="+mj-ea"/>
              </a:rPr>
              <a:t>XML </a:t>
            </a:r>
            <a:r>
              <a:rPr lang="ko-KR" altLang="en-US" sz="1200">
                <a:latin typeface="+mj-ea"/>
                <a:ea typeface="+mj-ea"/>
              </a:rPr>
              <a:t>파일을 설정하겠습니다</a:t>
            </a:r>
            <a:r>
              <a:rPr lang="en-US" altLang="ko-KR" sz="1200">
                <a:latin typeface="+mj-ea"/>
                <a:ea typeface="+mj-ea"/>
              </a:rPr>
              <a:t>. action-mybatis.xml</a:t>
            </a:r>
            <a:r>
              <a:rPr lang="ko-KR" altLang="en-US" sz="1200">
                <a:latin typeface="+mj-ea"/>
                <a:ea typeface="+mj-ea"/>
              </a:rPr>
              <a:t>과 </a:t>
            </a:r>
            <a:r>
              <a:rPr lang="en-US" altLang="ko-KR" sz="1200">
                <a:latin typeface="+mj-ea"/>
                <a:ea typeface="+mj-ea"/>
              </a:rPr>
              <a:t>jdbc.properties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</a:t>
            </a:r>
            <a:r>
              <a:rPr lang="ko-KR" altLang="en-US" sz="1200">
                <a:latin typeface="+mj-ea"/>
                <a:ea typeface="+mj-ea"/>
              </a:rPr>
              <a:t>파일은 </a:t>
            </a:r>
            <a:r>
              <a:rPr lang="en-US" altLang="ko-KR" sz="1200">
                <a:latin typeface="+mj-ea"/>
                <a:ea typeface="+mj-ea"/>
              </a:rPr>
              <a:t>24</a:t>
            </a:r>
            <a:r>
              <a:rPr lang="ko-KR" altLang="en-US" sz="1200">
                <a:latin typeface="+mj-ea"/>
                <a:ea typeface="+mj-ea"/>
              </a:rPr>
              <a:t>장의 파일을 복사해 </a:t>
            </a:r>
            <a:r>
              <a:rPr lang="en-US" altLang="ko-KR" sz="1200">
                <a:latin typeface="+mj-ea"/>
                <a:ea typeface="+mj-ea"/>
              </a:rPr>
              <a:t>config </a:t>
            </a:r>
            <a:r>
              <a:rPr lang="ko-KR" altLang="en-US" sz="1200">
                <a:latin typeface="+mj-ea"/>
                <a:ea typeface="+mj-ea"/>
              </a:rPr>
              <a:t>폴더에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629194" y="2131324"/>
            <a:ext cx="2152650" cy="2714625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</p:spPr>
      </p:pic>
    </p:spTree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510748"/>
            <a:ext cx="8100390" cy="449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2. </a:t>
            </a:r>
            <a:r>
              <a:rPr lang="en-US" altLang="ko-KR" sz="1200">
                <a:latin typeface="+mj-ea"/>
                <a:ea typeface="+mj-ea"/>
              </a:rPr>
              <a:t>web.xml</a:t>
            </a:r>
            <a:r>
              <a:rPr lang="ko-KR" altLang="en-US" sz="1200">
                <a:latin typeface="+mj-ea"/>
                <a:ea typeface="+mj-ea"/>
              </a:rPr>
              <a:t>을 다음과 같이 작성합니다</a:t>
            </a:r>
            <a:r>
              <a:rPr lang="en-US" altLang="ko-KR" sz="1200">
                <a:latin typeface="+mj-ea"/>
                <a:ea typeface="+mj-ea"/>
              </a:rPr>
              <a:t>. ContextLoaderListener</a:t>
            </a:r>
            <a:r>
              <a:rPr lang="ko-KR" altLang="en-US" sz="1200">
                <a:latin typeface="+mj-ea"/>
                <a:ea typeface="+mj-ea"/>
              </a:rPr>
              <a:t>를 이용해 애플리케이션이 실행될 때 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action-mybatis.xml</a:t>
            </a:r>
            <a:r>
              <a:rPr lang="ko-KR" altLang="en-US" sz="1200">
                <a:latin typeface="+mj-ea"/>
                <a:ea typeface="+mj-ea"/>
              </a:rPr>
              <a:t>을 읽어 들이도록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34278" y="1972413"/>
            <a:ext cx="6931923" cy="3374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5922" y="1530626"/>
            <a:ext cx="7245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3. </a:t>
            </a:r>
            <a:r>
              <a:rPr lang="en-US" altLang="ko-KR" sz="1200">
                <a:latin typeface="+mj-ea"/>
                <a:ea typeface="+mj-ea"/>
              </a:rPr>
              <a:t>action-serlvet.xml</a:t>
            </a:r>
            <a:r>
              <a:rPr lang="ko-KR" altLang="en-US" sz="1200">
                <a:latin typeface="+mj-ea"/>
                <a:ea typeface="+mj-ea"/>
              </a:rPr>
              <a:t>의 </a:t>
            </a:r>
            <a:r>
              <a:rPr lang="en-US" altLang="ko-KR" sz="1200">
                <a:latin typeface="+mj-ea"/>
                <a:ea typeface="+mj-ea"/>
              </a:rPr>
              <a:t>JSP </a:t>
            </a:r>
            <a:r>
              <a:rPr lang="ko-KR" altLang="en-US" sz="1200">
                <a:latin typeface="+mj-ea"/>
                <a:ea typeface="+mj-ea"/>
              </a:rPr>
              <a:t>경로를 </a:t>
            </a:r>
            <a:r>
              <a:rPr lang="en-US" altLang="ko-KR" sz="1200">
                <a:latin typeface="+mj-ea"/>
                <a:ea typeface="+mj-ea"/>
              </a:rPr>
              <a:t>/WEB-INF/views/member/</a:t>
            </a:r>
            <a:r>
              <a:rPr lang="ko-KR" altLang="en-US" sz="1200">
                <a:latin typeface="+mj-ea"/>
                <a:ea typeface="+mj-ea"/>
              </a:rPr>
              <a:t>로 변경합니다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735496" y="1837442"/>
            <a:ext cx="7469050" cy="3139939"/>
            <a:chOff x="452438" y="2543175"/>
            <a:chExt cx="8239125" cy="3658016"/>
          </a:xfrm>
        </p:grpSpPr>
        <p:pic>
          <p:nvPicPr>
            <p:cNvPr id="3072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52438" y="2543175"/>
              <a:ext cx="8239125" cy="1771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23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66725" y="4334291"/>
              <a:ext cx="8210550" cy="18669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" name="직선 연결선 5"/>
          <p:cNvCxnSpPr/>
          <p:nvPr/>
        </p:nvCxnSpPr>
        <p:spPr>
          <a:xfrm>
            <a:off x="954157" y="2276061"/>
            <a:ext cx="4174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4" name="직사각형 30723"/>
          <p:cNvSpPr/>
          <p:nvPr/>
        </p:nvSpPr>
        <p:spPr>
          <a:xfrm>
            <a:off x="3858916" y="2616705"/>
            <a:ext cx="1847815" cy="297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60443"/>
            <a:ext cx="7941365" cy="266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4. </a:t>
            </a:r>
            <a:r>
              <a:rPr lang="ko-KR" altLang="en-US" sz="1200">
                <a:latin typeface="+mj-ea"/>
                <a:ea typeface="+mj-ea"/>
              </a:rPr>
              <a:t>스프링에서 제공하는 클래스의 빈을 사용하려면 여전히 </a:t>
            </a:r>
            <a:r>
              <a:rPr lang="en-US" altLang="ko-KR" sz="1200">
                <a:latin typeface="+mj-ea"/>
                <a:ea typeface="+mj-ea"/>
              </a:rPr>
              <a:t>XML</a:t>
            </a:r>
            <a:r>
              <a:rPr lang="ko-KR" altLang="en-US" sz="1200">
                <a:latin typeface="+mj-ea"/>
                <a:ea typeface="+mj-ea"/>
              </a:rPr>
              <a:t>로 설정해야 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166418" y="1871511"/>
            <a:ext cx="6460435" cy="4837634"/>
            <a:chOff x="461962" y="1385888"/>
            <a:chExt cx="8220076" cy="6877050"/>
          </a:xfrm>
        </p:grpSpPr>
        <p:pic>
          <p:nvPicPr>
            <p:cNvPr id="3174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461963" y="1385888"/>
              <a:ext cx="8220075" cy="408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4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461962" y="5472113"/>
              <a:ext cx="8181975" cy="2790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750" name="그림 31749"/>
          <p:cNvPicPr/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5614292" y="5436604"/>
            <a:ext cx="3314700" cy="82867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cxnSp>
        <p:nvCxnSpPr>
          <p:cNvPr id="31751" name="직선 화살표 연결선 31750"/>
          <p:cNvCxnSpPr>
            <a:endCxn id="31750" idx="1"/>
          </p:cNvCxnSpPr>
          <p:nvPr/>
        </p:nvCxnSpPr>
        <p:spPr>
          <a:xfrm flipV="1">
            <a:off x="5309886" y="5850942"/>
            <a:ext cx="304406" cy="27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2" name="직사각형 31751"/>
          <p:cNvSpPr/>
          <p:nvPr/>
        </p:nvSpPr>
        <p:spPr>
          <a:xfrm>
            <a:off x="540060" y="5548615"/>
            <a:ext cx="1401363" cy="248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53" name="직사각형 31752"/>
          <p:cNvSpPr/>
          <p:nvPr/>
        </p:nvSpPr>
        <p:spPr>
          <a:xfrm>
            <a:off x="2709094" y="5770255"/>
            <a:ext cx="1215342" cy="248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54" name="직사각형 31753"/>
          <p:cNvSpPr/>
          <p:nvPr/>
        </p:nvSpPr>
        <p:spPr>
          <a:xfrm>
            <a:off x="5830746" y="5841081"/>
            <a:ext cx="1996632" cy="396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55" name="직사각형 31754"/>
          <p:cNvSpPr/>
          <p:nvPr/>
        </p:nvSpPr>
        <p:spPr>
          <a:xfrm>
            <a:off x="5688632" y="5477807"/>
            <a:ext cx="1649392" cy="210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119" y="1520687"/>
            <a:ext cx="7664846" cy="44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5. </a:t>
            </a:r>
            <a:r>
              <a:rPr lang="ko-KR" altLang="en-US" sz="1200">
                <a:latin typeface="+mj-ea"/>
                <a:ea typeface="+mj-ea"/>
              </a:rPr>
              <a:t>이번에는 회원 관리 기능 매퍼 파일을 설정해 보겠습니다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매퍼 파일들은 </a:t>
            </a:r>
            <a:r>
              <a:rPr lang="en-US" altLang="ko-KR" sz="1200">
                <a:latin typeface="+mj-ea"/>
                <a:ea typeface="+mj-ea"/>
              </a:rPr>
              <a:t>24</a:t>
            </a:r>
            <a:r>
              <a:rPr lang="ko-KR" altLang="en-US" sz="1200">
                <a:latin typeface="+mj-ea"/>
                <a:ea typeface="+mj-ea"/>
              </a:rPr>
              <a:t>장에서 만든 파일과 같은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</a:t>
            </a:r>
            <a:r>
              <a:rPr lang="ko-KR" altLang="en-US" sz="1200">
                <a:latin typeface="+mj-ea"/>
                <a:ea typeface="+mj-ea"/>
              </a:rPr>
              <a:t>  패키지 구조로 만든 후 실습한 </a:t>
            </a:r>
            <a:r>
              <a:rPr lang="en-US" altLang="ko-KR" sz="1200">
                <a:latin typeface="+mj-ea"/>
                <a:ea typeface="+mj-ea"/>
              </a:rPr>
              <a:t>member.xml</a:t>
            </a:r>
            <a:r>
              <a:rPr lang="ko-KR" altLang="en-US" sz="1200">
                <a:latin typeface="+mj-ea"/>
                <a:ea typeface="+mj-ea"/>
              </a:rPr>
              <a:t>과 </a:t>
            </a:r>
            <a:r>
              <a:rPr lang="en-US" altLang="ko-KR" sz="1200">
                <a:latin typeface="+mj-ea"/>
                <a:ea typeface="+mj-ea"/>
              </a:rPr>
              <a:t>modelConfig.xml</a:t>
            </a:r>
            <a:r>
              <a:rPr lang="ko-KR" altLang="en-US" sz="1200">
                <a:latin typeface="+mj-ea"/>
                <a:ea typeface="+mj-ea"/>
              </a:rPr>
              <a:t>을 복사해 붙여넣습니다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2925210" y="2067132"/>
            <a:ext cx="2200275" cy="20478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50504"/>
            <a:ext cx="7832033" cy="44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6. </a:t>
            </a:r>
            <a:r>
              <a:rPr lang="ko-KR" altLang="en-US" sz="1200">
                <a:latin typeface="+mj-ea"/>
                <a:ea typeface="+mj-ea"/>
              </a:rPr>
              <a:t>회원 관리 기능 관련 자바 파일과 </a:t>
            </a:r>
            <a:r>
              <a:rPr lang="en-US" altLang="ko-KR" sz="1200">
                <a:latin typeface="+mj-ea"/>
                <a:ea typeface="+mj-ea"/>
              </a:rPr>
              <a:t>JSP</a:t>
            </a:r>
            <a:r>
              <a:rPr lang="ko-KR" altLang="en-US" sz="1200">
                <a:latin typeface="+mj-ea"/>
                <a:ea typeface="+mj-ea"/>
              </a:rPr>
              <a:t>를 다음과 같이 준비합니다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일단 </a:t>
            </a:r>
            <a:r>
              <a:rPr lang="en-US" altLang="ko-KR" sz="1200">
                <a:latin typeface="+mj-ea"/>
                <a:ea typeface="+mj-ea"/>
              </a:rPr>
              <a:t>JSP</a:t>
            </a:r>
            <a:r>
              <a:rPr lang="ko-KR" altLang="en-US" sz="1200">
                <a:latin typeface="+mj-ea"/>
                <a:ea typeface="+mj-ea"/>
              </a:rPr>
              <a:t>는 </a:t>
            </a:r>
            <a:r>
              <a:rPr lang="en-US" altLang="ko-KR" sz="1200">
                <a:latin typeface="+mj-ea"/>
                <a:ea typeface="+mj-ea"/>
              </a:rPr>
              <a:t>24</a:t>
            </a:r>
            <a:r>
              <a:rPr lang="ko-KR" altLang="en-US" sz="1200">
                <a:latin typeface="+mj-ea"/>
                <a:ea typeface="+mj-ea"/>
              </a:rPr>
              <a:t>장에서 실습할 때 사용한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</a:t>
            </a:r>
            <a:r>
              <a:rPr lang="ko-KR" altLang="en-US" sz="1200">
                <a:latin typeface="+mj-ea"/>
                <a:ea typeface="+mj-ea"/>
              </a:rPr>
              <a:t> 파일과 동일하므로 </a:t>
            </a:r>
            <a:r>
              <a:rPr lang="en-US" altLang="ko-KR" sz="1200">
                <a:latin typeface="+mj-ea"/>
                <a:ea typeface="+mj-ea"/>
              </a:rPr>
              <a:t>views </a:t>
            </a:r>
            <a:r>
              <a:rPr lang="ko-KR" altLang="en-US" sz="1200">
                <a:latin typeface="+mj-ea"/>
                <a:ea typeface="+mj-ea"/>
              </a:rPr>
              <a:t>폴더 하위에 </a:t>
            </a:r>
            <a:r>
              <a:rPr lang="en-US" altLang="ko-KR" sz="1200">
                <a:latin typeface="+mj-ea"/>
                <a:ea typeface="+mj-ea"/>
              </a:rPr>
              <a:t>member </a:t>
            </a:r>
            <a:r>
              <a:rPr lang="ko-KR" altLang="en-US" sz="1200">
                <a:latin typeface="+mj-ea"/>
                <a:ea typeface="+mj-ea"/>
              </a:rPr>
              <a:t>폴더를 만든 후 파일을 복사해 붙여 넣습니다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3150703" y="2001279"/>
            <a:ext cx="1909859" cy="48567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9" y="1540565"/>
            <a:ext cx="7374833" cy="26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7. </a:t>
            </a:r>
            <a:r>
              <a:rPr lang="en-US" altLang="ko-KR" sz="1200">
                <a:latin typeface="+mj-ea"/>
                <a:ea typeface="+mj-ea"/>
              </a:rPr>
              <a:t>MemberControllerImpl </a:t>
            </a:r>
            <a:r>
              <a:rPr lang="ko-KR" altLang="en-US" sz="1200">
                <a:latin typeface="+mj-ea"/>
                <a:ea typeface="+mj-ea"/>
              </a:rPr>
              <a:t>클래스를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983974" y="1817564"/>
            <a:ext cx="6245916" cy="447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725556" y="1405599"/>
            <a:ext cx="6842677" cy="2723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9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 rot="0">
            <a:off x="894523" y="1461052"/>
            <a:ext cx="6546781" cy="4798943"/>
            <a:chOff x="894523" y="1461052"/>
            <a:chExt cx="6546781" cy="4798943"/>
          </a:xfrm>
        </p:grpSpPr>
        <p:pic>
          <p:nvPicPr>
            <p:cNvPr id="3686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894523" y="1911699"/>
              <a:ext cx="6546781" cy="4348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6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1069284" y="1461052"/>
              <a:ext cx="6067011" cy="4605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8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407" y="1431235"/>
            <a:ext cx="71064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8. </a:t>
            </a:r>
            <a:r>
              <a:rPr lang="en-US" altLang="ko-KR" sz="1200">
                <a:latin typeface="+mj-ea"/>
                <a:ea typeface="+mj-ea"/>
              </a:rPr>
              <a:t>MemberServiceImpl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 rot="0">
            <a:off x="840879" y="1708234"/>
            <a:ext cx="6295417" cy="5118805"/>
            <a:chOff x="700088" y="695325"/>
            <a:chExt cx="7743825" cy="7028829"/>
          </a:xfrm>
        </p:grpSpPr>
        <p:pic>
          <p:nvPicPr>
            <p:cNvPr id="3789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700088" y="695325"/>
              <a:ext cx="7743825" cy="546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91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700088" y="6190629"/>
              <a:ext cx="7686675" cy="1533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8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392126"/>
            <a:ext cx="7176053" cy="26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9. </a:t>
            </a:r>
            <a:r>
              <a:rPr lang="ko-KR" altLang="en-US" sz="1200">
                <a:latin typeface="+mj-ea"/>
                <a:ea typeface="+mj-ea"/>
              </a:rPr>
              <a:t>계속해서 </a:t>
            </a:r>
            <a:r>
              <a:rPr lang="en-US" altLang="ko-KR" sz="1200">
                <a:latin typeface="+mj-ea"/>
                <a:ea typeface="+mj-ea"/>
              </a:rPr>
              <a:t>MemberDAOImpl </a:t>
            </a:r>
            <a:r>
              <a:rPr lang="ko-KR" altLang="en-US" sz="1200">
                <a:latin typeface="+mj-ea"/>
                <a:ea typeface="+mj-ea"/>
              </a:rPr>
              <a:t>클래스를 다음과 같이 작성합니다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 rot="0">
            <a:off x="1313517" y="1778456"/>
            <a:ext cx="5721834" cy="4811367"/>
            <a:chOff x="728662" y="685800"/>
            <a:chExt cx="7686676" cy="7296150"/>
          </a:xfrm>
        </p:grpSpPr>
        <p:pic>
          <p:nvPicPr>
            <p:cNvPr id="3891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alphaModFix/>
              <a:lum/>
            </a:blip>
            <a:srcRect/>
            <a:stretch>
              <a:fillRect/>
            </a:stretch>
          </p:blipFill>
          <p:spPr>
            <a:xfrm>
              <a:off x="728663" y="685800"/>
              <a:ext cx="7686675" cy="548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15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alphaModFix/>
              <a:lum/>
            </a:blip>
            <a:srcRect/>
            <a:stretch>
              <a:fillRect/>
            </a:stretch>
          </p:blipFill>
          <p:spPr>
            <a:xfrm>
              <a:off x="728662" y="6172200"/>
              <a:ext cx="7620000" cy="1809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8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371599"/>
            <a:ext cx="7871792" cy="44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10. </a:t>
            </a:r>
            <a:r>
              <a:rPr lang="en-US" altLang="ko-KR" sz="1200">
                <a:latin typeface="+mj-ea"/>
                <a:ea typeface="+mj-ea"/>
              </a:rPr>
              <a:t>MemberVO </a:t>
            </a:r>
            <a:r>
              <a:rPr lang="ko-KR" altLang="en-US" sz="1200">
                <a:latin typeface="+mj-ea"/>
                <a:ea typeface="+mj-ea"/>
              </a:rPr>
              <a:t>클래스의 경우 </a:t>
            </a:r>
            <a:r>
              <a:rPr lang="en-US" altLang="ko-KR" sz="1200">
                <a:latin typeface="+mj-ea"/>
                <a:ea typeface="+mj-ea"/>
              </a:rPr>
              <a:t>@Component("memberVO")</a:t>
            </a:r>
            <a:r>
              <a:rPr lang="ko-KR" altLang="en-US" sz="1200">
                <a:latin typeface="+mj-ea"/>
                <a:ea typeface="+mj-ea"/>
              </a:rPr>
              <a:t>를 이용해 </a:t>
            </a:r>
            <a:r>
              <a:rPr lang="en-US" altLang="ko-KR" sz="1200">
                <a:latin typeface="+mj-ea"/>
                <a:ea typeface="+mj-ea"/>
              </a:rPr>
              <a:t>id</a:t>
            </a:r>
            <a:r>
              <a:rPr lang="ko-KR" altLang="en-US" sz="1200">
                <a:latin typeface="+mj-ea"/>
                <a:ea typeface="+mj-ea"/>
              </a:rPr>
              <a:t>가 </a:t>
            </a:r>
            <a:r>
              <a:rPr lang="en-US" altLang="ko-KR" sz="1200">
                <a:latin typeface="+mj-ea"/>
                <a:ea typeface="+mj-ea"/>
              </a:rPr>
              <a:t>memberVO</a:t>
            </a:r>
            <a:r>
              <a:rPr lang="ko-KR" altLang="en-US" sz="1200">
                <a:latin typeface="+mj-ea"/>
                <a:ea typeface="+mj-ea"/>
              </a:rPr>
              <a:t>인 빈을 자동 생성하도록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 설정합니다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434693" y="1795228"/>
            <a:ext cx="5767715" cy="5062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8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5374" y="2971800"/>
            <a:ext cx="7553738" cy="636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11. </a:t>
            </a:r>
            <a:r>
              <a:rPr lang="en-US" altLang="ko-KR" sz="1200">
                <a:latin typeface="+mj-ea"/>
                <a:ea typeface="+mj-ea"/>
              </a:rPr>
              <a:t>http://localhost:8090/pro26/member/listMembers.do</a:t>
            </a:r>
            <a:r>
              <a:rPr lang="ko-KR" altLang="en-US" sz="1200">
                <a:latin typeface="+mj-ea"/>
                <a:ea typeface="+mj-ea"/>
              </a:rPr>
              <a:t>로 요청하면 다음과 같이 회원 목록을 표시합니다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en-US" altLang="ko-KR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회원가입을 클릭하여 </a:t>
            </a:r>
            <a:r>
              <a:rPr lang="en-US" altLang="ko-KR" sz="1200">
                <a:latin typeface="+mj-ea"/>
                <a:ea typeface="+mj-ea"/>
              </a:rPr>
              <a:t>http://localhost:8090/pro26/member/memberForm.do</a:t>
            </a:r>
            <a:r>
              <a:rPr lang="ko-KR" altLang="en-US" sz="1200">
                <a:latin typeface="+mj-ea"/>
                <a:ea typeface="+mj-ea"/>
              </a:rPr>
              <a:t>로 요청하면 회원 가입창이 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</a:t>
            </a:r>
            <a:r>
              <a:rPr lang="ko-KR" altLang="en-US" sz="1200">
                <a:latin typeface="+mj-ea"/>
                <a:ea typeface="+mj-ea"/>
              </a:rPr>
              <a:t>표시됩니다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374" y="1391478"/>
            <a:ext cx="6904734" cy="263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@Autowired </a:t>
            </a:r>
            <a:r>
              <a:rPr lang="ko-KR" altLang="en-US" sz="1200" b="1">
                <a:latin typeface="+mj-ea"/>
                <a:ea typeface="+mj-ea"/>
              </a:rPr>
              <a:t>와 스테레오 타입 에너테이션으로 주입한  빈 상태</a:t>
            </a:r>
            <a:endParaRPr lang="ko-KR" altLang="en-US" sz="1200" b="1"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1101003" y="1688977"/>
            <a:ext cx="6213475" cy="162718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그림 8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551538" y="3799246"/>
            <a:ext cx="5534025" cy="214185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846443" y="5625548"/>
            <a:ext cx="914400" cy="31555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8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7" y="1480930"/>
            <a:ext cx="7742584" cy="45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12. </a:t>
            </a:r>
            <a:r>
              <a:rPr lang="ko-KR" altLang="en-US" sz="1200">
                <a:latin typeface="+mj-ea"/>
                <a:ea typeface="+mj-ea"/>
              </a:rPr>
              <a:t>새 회원 ‘류현진’에 대한 정보를 입력한 후 가입하기를 클릭하여 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 http://localhost:8090/pro26/member/addMember.do</a:t>
            </a:r>
            <a:r>
              <a:rPr lang="ko-KR" altLang="en-US" sz="1200">
                <a:latin typeface="+mj-ea"/>
                <a:ea typeface="+mj-ea"/>
              </a:rPr>
              <a:t>로 요청하면 회원 등록 결과가 표시됩니다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alphaModFix/>
            <a:lum/>
          </a:blip>
          <a:srcRect/>
          <a:stretch>
            <a:fillRect/>
          </a:stretch>
        </p:blipFill>
        <p:spPr>
          <a:xfrm>
            <a:off x="2932735" y="1942596"/>
            <a:ext cx="2046770" cy="2647436"/>
          </a:xfrm>
          <a:prstGeom prst="rect">
            <a:avLst/>
          </a:prstGeom>
          <a:noFill/>
          <a:ln w="9525">
            <a:solidFill>
              <a:schemeClr val="tx1"/>
            </a:solidFill>
            <a:miter/>
          </a:ln>
          <a:effectLst/>
        </p:spPr>
      </p:pic>
      <p:pic>
        <p:nvPicPr>
          <p:cNvPr id="7" name="그림 6"/>
          <p:cNvPicPr/>
          <p:nvPr/>
        </p:nvPicPr>
        <p:blipFill rotWithShape="1">
          <a:blip r:embed="rId3">
            <a:alphaModFix/>
            <a:lum/>
          </a:blip>
          <a:stretch>
            <a:fillRect/>
          </a:stretch>
        </p:blipFill>
        <p:spPr>
          <a:xfrm>
            <a:off x="1674743" y="4711148"/>
            <a:ext cx="5565911" cy="201183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798983" y="4929809"/>
            <a:ext cx="5327374" cy="15902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8" y="711235"/>
            <a:ext cx="746428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550504"/>
            <a:ext cx="7812157" cy="447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13. </a:t>
            </a:r>
            <a:r>
              <a:rPr lang="ko-KR" altLang="en-US" sz="1200">
                <a:latin typeface="+mj-ea"/>
                <a:ea typeface="+mj-ea"/>
              </a:rPr>
              <a:t>이번에는 ‘류현진’ 회원을 삭제해 보겠습니다</a:t>
            </a:r>
            <a:r>
              <a:rPr lang="en-US" altLang="ko-KR" sz="1200">
                <a:latin typeface="+mj-ea"/>
                <a:ea typeface="+mj-ea"/>
              </a:rPr>
              <a:t>. </a:t>
            </a:r>
            <a:r>
              <a:rPr lang="ko-KR" altLang="en-US" sz="1200">
                <a:latin typeface="+mj-ea"/>
                <a:ea typeface="+mj-ea"/>
              </a:rPr>
              <a:t>삭제하기를 클릭하여 </a:t>
            </a:r>
            <a:endParaRPr lang="ko-KR" altLang="en-US" sz="1200">
              <a:latin typeface="+mj-ea"/>
              <a:ea typeface="+mj-ea"/>
            </a:endParaRPr>
          </a:p>
          <a:p>
            <a:pPr lvl="0"/>
            <a:r>
              <a:rPr lang="en-US" altLang="ko-KR" sz="1200">
                <a:latin typeface="+mj-ea"/>
                <a:ea typeface="+mj-ea"/>
              </a:rPr>
              <a:t>     http://localhost:8090/pro26/member/deleteMember.do</a:t>
            </a:r>
            <a:r>
              <a:rPr lang="ko-KR" altLang="en-US" sz="1200">
                <a:latin typeface="+mj-ea"/>
                <a:ea typeface="+mj-ea"/>
              </a:rPr>
              <a:t>로 요청하면 회원이 삭제되어 표시됩니다</a:t>
            </a:r>
            <a:r>
              <a:rPr lang="en-US" altLang="ko-KR" sz="1200">
                <a:latin typeface="+mj-ea"/>
                <a:ea typeface="+mj-ea"/>
              </a:rPr>
              <a:t>.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6" name="그림 5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1346751" y="2061864"/>
            <a:ext cx="5943600" cy="207581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0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US" altLang="ko-KR" sz="2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82839" y="548239"/>
            <a:ext cx="4488568" cy="31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 </a:t>
            </a:r>
            <a:r>
              <a:rPr lang="en-US" altLang="ko-KR" sz="1500" b="1">
                <a:latin typeface="+mj-ea"/>
                <a:ea typeface="+mj-ea"/>
              </a:rPr>
              <a:t>action-servlet.xml</a:t>
            </a:r>
            <a:r>
              <a:rPr lang="ko-KR" altLang="en-US" sz="1500">
                <a:latin typeface="+mj-ea"/>
                <a:ea typeface="+mj-ea"/>
              </a:rPr>
              <a:t>에서 빈과 주입 설정이 생략됨</a:t>
            </a:r>
            <a:endParaRPr lang="ko-KR" altLang="en-US" sz="1500">
              <a:latin typeface="+mj-ea"/>
              <a:ea typeface="+mj-ea"/>
            </a:endParaRPr>
          </a:p>
        </p:txBody>
      </p:sp>
      <p:pic>
        <p:nvPicPr>
          <p:cNvPr id="14" name="그림 13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598800" y="993054"/>
            <a:ext cx="7524750" cy="559117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  <p:sp>
        <p:nvSpPr>
          <p:cNvPr id="15" name="직사각형 14"/>
          <p:cNvSpPr txBox="1"/>
          <p:nvPr/>
        </p:nvSpPr>
        <p:spPr>
          <a:xfrm>
            <a:off x="5185871" y="4024269"/>
            <a:ext cx="3819646" cy="642229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</a:ln>
        </p:spPr>
        <p:txBody>
          <a:bodyPr wrap="square">
            <a:spAutoFit/>
          </a:bodyPr>
          <a:p>
            <a:pPr/>
            <a:r>
              <a:rPr lang="ko-KR" altLang="en-US" sz="1200"/>
              <a:t>@</a:t>
            </a:r>
            <a:r>
              <a:rPr lang="en-US" altLang="ko-KR" sz="1200"/>
              <a:t>RequestMapping(value="/member/listMembers.do"</a:t>
            </a:r>
            <a:endParaRPr lang="en-US" altLang="ko-KR" sz="1200"/>
          </a:p>
          <a:p>
            <a:pPr/>
            <a:r>
              <a:rPr lang="ko-KR" altLang="en-US" sz="1200"/>
              <a:t>@</a:t>
            </a:r>
            <a:r>
              <a:rPr lang="en-US" altLang="ko-KR" sz="1200"/>
              <a:t>RequestMapping(value="/member/addMembers.do"</a:t>
            </a:r>
            <a:endParaRPr lang="en-US" altLang="ko-KR" sz="1200"/>
          </a:p>
          <a:p>
            <a:pPr/>
            <a:r>
              <a:rPr lang="en-US" altLang="ko-KR" sz="1200"/>
              <a:t>     :                                                              :</a:t>
            </a:r>
            <a:endParaRPr lang="en-US" altLang="ko-KR" sz="1200"/>
          </a:p>
        </p:txBody>
      </p:sp>
      <p:sp>
        <p:nvSpPr>
          <p:cNvPr id="17" name="시계 방향 화살표 16"/>
          <p:cNvSpPr/>
          <p:nvPr/>
        </p:nvSpPr>
        <p:spPr>
          <a:xfrm>
            <a:off x="6140782" y="3429000"/>
            <a:ext cx="855700" cy="799893"/>
          </a:xfrm>
          <a:prstGeom prst="circularArrow">
            <a:avLst>
              <a:gd name="adj1" fmla="val 12500"/>
              <a:gd name="adj2" fmla="val 1142319"/>
              <a:gd name="adj3" fmla="val 668909"/>
              <a:gd name="adj4" fmla="val 12466455"/>
              <a:gd name="adj5" fmla="val 125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직사각형 17"/>
          <p:cNvSpPr txBox="1"/>
          <p:nvPr/>
        </p:nvSpPr>
        <p:spPr>
          <a:xfrm>
            <a:off x="5814060" y="1592580"/>
            <a:ext cx="2135505" cy="272415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</a:ln>
        </p:spPr>
        <p:txBody>
          <a:bodyPr wrap="square">
            <a:spAutoFit/>
          </a:bodyPr>
          <a:p>
            <a:pPr/>
            <a:r>
              <a:rPr lang="en-US" altLang="ko-KR" sz="1200"/>
              <a:t>@controller(membercontroller</a:t>
            </a:r>
            <a:endParaRPr lang="en-US" altLang="ko-KR" sz="1200"/>
          </a:p>
        </p:txBody>
      </p:sp>
      <p:sp>
        <p:nvSpPr>
          <p:cNvPr id="19" name="시계 방향 화살표 18"/>
          <p:cNvSpPr/>
          <p:nvPr/>
        </p:nvSpPr>
        <p:spPr>
          <a:xfrm>
            <a:off x="4063540" y="977096"/>
            <a:ext cx="2319071" cy="737886"/>
          </a:xfrm>
          <a:prstGeom prst="circularArrow">
            <a:avLst>
              <a:gd name="adj1" fmla="val 12500"/>
              <a:gd name="adj2" fmla="val 425496"/>
              <a:gd name="adj3" fmla="val 668909"/>
              <a:gd name="adj4" fmla="val 11677050"/>
              <a:gd name="adj5" fmla="val 125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직사각형 17"/>
          <p:cNvSpPr txBox="1"/>
          <p:nvPr/>
        </p:nvSpPr>
        <p:spPr>
          <a:xfrm>
            <a:off x="5652628" y="2211861"/>
            <a:ext cx="2668767" cy="453234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</a:ln>
        </p:spPr>
        <p:txBody>
          <a:bodyPr wrap="square">
            <a:spAutoFit/>
          </a:bodyPr>
          <a:lstStyle/>
          <a:p>
            <a:pPr/>
            <a:r>
              <a:rPr lang="en-US" altLang="ko-KR" sz="1200"/>
              <a:t>@Autowired</a:t>
            </a:r>
            <a:endParaRPr lang="en-US" altLang="ko-KR" sz="1200"/>
          </a:p>
          <a:p>
            <a:pPr/>
            <a:r>
              <a:rPr lang="en-US" altLang="ko-KR" sz="1200"/>
              <a:t>private Memberservice memberservice</a:t>
            </a:r>
            <a:endParaRPr lang="en-US" altLang="ko-KR" sz="1200"/>
          </a:p>
        </p:txBody>
      </p:sp>
      <p:sp>
        <p:nvSpPr>
          <p:cNvPr id="21" name="시계 방향 화살표 18"/>
          <p:cNvSpPr/>
          <p:nvPr/>
        </p:nvSpPr>
        <p:spPr>
          <a:xfrm>
            <a:off x="4976947" y="1740792"/>
            <a:ext cx="855700" cy="799893"/>
          </a:xfrm>
          <a:prstGeom prst="circularArrow">
            <a:avLst>
              <a:gd name="adj1" fmla="val 12500"/>
              <a:gd name="adj2" fmla="val 1142319"/>
              <a:gd name="adj3" fmla="val 668909"/>
              <a:gd name="adj4" fmla="val 12466455"/>
              <a:gd name="adj5" fmla="val 125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오른쪽 대괄호 21"/>
          <p:cNvSpPr/>
          <p:nvPr/>
        </p:nvSpPr>
        <p:spPr>
          <a:xfrm>
            <a:off x="6103578" y="3286383"/>
            <a:ext cx="99211" cy="657276"/>
          </a:xfrm>
          <a:prstGeom prst="rightBracket">
            <a:avLst>
              <a:gd name="adj" fmla="val 83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119" y="-18854"/>
            <a:ext cx="6400800" cy="4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ko-KR" sz="1500">
                <a:solidFill>
                  <a:schemeClr val="bg1">
                    <a:lumMod val="65000"/>
                  </a:schemeClr>
                </a:solidFill>
              </a:rPr>
              <a:t>26</a:t>
            </a:r>
            <a:r>
              <a:rPr lang="ko-KR" altLang="en-US" sz="1500">
                <a:solidFill>
                  <a:schemeClr val="bg1">
                    <a:lumMod val="65000"/>
                  </a:schemeClr>
                </a:solidFill>
              </a:rPr>
              <a:t>장 스프링 애너테이션 기능</a:t>
            </a:r>
            <a:endParaRPr lang="ko-KR" altLang="en-US" sz="1500"/>
          </a:p>
        </p:txBody>
      </p:sp>
      <p:sp>
        <p:nvSpPr>
          <p:cNvPr id="12" name="TextBox 11"/>
          <p:cNvSpPr txBox="1"/>
          <p:nvPr/>
        </p:nvSpPr>
        <p:spPr>
          <a:xfrm>
            <a:off x="586407" y="711235"/>
            <a:ext cx="746428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>
                <a:solidFill>
                  <a:schemeClr val="bg1">
                    <a:lumMod val="65000"/>
                  </a:schemeClr>
                </a:solidFill>
              </a:rPr>
              <a:t>26.4 @Autowired </a:t>
            </a:r>
            <a:r>
              <a:rPr lang="ko-KR" altLang="en-US" sz="2800">
                <a:solidFill>
                  <a:schemeClr val="bg1">
                    <a:lumMod val="65000"/>
                  </a:schemeClr>
                </a:solidFill>
              </a:rPr>
              <a:t>이용해 빈 주입하기</a:t>
            </a:r>
            <a:endParaRPr lang="ko-KR" altLang="en-US" sz="2800" spc="-88">
              <a:solidFill>
                <a:srgbClr val="281f3d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6408" y="1550504"/>
            <a:ext cx="7812157" cy="266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1200" b="1">
                <a:latin typeface="+mj-ea"/>
                <a:ea typeface="+mj-ea"/>
              </a:rPr>
              <a:t> action-servlet.xml</a:t>
            </a:r>
            <a:r>
              <a:rPr lang="ko-KR" altLang="en-US" sz="1200">
                <a:latin typeface="+mj-ea"/>
                <a:ea typeface="+mj-ea"/>
              </a:rPr>
              <a:t>에서 빈과 주입 설정이 생략됨</a:t>
            </a:r>
            <a:endParaRPr lang="ko-KR" altLang="en-US" sz="1200">
              <a:latin typeface="+mj-ea"/>
              <a:ea typeface="+mj-ea"/>
            </a:endParaRPr>
          </a:p>
        </p:txBody>
      </p:sp>
      <p:pic>
        <p:nvPicPr>
          <p:cNvPr id="13" name="그림 12"/>
          <p:cNvPicPr/>
          <p:nvPr/>
        </p:nvPicPr>
        <p:blipFill rotWithShape="1">
          <a:blip r:embed="rId2">
            <a:alphaModFix/>
            <a:lum/>
          </a:blip>
          <a:stretch>
            <a:fillRect/>
          </a:stretch>
        </p:blipFill>
        <p:spPr>
          <a:xfrm>
            <a:off x="486954" y="2040753"/>
            <a:ext cx="8467725" cy="2181225"/>
          </a:xfrm>
          <a:prstGeom prst="rect">
            <a:avLst/>
          </a:prstGeom>
          <a:ln w="9525" cap="flat" cmpd="sng">
            <a:solidFill>
              <a:schemeClr val="accent1"/>
            </a:solidFill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TotalTime>0</ep:TotalTime>
  <ep:HyperlinkBase/>
  <ep:Application>Hancom Office Hanshow 2010</ep:Application>
  <ep:AppVersion>8.0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cp:contentStatus/>
  <dcterms:created xsi:type="dcterms:W3CDTF">2018-08-29T04:30:46.000</dcterms:created>
  <dc:creator>SSEN Kim</dc:creator>
  <dc:description/>
  <cp:keywords/>
  <cp:lastModifiedBy>daewo</cp:lastModifiedBy>
  <dcterms:modified xsi:type="dcterms:W3CDTF">2020-08-05T09:24:26.911</dcterms:modified>
  <cp:revision>689</cp:revision>
  <dc:subject/>
  <dc:title>PowerPoint 프레젠테이션</dc:title>
</cp:coreProperties>
</file>